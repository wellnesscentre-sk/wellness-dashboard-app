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3312</c:v>
                </c:pt>
                <c:pt idx="1">
                  <c:v>2844</c:v>
                </c:pt>
                <c:pt idx="2">
                  <c:v>972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Cases</c:v>
                </c:pt>
              </c:strCache>
            </c:strRef>
          </c:tx>
          <c:spPr>
            <a:solidFill>
              <a:srgbClr val="2F5597"/>
            </a:solidFill>
          </c:spPr>
          <c:cat>
            <c:strRef>
              <c:f>Sheet1!$A$2:$A$13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513</c:v>
                </c:pt>
                <c:pt idx="1">
                  <c:v>513</c:v>
                </c:pt>
                <c:pt idx="2">
                  <c:v>513</c:v>
                </c:pt>
                <c:pt idx="3">
                  <c:v>513</c:v>
                </c:pt>
                <c:pt idx="4">
                  <c:v>513</c:v>
                </c:pt>
                <c:pt idx="5">
                  <c:v>513</c:v>
                </c:pt>
                <c:pt idx="6">
                  <c:v>513</c:v>
                </c:pt>
                <c:pt idx="7">
                  <c:v>513</c:v>
                </c:pt>
                <c:pt idx="8">
                  <c:v>513</c:v>
                </c:pt>
                <c:pt idx="9">
                  <c:v>513</c:v>
                </c:pt>
                <c:pt idx="10">
                  <c:v>513</c:v>
                </c:pt>
                <c:pt idx="11">
                  <c:v>513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372</c:v>
                </c:pt>
                <c:pt idx="1">
                  <c:v>408</c:v>
                </c:pt>
                <c:pt idx="2">
                  <c:v>360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Follow-up</c:v>
                </c:pt>
              </c:strCache>
            </c:strRef>
          </c:tx>
          <c:spPr>
            <a:solidFill>
              <a:srgbClr val="548235"/>
            </a:solidFill>
          </c:spPr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2940</c:v>
                </c:pt>
                <c:pt idx="1">
                  <c:v>2436</c:v>
                </c:pt>
                <c:pt idx="2">
                  <c:v>612</c:v>
                </c:pt>
              </c:numCache>
            </c:numRef>
          </c:val>
        </c:ser>
        <c:dLbls>
          <c:numFmt formatCode="0&quot; (&quot;0%&quot;)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374151"/>
              </a:solidFill>
            </c:spPr>
          </c:dPt>
          <c:dPt>
            <c:idx val="7"/>
            <c:spPr>
              <a:solidFill>
                <a:srgbClr val="7C3AED"/>
              </a:solidFill>
            </c:spPr>
          </c:dPt>
          <c:dPt>
            <c:idx val="8"/>
            <c:spPr>
              <a:solidFill>
                <a:srgbClr val="06B6D4"/>
              </a:solidFill>
            </c:spPr>
          </c:dPt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2160</c:v>
                </c:pt>
                <c:pt idx="1">
                  <c:v>540</c:v>
                </c:pt>
                <c:pt idx="2">
                  <c:v>780</c:v>
                </c:pt>
                <c:pt idx="3">
                  <c:v>1284</c:v>
                </c:pt>
                <c:pt idx="4">
                  <c:v>504</c:v>
                </c:pt>
                <c:pt idx="5">
                  <c:v>336</c:v>
                </c:pt>
                <c:pt idx="6">
                  <c:v>180</c:v>
                </c:pt>
                <c:pt idx="7">
                  <c:v>216</c:v>
                </c:pt>
                <c:pt idx="8">
                  <c:v>180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374151"/>
              </a:solidFill>
            </c:spPr>
          </c:dPt>
          <c:dPt>
            <c:idx val="7"/>
            <c:spPr>
              <a:solidFill>
                <a:srgbClr val="7C3AED"/>
              </a:solidFill>
            </c:spPr>
          </c:dPt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2928</c:v>
                </c:pt>
                <c:pt idx="1">
                  <c:v>1176</c:v>
                </c:pt>
                <c:pt idx="2">
                  <c:v>1092</c:v>
                </c:pt>
                <c:pt idx="3">
                  <c:v>264</c:v>
                </c:pt>
                <c:pt idx="4">
                  <c:v>384</c:v>
                </c:pt>
                <c:pt idx="5">
                  <c:v>180</c:v>
                </c:pt>
                <c:pt idx="6">
                  <c:v>132</c:v>
                </c:pt>
                <c:pt idx="7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Others / Not to Say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3576</c:v>
                </c:pt>
                <c:pt idx="1">
                  <c:v>2424</c:v>
                </c:pt>
                <c:pt idx="2">
                  <c:v>156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Online</c:v>
                </c:pt>
                <c:pt idx="1">
                  <c:v>In-Person</c:v>
                </c:pt>
                <c:pt idx="2">
                  <c:v>Phone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1440</c:v>
                </c:pt>
                <c:pt idx="1">
                  <c:v>4284</c:v>
                </c:pt>
                <c:pt idx="2">
                  <c:v>432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Others/
Not to say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1662</c:v>
                </c:pt>
                <c:pt idx="1">
                  <c:v>1126</c:v>
                </c:pt>
                <c:pt idx="2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Others/
Not to say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1427</c:v>
                </c:pt>
                <c:pt idx="1">
                  <c:v>967</c:v>
                </c:pt>
                <c:pt idx="2">
                  <c:v>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Others/
Not to say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488</c:v>
                </c:pt>
                <c:pt idx="1">
                  <c:v>331</c:v>
                </c:pt>
                <c:pt idx="2">
                  <c:v>21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Sheet1!$A$2:$A$10</c:f>
              <c:strCache>
                <c:ptCount val="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1004</c:v>
                </c:pt>
                <c:pt idx="1">
                  <c:v>251</c:v>
                </c:pt>
                <c:pt idx="2">
                  <c:v>362</c:v>
                </c:pt>
                <c:pt idx="3">
                  <c:v>597</c:v>
                </c:pt>
                <c:pt idx="4">
                  <c:v>234</c:v>
                </c:pt>
                <c:pt idx="5">
                  <c:v>156</c:v>
                </c:pt>
                <c:pt idx="6">
                  <c:v>84</c:v>
                </c:pt>
                <c:pt idx="7">
                  <c:v>100</c:v>
                </c:pt>
                <c:pt idx="8">
                  <c:v>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Sheet1!$A$2:$A$10</c:f>
              <c:strCache>
                <c:ptCount val="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862</c:v>
                </c:pt>
                <c:pt idx="1">
                  <c:v>215</c:v>
                </c:pt>
                <c:pt idx="2">
                  <c:v>311</c:v>
                </c:pt>
                <c:pt idx="3">
                  <c:v>512</c:v>
                </c:pt>
                <c:pt idx="4">
                  <c:v>201</c:v>
                </c:pt>
                <c:pt idx="5">
                  <c:v>134</c:v>
                </c:pt>
                <c:pt idx="6">
                  <c:v>72</c:v>
                </c:pt>
                <c:pt idx="7">
                  <c:v>86</c:v>
                </c:pt>
                <c:pt idx="8">
                  <c:v>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Sheet1!$A$2:$A$10</c:f>
              <c:strCache>
                <c:ptCount val="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295</c:v>
                </c:pt>
                <c:pt idx="1">
                  <c:v>74</c:v>
                </c:pt>
                <c:pt idx="2">
                  <c:v>106</c:v>
                </c:pt>
                <c:pt idx="3">
                  <c:v>175</c:v>
                </c:pt>
                <c:pt idx="4">
                  <c:v>69</c:v>
                </c:pt>
                <c:pt idx="5">
                  <c:v>46</c:v>
                </c:pt>
                <c:pt idx="6">
                  <c:v>25</c:v>
                </c:pt>
                <c:pt idx="7">
                  <c:v>29</c:v>
                </c:pt>
                <c:pt idx="8">
                  <c:v>25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1360</c:v>
                </c:pt>
                <c:pt idx="1">
                  <c:v>546</c:v>
                </c:pt>
                <c:pt idx="2">
                  <c:v>507</c:v>
                </c:pt>
                <c:pt idx="3">
                  <c:v>123</c:v>
                </c:pt>
                <c:pt idx="4">
                  <c:v>178</c:v>
                </c:pt>
                <c:pt idx="5">
                  <c:v>84</c:v>
                </c:pt>
                <c:pt idx="6">
                  <c:v>61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1168</c:v>
                </c:pt>
                <c:pt idx="1">
                  <c:v>469</c:v>
                </c:pt>
                <c:pt idx="2">
                  <c:v>436</c:v>
                </c:pt>
                <c:pt idx="3">
                  <c:v>105</c:v>
                </c:pt>
                <c:pt idx="4">
                  <c:v>153</c:v>
                </c:pt>
                <c:pt idx="5">
                  <c:v>72</c:v>
                </c:pt>
                <c:pt idx="6">
                  <c:v>53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399</c:v>
                </c:pt>
                <c:pt idx="1">
                  <c:v>160</c:v>
                </c:pt>
                <c:pt idx="2">
                  <c:v>149</c:v>
                </c:pt>
                <c:pt idx="3">
                  <c:v>36</c:v>
                </c:pt>
                <c:pt idx="4">
                  <c:v>52</c:v>
                </c:pt>
                <c:pt idx="5">
                  <c:v>25</c:v>
                </c:pt>
                <c:pt idx="6">
                  <c:v>18</c:v>
                </c:pt>
                <c:pt idx="7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2860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F5597"/>
                </a:solidFill>
                <a:latin typeface="Calibri"/>
              </a:rPr>
              <a:t>Annual Wellness Data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74151"/>
                </a:solidFill>
                <a:latin typeface="Calibri"/>
              </a:rPr>
              <a:t>2024 Data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IIT Madras Wellness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3756" y="731520"/>
            <a:ext cx="2708910" cy="7772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3756" y="804672"/>
            <a:ext cx="27089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6156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" y="1188720"/>
            <a:ext cx="27089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Total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71266" y="731520"/>
            <a:ext cx="270891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71266" y="804672"/>
            <a:ext cx="27089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780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1266" y="1188720"/>
            <a:ext cx="27089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New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8776" y="731520"/>
            <a:ext cx="2708910" cy="7772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8776" y="804672"/>
            <a:ext cx="27089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5376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8776" y="1188720"/>
            <a:ext cx="27089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Follow-up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6286" y="731520"/>
            <a:ext cx="2708910" cy="7772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6286" y="804672"/>
            <a:ext cx="27089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6286" y="1188720"/>
            <a:ext cx="27089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Avg / Month (12 mo)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28600" y="1691640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Vertical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Cases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WLN 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Your Dost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2844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Myndwell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943600" y="1554480"/>
          <a:ext cx="59436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MONTHLY TREND  |  2024 Data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" y="1234440"/>
          <a:ext cx="1188720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NEW vs FOLLOW-UP BY VERTICAL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23444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Vertical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 Cases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Follow-up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 %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F/up %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WLN 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Your Dost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2436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Myndwell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097280"/>
          <a:ext cx="56692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DEMOGRAPHICS &amp; MODE OF SESSION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234440"/>
          <a:ext cx="3657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Gender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Female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Others / Not to Say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0" y="1234440"/>
          <a:ext cx="3657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Online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In-Person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4284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001000" y="1234440"/>
          <a:ext cx="3931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/>
                <a:gridCol w="1310640"/>
                <a:gridCol w="13106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Referral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Director / Kushal Calls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Dean / HoD / Faculty / Insti Hosp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Friend / Family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Mitr / Saathi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RANGE OF CONCERN ADDRESSED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23444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Concern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Anxiety/Depresn/Panic/OCD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Acute Stress/Trauma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540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Career/Acad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Inter-personal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1284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Self-Devlp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Clinical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Addiction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Medical/Health Issues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Suicidal Ideation/Self-harm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234440"/>
          <a:ext cx="566928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STAKEHOLDER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23444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Stakeholder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1176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Ph.D.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Dual Degree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264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IIT Faculty/Staff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Employee Family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Post Doc/Proj Asso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Not Able to Identify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234440"/>
          <a:ext cx="566928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GENDER DISTRIBUTION  |  2024 Data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234440"/>
          <a:ext cx="116128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MODE OF SESSION  |  2024 Data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234440"/>
          <a:ext cx="116128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1528" y="512064"/>
            <a:ext cx="6035040" cy="475488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GENDER DISTRIBUTION OF CASES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1188720"/>
          <a:ext cx="12188952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1528" y="512064"/>
            <a:ext cx="6035040" cy="475488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RANGE OF CONCERN ADDRESSED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1188720"/>
          <a:ext cx="12188952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1528" y="512064"/>
            <a:ext cx="6035040" cy="475488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STAKE HOLDER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1188720"/>
          <a:ext cx="12188952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YEARLY KEY INSIGHTS  |  2024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Annual performance: 6,156 total cases across 12 months (average 513 cases/month).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10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Case split: New 780 (13%) | Follow-up 5,376 (87%).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40864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40864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Peak month: Apr 2024 (513 cases); lowest: Apr 2024 (513 cases).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71216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Trend: second half is up 0.0% vs first half (3,078 to 3,078).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0156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015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Top vertical: WLN Ctr with 3,312 cases (54% of annual load).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Top concern addressed: Anxiety/Depresn/Panic/OCD (2,160 cases, 35% of all cases).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62272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6227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Largest stakeholder group: UG (2,928 cases, 48%).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AI DATA INSIGHTS  |  2024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**87.3% (5376 out of 6156) of all cases are follow-up cases**, indicating a strong emphasis on ongoing support and continuity of care rather than solely new intake.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**53.8% (3312 out of 6156) of all cases are handled by WLC**, making it the primary vertical, followed by YD at 46.2% (2844 cases), while MW handles a significantly smaller 15.8% (972 cases).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**35.1% (2160 out of 6156) of all concerns are related to "Anxiety/Depression/Panic/OCD"**, highlighting this as the most prevalent mental health challenge among the student population.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**47.6% (2928 out of 6156) of stakeholders are Undergraduate students**, making them the largest demographic seeking wellness services, followed by PG students at 19.1% (1176 cases).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918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**58.1% (3576 out of 6156) of cases are male**, while 39.4% (2424 cases) are female, indicating a higher proportion of male individuals utilizing wellness services.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947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**69.6% (4284 out of 6156) of sessions are conducted "In-Person"**, suggesting a strong preference for face-to-face interactions over "Online" (23.4%, 1440 cases) or "Phone" (7.0%, 432 cases) modes.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**90.2% (5556 out of 6156) of referrals are "Self-referrals"**, demonstrating a high level of self-awareness and proactive help-seeking behavior among individuals.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006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8.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006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**2.9% (180 out of 6156) of cases involve "Suicidal Ideation/Self-harm" and "Addiction" respectively**, representing critical areas requiring immediate and specialized intervention.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