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53</c:v>
                </c:pt>
                <c:pt idx="2">
                  <c:v>15</c:v>
                </c:pt>
                <c:pt idx="3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41</c:v>
                </c:pt>
                <c:pt idx="2">
                  <c:v>21</c:v>
                </c:pt>
                <c:pt idx="3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16</c:v>
                </c:pt>
                <c:pt idx="2">
                  <c:v>21</c:v>
                </c:pt>
                <c:pt idx="3">
                  <c:v>8</c:v>
                </c:pt>
                <c:pt idx="4">
                  <c:v>13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52</c:v>
                </c:pt>
                <c:pt idx="2">
                  <c:v>15</c:v>
                </c:pt>
                <c:pt idx="3">
                  <c:v>18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25</c:v>
                </c:pt>
                <c:pt idx="2">
                  <c:v>16</c:v>
                </c:pt>
                <c:pt idx="3">
                  <c:v>20</c:v>
                </c:pt>
                <c:pt idx="4">
                  <c:v>3</c:v>
                </c:pt>
                <c:pt idx="5">
                  <c:v>8</c:v>
                </c:pt>
                <c:pt idx="6">
                  <c:v>2</c:v>
                </c:pt>
                <c:pt idx="7">
                  <c:v>3</c:v>
                </c:pt>
                <c:pt idx="8">
                  <c:v>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15th to 21st July 2026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53</c:v>
                </c:pt>
                <c:pt idx="2">
                  <c:v>15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</c:v>
                </c:pt>
                <c:pt idx="1">
                  <c:v>41</c:v>
                </c:pt>
                <c:pt idx="2">
                  <c:v>21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15th to 21st July 2026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52</c:v>
                </c:pt>
                <c:pt idx="2">
                  <c:v>15</c:v>
                </c:pt>
                <c:pt idx="3">
                  <c:v>18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</c:v>
                </c:pt>
                <c:pt idx="1">
                  <c:v>25</c:v>
                </c:pt>
                <c:pt idx="2">
                  <c:v>16</c:v>
                </c:pt>
                <c:pt idx="3">
                  <c:v>20</c:v>
                </c:pt>
                <c:pt idx="4">
                  <c:v>3</c:v>
                </c:pt>
                <c:pt idx="5">
                  <c:v>8</c:v>
                </c:pt>
                <c:pt idx="6">
                  <c:v>2</c:v>
                </c:pt>
                <c:pt idx="7">
                  <c:v>3</c:v>
                </c:pt>
                <c:pt idx="8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15th to 21st July 2026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</c:v>
                </c:pt>
                <c:pt idx="1">
                  <c:v>16</c:v>
                </c:pt>
                <c:pt idx="2">
                  <c:v>21</c:v>
                </c:pt>
                <c:pt idx="3">
                  <c:v>8</c:v>
                </c:pt>
                <c:pt idx="4">
                  <c:v>13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5064" y="2706624"/>
            <a:ext cx="8723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Comparative Weekly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474720"/>
            <a:ext cx="8723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15th to 21st July 2026  to  22nd to 28th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88136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32004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 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 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Team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88136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0" y="1088136"/>
          <a:ext cx="3474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21040" y="1088136"/>
          <a:ext cx="3474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15th to 21st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22nd to 28th July 2026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NEW / FOLLOW UP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15th to 21st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VERTICALS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NEW / FOLLOW UP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STAKEHOLDER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15th to 21st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STAKEHOLDER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74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Wellness Data-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RANGE OF CONCERN ADDRESSED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15th to 21st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612648"/>
            <a:ext cx="609904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RANGE OF CONCERN ADDRESSED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0000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" y="1371600"/>
          <a:ext cx="6217920" cy="5440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70448" y="1371600"/>
          <a:ext cx="626364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Comparative data of cases 15th to 21st July 2026 and 22nd to 28th July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Comparative data towards Range of Concern addressed  15th to 21st July 2026 and 22nd to 28th July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  <a:latin typeface="Calibri"/>
              </a:rPr>
              <a:t>Comparative data of Stakeholders  15th to 21st July 2026 and 22nd to 28th July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9728"/>
            <a:ext cx="119694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  <a:latin typeface="Calibri"/>
              </a:rPr>
              <a:t>PROPOSED POINTS FROM WELLNESS CENTRE: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886968"/>
            <a:ext cx="11686032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Continue weekly data tracking across all verticals (WLC, YourDOST, Myndwell)
2. Monitor anxiety/depression trends - slight decrease observed this week
3. Increase outreach to PG and Ph.D. scholars for early intervention
4. Conduct follow-up sessions for cases with ongoing concerns
5. Coordinate with HoDs for faculty referral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