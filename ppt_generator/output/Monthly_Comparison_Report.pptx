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</c:v>
                </c:pt>
                <c:pt idx="1">
                  <c:v>237</c:v>
                </c:pt>
                <c:pt idx="2">
                  <c:v>81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</c:v>
                </c:pt>
                <c:pt idx="1">
                  <c:v>187</c:v>
                </c:pt>
                <c:pt idx="2">
                  <c:v>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34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245</c:v>
                </c:pt>
                <c:pt idx="1">
                  <c:v>203</c:v>
                </c:pt>
                <c:pt idx="2">
                  <c:v>51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25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Follow-up</c:v>
                </c:pt>
              </c:strCache>
            </c:strRef>
          </c:tx>
          <c:spPr>
            <a:solidFill>
              <a:srgbClr val="548235"/>
            </a:solidFill>
          </c:spPr>
          <c:cat>
            <c:strRef>
              <c:f>Sheet1!$A$2:$A$4</c:f>
              <c:strCache>
                <c:ptCount val="3"/>
                <c:pt idx="0">
                  <c:v>WLN Ctr</c:v>
                </c:pt>
                <c:pt idx="1">
                  <c:v>Your Dost</c:v>
                </c:pt>
                <c:pt idx="2">
                  <c:v>Myndwell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</c:v>
                </c:pt>
                <c:pt idx="1">
                  <c:v>162</c:v>
                </c:pt>
                <c:pt idx="2">
                  <c:v>45</c:v>
                </c:pt>
              </c:numCache>
            </c:numRef>
          </c:val>
        </c:ser>
        <c:dLbls>
          <c:numFmt formatCode="0&quot; (&quot;0%&quot;)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298</c:v>
                </c:pt>
                <c:pt idx="1">
                  <c:v>202</c:v>
                </c:pt>
                <c:pt idx="2">
                  <c:v>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Others /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195</c:v>
                </c:pt>
                <c:pt idx="1">
                  <c:v>159</c:v>
                </c:pt>
                <c:pt idx="2">
                  <c:v>19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357</c:v>
                </c:pt>
                <c:pt idx="2">
                  <c:v>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In-Person</c:v>
                </c:pt>
                <c:pt idx="2">
                  <c:v>Phone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224</c:v>
                </c:pt>
                <c:pt idx="2">
                  <c:v>44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cat>
            <c:strRef>
              <c:f>Sheet1!$A$2:$A$6</c:f>
              <c:strCache>
                <c:ptCount val="5"/>
                <c:pt idx="0">
                  <c:v>Self</c:v>
                </c:pt>
                <c:pt idx="1">
                  <c:v>Director / Kushal Calls</c:v>
                </c:pt>
                <c:pt idx="2">
                  <c:v>Dean / HoD / Faculty / Insti Hosp</c:v>
                </c:pt>
                <c:pt idx="3">
                  <c:v>Friend / Family</c:v>
                </c:pt>
                <c:pt idx="4">
                  <c:v>Mitr / Saathi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463</c:v>
                </c:pt>
                <c:pt idx="1">
                  <c:v>17</c:v>
                </c:pt>
                <c:pt idx="2">
                  <c:v>19</c:v>
                </c:pt>
                <c:pt idx="3">
                  <c:v>14</c:v>
                </c:pt>
                <c:pt idx="4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cat>
            <c:strRef>
              <c:f>Sheet1!$A$2:$A$6</c:f>
              <c:strCache>
                <c:ptCount val="5"/>
                <c:pt idx="0">
                  <c:v>Self</c:v>
                </c:pt>
                <c:pt idx="1">
                  <c:v>Director / Kushal Calls</c:v>
                </c:pt>
                <c:pt idx="2">
                  <c:v>Dean / HoD / Faculty / Insti Hosp</c:v>
                </c:pt>
                <c:pt idx="3">
                  <c:v>Friend / Family</c:v>
                </c:pt>
                <c:pt idx="4">
                  <c:v>Mitr / Saathi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308</c:v>
                </c:pt>
                <c:pt idx="1">
                  <c:v>19</c:v>
                </c:pt>
                <c:pt idx="2">
                  <c:v>45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</c:v>
                </c:pt>
                <c:pt idx="1">
                  <c:v>45</c:v>
                </c:pt>
                <c:pt idx="2">
                  <c:v>65</c:v>
                </c:pt>
                <c:pt idx="3">
                  <c:v>107</c:v>
                </c:pt>
                <c:pt idx="4">
                  <c:v>42</c:v>
                </c:pt>
                <c:pt idx="5">
                  <c:v>28</c:v>
                </c:pt>
                <c:pt idx="6">
                  <c:v>15</c:v>
                </c:pt>
                <c:pt idx="7">
                  <c:v>18</c:v>
                </c:pt>
                <c:pt idx="8">
                  <c:v>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dPt>
            <c:idx val="8"/>
            <c:spPr>
              <a:solidFill>
                <a:srgbClr val="06B6D4"/>
              </a:solidFill>
            </c:spPr>
          </c:dPt>
          <c:cat>
            <c:strRef>
              <c:f>Sheet1!$A$2:$A$10</c:f>
              <c:strCache>
                <c:ptCount val="9"/>
                <c:pt idx="0">
                  <c:v>Anxiety/Depresn/Panic/OCD</c:v>
                </c:pt>
                <c:pt idx="1">
                  <c:v>Acute Stress/Trauma</c:v>
                </c:pt>
                <c:pt idx="2">
                  <c:v>Career/Acad</c:v>
                </c:pt>
                <c:pt idx="3">
                  <c:v>Inter-personal</c:v>
                </c:pt>
                <c:pt idx="4">
                  <c:v>Self-Devlp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Medical/Health Issues</c:v>
                </c:pt>
                <c:pt idx="8">
                  <c:v>Suicidal Ideation/Self-harm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67</c:v>
                </c:pt>
                <c:pt idx="1">
                  <c:v>35</c:v>
                </c:pt>
                <c:pt idx="2">
                  <c:v>55</c:v>
                </c:pt>
                <c:pt idx="3">
                  <c:v>127</c:v>
                </c:pt>
                <c:pt idx="4">
                  <c:v>38</c:v>
                </c:pt>
                <c:pt idx="5">
                  <c:v>22</c:v>
                </c:pt>
                <c:pt idx="6">
                  <c:v>10</c:v>
                </c:pt>
                <c:pt idx="7">
                  <c:v>12</c:v>
                </c:pt>
                <c:pt idx="8">
                  <c:v>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244</c:v>
                </c:pt>
                <c:pt idx="1">
                  <c:v>98</c:v>
                </c:pt>
                <c:pt idx="2">
                  <c:v>91</c:v>
                </c:pt>
                <c:pt idx="3">
                  <c:v>22</c:v>
                </c:pt>
                <c:pt idx="4">
                  <c:v>32</c:v>
                </c:pt>
                <c:pt idx="5">
                  <c:v>15</c:v>
                </c:pt>
                <c:pt idx="6">
                  <c:v>11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F7F7F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374151"/>
              </a:solidFill>
            </c:spPr>
          </c:dPt>
          <c:dPt>
            <c:idx val="7"/>
            <c:spPr>
              <a:solidFill>
                <a:srgbClr val="7C3AED"/>
              </a:solidFill>
            </c:spPr>
          </c:dPt>
          <c:cat>
            <c:strRef>
              <c:f>Sheet1!$A$2:$A$9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Ph.D.</c:v>
                </c:pt>
                <c:pt idx="3">
                  <c:v>Dual Degree</c:v>
                </c:pt>
                <c:pt idx="4">
                  <c:v>IIT Faculty/Staff</c:v>
                </c:pt>
                <c:pt idx="5">
                  <c:v>Employee Family</c:v>
                </c:pt>
                <c:pt idx="6">
                  <c:v>Post Doc/Proj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121</c:v>
                </c:pt>
                <c:pt idx="1">
                  <c:v>102</c:v>
                </c:pt>
                <c:pt idx="2">
                  <c:v>109</c:v>
                </c:pt>
                <c:pt idx="3">
                  <c:v>15</c:v>
                </c:pt>
                <c:pt idx="4">
                  <c:v>18</c:v>
                </c:pt>
                <c:pt idx="5">
                  <c:v>5</c:v>
                </c:pt>
                <c:pt idx="6">
                  <c:v>3</c:v>
                </c:pt>
                <c:pt idx="7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00000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</c:v>
                </c:pt>
                <c:pt idx="1">
                  <c:v>94</c:v>
                </c:pt>
                <c:pt idx="2">
                  <c:v>6</c:v>
                </c:pt>
                <c:pt idx="3">
                  <c:v>64</c:v>
                </c:pt>
                <c:pt idx="4">
                  <c:v>52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119</c:v>
                </c:pt>
                <c:pt idx="1">
                  <c:v>81</c:v>
                </c:pt>
                <c:pt idx="2">
                  <c:v>5</c:v>
                </c:pt>
                <c:pt idx="3">
                  <c:v>98</c:v>
                </c:pt>
                <c:pt idx="4">
                  <c:v>80</c:v>
                </c:pt>
                <c:pt idx="5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Sheet1!$A$2:$A$7</c:f>
              <c:strCache>
                <c:ptCount val="6"/>
                <c:pt idx="0">
                  <c:v>Male</c:v>
                </c:pt>
                <c:pt idx="1">
                  <c:v>Female</c:v>
                </c:pt>
                <c:pt idx="2">
                  <c:v>Others/
Not to say</c:v>
                </c:pt>
                <c:pt idx="3">
                  <c:v>Male</c:v>
                </c:pt>
                <c:pt idx="4">
                  <c:v>Female</c:v>
                </c:pt>
                <c:pt idx="5">
                  <c:v>Others/
Not to say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41</c:v>
                </c:pt>
                <c:pt idx="1">
                  <c:v>28</c:v>
                </c:pt>
                <c:pt idx="2">
                  <c:v>2</c:v>
                </c:pt>
                <c:pt idx="3">
                  <c:v>33</c:v>
                </c:pt>
                <c:pt idx="4">
                  <c:v>27</c:v>
                </c:pt>
                <c:pt idx="5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84</c:v>
                </c:pt>
                <c:pt idx="1">
                  <c:v>21</c:v>
                </c:pt>
                <c:pt idx="2">
                  <c:v>30</c:v>
                </c:pt>
                <c:pt idx="3">
                  <c:v>50</c:v>
                </c:pt>
                <c:pt idx="4">
                  <c:v>20</c:v>
                </c:pt>
                <c:pt idx="5">
                  <c:v>13</c:v>
                </c:pt>
                <c:pt idx="6">
                  <c:v>7</c:v>
                </c:pt>
                <c:pt idx="7">
                  <c:v>8</c:v>
                </c:pt>
                <c:pt idx="8">
                  <c:v>7</c:v>
                </c:pt>
                <c:pt idx="9">
                  <c:v>0</c:v>
                </c:pt>
                <c:pt idx="10">
                  <c:v>22</c:v>
                </c:pt>
                <c:pt idx="11">
                  <c:v>12</c:v>
                </c:pt>
                <c:pt idx="12">
                  <c:v>18</c:v>
                </c:pt>
                <c:pt idx="13">
                  <c:v>42</c:v>
                </c:pt>
                <c:pt idx="14">
                  <c:v>13</c:v>
                </c:pt>
                <c:pt idx="15">
                  <c:v>7</c:v>
                </c:pt>
                <c:pt idx="16">
                  <c:v>3</c:v>
                </c:pt>
                <c:pt idx="17">
                  <c:v>4</c:v>
                </c:pt>
                <c:pt idx="1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72</c:v>
                </c:pt>
                <c:pt idx="1">
                  <c:v>18</c:v>
                </c:pt>
                <c:pt idx="2">
                  <c:v>26</c:v>
                </c:pt>
                <c:pt idx="3">
                  <c:v>43</c:v>
                </c:pt>
                <c:pt idx="4">
                  <c:v>17</c:v>
                </c:pt>
                <c:pt idx="5">
                  <c:v>11</c:v>
                </c:pt>
                <c:pt idx="6">
                  <c:v>6</c:v>
                </c:pt>
                <c:pt idx="7">
                  <c:v>7</c:v>
                </c:pt>
                <c:pt idx="8">
                  <c:v>6</c:v>
                </c:pt>
                <c:pt idx="9">
                  <c:v>0</c:v>
                </c:pt>
                <c:pt idx="10">
                  <c:v>34</c:v>
                </c:pt>
                <c:pt idx="11">
                  <c:v>18</c:v>
                </c:pt>
                <c:pt idx="12">
                  <c:v>28</c:v>
                </c:pt>
                <c:pt idx="13">
                  <c:v>64</c:v>
                </c:pt>
                <c:pt idx="14">
                  <c:v>19</c:v>
                </c:pt>
                <c:pt idx="15">
                  <c:v>11</c:v>
                </c:pt>
                <c:pt idx="16">
                  <c:v>5</c:v>
                </c:pt>
                <c:pt idx="17">
                  <c:v>6</c:v>
                </c:pt>
                <c:pt idx="18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Sheet1!$A$2:$A$20</c:f>
              <c:strCache>
                <c:ptCount val="1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  <c:pt idx="9">
                  <c:v/>
                </c:pt>
                <c:pt idx="10">
                  <c:v>Anxiety/
Depresn/
Panic / OCD</c:v>
                </c:pt>
                <c:pt idx="11">
                  <c:v>Acute
 Stress / Trauma</c:v>
                </c:pt>
                <c:pt idx="12">
                  <c:v>Career /
 Acad,</c:v>
                </c:pt>
                <c:pt idx="13">
                  <c:v>Inter-
personal</c:v>
                </c:pt>
                <c:pt idx="14">
                  <c:v>Self-
Devlp</c:v>
                </c:pt>
                <c:pt idx="15">
                  <c:v>Clinical</c:v>
                </c:pt>
                <c:pt idx="16">
                  <c:v>Addiction</c:v>
                </c:pt>
                <c:pt idx="17">
                  <c:v>Medical /
 Health issues</c:v>
                </c:pt>
                <c:pt idx="18">
                  <c:v>Suicidal Ideation
 / Self-harm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25</c:v>
                </c:pt>
                <c:pt idx="1">
                  <c:v>6</c:v>
                </c:pt>
                <c:pt idx="2">
                  <c:v>9</c:v>
                </c:pt>
                <c:pt idx="3">
                  <c:v>15</c:v>
                </c:pt>
                <c:pt idx="4">
                  <c:v>6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0</c:v>
                </c:pt>
                <c:pt idx="10">
                  <c:v>11</c:v>
                </c:pt>
                <c:pt idx="11">
                  <c:v>6</c:v>
                </c:pt>
                <c:pt idx="12">
                  <c:v>9</c:v>
                </c:pt>
                <c:pt idx="13">
                  <c:v>21</c:v>
                </c:pt>
                <c:pt idx="14">
                  <c:v>6</c:v>
                </c:pt>
                <c:pt idx="15">
                  <c:v>4</c:v>
                </c:pt>
                <c:pt idx="16">
                  <c:v>2</c:v>
                </c:pt>
                <c:pt idx="17">
                  <c:v>2</c:v>
                </c:pt>
                <c:pt idx="18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113</c:v>
                </c:pt>
                <c:pt idx="1">
                  <c:v>46</c:v>
                </c:pt>
                <c:pt idx="2">
                  <c:v>42</c:v>
                </c:pt>
                <c:pt idx="3">
                  <c:v>10</c:v>
                </c:pt>
                <c:pt idx="4">
                  <c:v>15</c:v>
                </c:pt>
                <c:pt idx="5">
                  <c:v>7</c:v>
                </c:pt>
                <c:pt idx="6">
                  <c:v>5</c:v>
                </c:pt>
                <c:pt idx="7">
                  <c:v>0</c:v>
                </c:pt>
                <c:pt idx="8">
                  <c:v>0</c:v>
                </c:pt>
                <c:pt idx="9">
                  <c:v>40</c:v>
                </c:pt>
                <c:pt idx="10">
                  <c:v>34</c:v>
                </c:pt>
                <c:pt idx="11">
                  <c:v>36</c:v>
                </c:pt>
                <c:pt idx="12">
                  <c:v>5</c:v>
                </c:pt>
                <c:pt idx="13">
                  <c:v>6</c:v>
                </c:pt>
                <c:pt idx="14">
                  <c:v>2</c:v>
                </c:pt>
                <c:pt idx="15">
                  <c:v>1</c:v>
                </c:pt>
                <c:pt idx="1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97</c:v>
                </c:pt>
                <c:pt idx="1">
                  <c:v>39</c:v>
                </c:pt>
                <c:pt idx="2">
                  <c:v>36</c:v>
                </c:pt>
                <c:pt idx="3">
                  <c:v>9</c:v>
                </c:pt>
                <c:pt idx="4">
                  <c:v>13</c:v>
                </c:pt>
                <c:pt idx="5">
                  <c:v>6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  <c:pt idx="9">
                  <c:v>61</c:v>
                </c:pt>
                <c:pt idx="10">
                  <c:v>51</c:v>
                </c:pt>
                <c:pt idx="11">
                  <c:v>55</c:v>
                </c:pt>
                <c:pt idx="12">
                  <c:v>8</c:v>
                </c:pt>
                <c:pt idx="13">
                  <c:v>9</c:v>
                </c:pt>
                <c:pt idx="14">
                  <c:v>3</c:v>
                </c:pt>
                <c:pt idx="15">
                  <c:v>2</c:v>
                </c:pt>
                <c:pt idx="1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Sheet1!$A$2:$A$18</c:f>
              <c:strCache>
                <c:ptCount val="17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  <c:pt idx="8">
                  <c:v/>
                </c:pt>
                <c:pt idx="9">
                  <c:v>UG</c:v>
                </c:pt>
                <c:pt idx="10">
                  <c:v>PG</c:v>
                </c:pt>
                <c:pt idx="11">
                  <c:v>Ph.D</c:v>
                </c:pt>
                <c:pt idx="12">
                  <c:v>Dual Degree</c:v>
                </c:pt>
                <c:pt idx="13">
                  <c:v>IIT Faculty / Staff</c:v>
                </c:pt>
                <c:pt idx="14">
                  <c:v>Employee Family</c:v>
                </c:pt>
                <c:pt idx="15">
                  <c:v>Post Doc
Proj Asso</c:v>
                </c:pt>
                <c:pt idx="16">
                  <c:v>Not Able to Identify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33</c:v>
                </c:pt>
                <c:pt idx="1">
                  <c:v>13</c:v>
                </c:pt>
                <c:pt idx="2">
                  <c:v>12</c:v>
                </c:pt>
                <c:pt idx="3">
                  <c:v>3</c:v>
                </c:pt>
                <c:pt idx="4">
                  <c:v>4</c:v>
                </c:pt>
                <c:pt idx="5">
                  <c:v>2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20</c:v>
                </c:pt>
                <c:pt idx="10">
                  <c:v>17</c:v>
                </c:pt>
                <c:pt idx="11">
                  <c:v>18</c:v>
                </c:pt>
                <c:pt idx="12">
                  <c:v>3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F5597"/>
                </a:solidFill>
                <a:latin typeface="Calibri"/>
              </a:rPr>
              <a:t>Monthly Wellness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74151"/>
                </a:solidFill>
                <a:latin typeface="Calibri"/>
              </a:rPr>
              <a:t>Comparative Analysis: MAY 2026 vs.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IIT Madras Wellness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3756" y="731520"/>
            <a:ext cx="2708910" cy="777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375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(MAY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1266" y="731520"/>
            <a:ext cx="270891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126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7126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Total (JUNE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8776" y="731520"/>
            <a:ext cx="2708910" cy="77724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877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-140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Difference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6286" y="731520"/>
            <a:ext cx="2708910" cy="77724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6286" y="804672"/>
            <a:ext cx="27089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Your Dost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6286" y="1188720"/>
            <a:ext cx="270891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Top Vertical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169164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New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Follow-up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0" y="169164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Female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Others / Not to Say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365760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In-Person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943600" y="365760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Referral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JUNE 2026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Director / Kushal Calls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Dean / HoD / Faculty / Insti Hosp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Friend / Family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Mitr / Saathi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VERTICALS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VERTICALS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NEW vs FOLLOW-UP BY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143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1430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F5597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" y="1463040"/>
          <a:ext cx="566928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63640" y="1463040"/>
          <a:ext cx="5669280" cy="5029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GENDER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GENDER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 OF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 OF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REFERRAL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REFERRAL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RANGE OF CONCERN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685800"/>
            <a:ext cx="54864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24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55080" y="1463040"/>
          <a:ext cx="5669280" cy="51206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685800"/>
            <a:ext cx="11887200" cy="41148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1. Overall cases fell 27.3% (513 to 373), driven by fewer follow-ups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2. Your Dost remained highest-volume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3. Anxiety/Depression cases dropped sharply (180 to 67)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4. Interpersonal concerns rose (107 to 127)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GENDER DISTRIBUTION OF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 OF CONCERN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37160"/>
            <a:ext cx="2286000" cy="4572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81528" y="512064"/>
            <a:ext cx="6035040" cy="475488"/>
          </a:xfrm>
          <a:prstGeom prst="round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STAKE 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02412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5597"/>
                </a:solidFill>
                <a:latin typeface="Calibri"/>
              </a:rPr>
              <a:t>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0" y="1325880"/>
          <a:ext cx="12188952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887200" cy="5029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PROPOSED POINTS FROM WELLNESS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Calibri"/>
              </a:rPr>
              <a:t>1. Continue weekly data tracking across all verticals (WLC, YourDOST, Myndwell)
2. Monitor anxiety/depression trends - slight decrease observed this week
3. Increase outreach to PG and Ph.D. scholars for early intervention
4. Conduct follow-up sessions for cases with ongoing concerns
5. Coordinate with HoDs for faculty referral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