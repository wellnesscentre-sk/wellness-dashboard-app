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dPt>
            <c:idx val="0"/>
            <c:spPr>
              <a:solidFill>
                <a:srgbClr val="4472C4"/>
              </a:solidFill>
            </c:spPr>
          </c:dPt>
          <c:dPt>
            <c:idx val="1"/>
            <c:spPr>
              <a:solidFill>
                <a:srgbClr val="ED7D31"/>
              </a:solidFill>
            </c:spPr>
          </c:dPt>
          <c:dPt>
            <c:idx val="2"/>
            <c:spPr>
              <a:solidFill>
                <a:srgbClr val="A5A5A5"/>
              </a:solidFill>
            </c:spPr>
          </c:dPt>
          <c:cat>
            <c:strRef>
              <c:f>Sheet1!$A$2:$A$4</c:f>
              <c:strCache>
                <c:ptCount val="3"/>
                <c:pt idx="0">
                  <c:v>WLN Ctr</c:v>
                </c:pt>
                <c:pt idx="1">
                  <c:v>Your Dost</c:v>
                </c:pt>
                <c:pt idx="2">
                  <c:v>Myndwell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276</c:v>
                </c:pt>
                <c:pt idx="1">
                  <c:v>237</c:v>
                </c:pt>
                <c:pt idx="2">
                  <c:v>81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000" b="1">
                  <a:solidFill>
                    <a:srgbClr val="000000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New</c:v>
                </c:pt>
              </c:strCache>
            </c:strRef>
          </c:tx>
          <c:spPr>
            <a:solidFill>
              <a:srgbClr val="ED7D31"/>
            </a:solidFill>
          </c:spPr>
          <c:cat>
            <c:strRef>
              <c:f>Sheet1!$A$2:$A$4</c:f>
              <c:strCache>
                <c:ptCount val="3"/>
                <c:pt idx="0">
                  <c:v>WLN Ctr</c:v>
                </c:pt>
                <c:pt idx="1">
                  <c:v>Your Dost</c:v>
                </c:pt>
                <c:pt idx="2">
                  <c:v>Myndwell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31</c:v>
                </c:pt>
                <c:pt idx="1">
                  <c:v>34</c:v>
                </c:pt>
                <c:pt idx="2">
                  <c:v>30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Follow-up</c:v>
                </c:pt>
              </c:strCache>
            </c:strRef>
          </c:tx>
          <c:spPr>
            <a:solidFill>
              <a:srgbClr val="548235"/>
            </a:solidFill>
          </c:spPr>
          <c:cat>
            <c:strRef>
              <c:f>Sheet1!$A$2:$A$4</c:f>
              <c:strCache>
                <c:ptCount val="3"/>
                <c:pt idx="0">
                  <c:v>WLN Ctr</c:v>
                </c:pt>
                <c:pt idx="1">
                  <c:v>Your Dost</c:v>
                </c:pt>
                <c:pt idx="2">
                  <c:v>Myndwell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245</c:v>
                </c:pt>
                <c:pt idx="1">
                  <c:v>203</c:v>
                </c:pt>
                <c:pt idx="2">
                  <c:v>51</c:v>
                </c:pt>
              </c:numCache>
            </c:numRef>
          </c:val>
        </c:ser>
        <c:dLbls>
          <c:numFmt formatCode="0&quot; (&quot;0%&quot;)" sourceLinked="0"/>
          <c:txPr>
            <a:bodyPr/>
            <a:lstStyle/>
            <a:p>
              <a:pPr>
                <a:defRPr sz="1000" b="1">
                  <a:solidFill>
                    <a:srgbClr val="000000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1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dPt>
            <c:idx val="0"/>
            <c:spPr>
              <a:solidFill>
                <a:srgbClr val="4472C4"/>
              </a:solidFill>
            </c:spPr>
          </c:dPt>
          <c:dPt>
            <c:idx val="1"/>
            <c:spPr>
              <a:solidFill>
                <a:srgbClr val="ED7D31"/>
              </a:solidFill>
            </c:spPr>
          </c:dPt>
          <c:dPt>
            <c:idx val="2"/>
            <c:spPr>
              <a:solidFill>
                <a:srgbClr val="A5A5A5"/>
              </a:solidFill>
            </c:spPr>
          </c:dPt>
          <c:dPt>
            <c:idx val="3"/>
            <c:spPr>
              <a:solidFill>
                <a:srgbClr val="FFC000"/>
              </a:solidFill>
            </c:spPr>
          </c:dPt>
          <c:dPt>
            <c:idx val="4"/>
            <c:spPr>
              <a:solidFill>
                <a:srgbClr val="7F7F7F"/>
              </a:solidFill>
            </c:spPr>
          </c:dPt>
          <c:dPt>
            <c:idx val="5"/>
            <c:spPr>
              <a:solidFill>
                <a:srgbClr val="5B9BD5"/>
              </a:solidFill>
            </c:spPr>
          </c:dPt>
          <c:dPt>
            <c:idx val="6"/>
            <c:spPr>
              <a:solidFill>
                <a:srgbClr val="374151"/>
              </a:solidFill>
            </c:spPr>
          </c:dPt>
          <c:dPt>
            <c:idx val="7"/>
            <c:spPr>
              <a:solidFill>
                <a:srgbClr val="7C3AED"/>
              </a:solidFill>
            </c:spPr>
          </c:dPt>
          <c:dPt>
            <c:idx val="8"/>
            <c:spPr>
              <a:solidFill>
                <a:srgbClr val="06B6D4"/>
              </a:solidFill>
            </c:spPr>
          </c:dPt>
          <c:cat>
            <c:strRef>
              <c:f>Sheet1!$A$2:$A$10</c:f>
              <c:strCache>
                <c:ptCount val="9"/>
                <c:pt idx="0">
                  <c:v>Anxiety/Depresn/Panic/OCD</c:v>
                </c:pt>
                <c:pt idx="1">
                  <c:v>Acute Stress/Trauma</c:v>
                </c:pt>
                <c:pt idx="2">
                  <c:v>Career/Acad</c:v>
                </c:pt>
                <c:pt idx="3">
                  <c:v>Inter-personal</c:v>
                </c:pt>
                <c:pt idx="4">
                  <c:v>Self-Devlp</c:v>
                </c:pt>
                <c:pt idx="5">
                  <c:v>Clinical</c:v>
                </c:pt>
                <c:pt idx="6">
                  <c:v>Addiction</c:v>
                </c:pt>
                <c:pt idx="7">
                  <c:v>Medical/Health Issues</c:v>
                </c:pt>
                <c:pt idx="8">
                  <c:v>Suicidal Ideation/Self-harm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180</c:v>
                </c:pt>
                <c:pt idx="1">
                  <c:v>45</c:v>
                </c:pt>
                <c:pt idx="2">
                  <c:v>65</c:v>
                </c:pt>
                <c:pt idx="3">
                  <c:v>107</c:v>
                </c:pt>
                <c:pt idx="4">
                  <c:v>42</c:v>
                </c:pt>
                <c:pt idx="5">
                  <c:v>28</c:v>
                </c:pt>
                <c:pt idx="6">
                  <c:v>15</c:v>
                </c:pt>
                <c:pt idx="7">
                  <c:v>18</c:v>
                </c:pt>
                <c:pt idx="8">
                  <c:v>15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000" b="1">
                  <a:solidFill>
                    <a:srgbClr val="000000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dPt>
            <c:idx val="0"/>
            <c:spPr>
              <a:solidFill>
                <a:srgbClr val="4472C4"/>
              </a:solidFill>
            </c:spPr>
          </c:dPt>
          <c:dPt>
            <c:idx val="1"/>
            <c:spPr>
              <a:solidFill>
                <a:srgbClr val="ED7D31"/>
              </a:solidFill>
            </c:spPr>
          </c:dPt>
          <c:dPt>
            <c:idx val="2"/>
            <c:spPr>
              <a:solidFill>
                <a:srgbClr val="A5A5A5"/>
              </a:solidFill>
            </c:spPr>
          </c:dPt>
          <c:dPt>
            <c:idx val="3"/>
            <c:spPr>
              <a:solidFill>
                <a:srgbClr val="FFC000"/>
              </a:solidFill>
            </c:spPr>
          </c:dPt>
          <c:dPt>
            <c:idx val="4"/>
            <c:spPr>
              <a:solidFill>
                <a:srgbClr val="7F7F7F"/>
              </a:solidFill>
            </c:spPr>
          </c:dPt>
          <c:dPt>
            <c:idx val="5"/>
            <c:spPr>
              <a:solidFill>
                <a:srgbClr val="5B9BD5"/>
              </a:solidFill>
            </c:spPr>
          </c:dPt>
          <c:dPt>
            <c:idx val="6"/>
            <c:spPr>
              <a:solidFill>
                <a:srgbClr val="374151"/>
              </a:solidFill>
            </c:spPr>
          </c:dPt>
          <c:dPt>
            <c:idx val="7"/>
            <c:spPr>
              <a:solidFill>
                <a:srgbClr val="7C3AED"/>
              </a:solidFill>
            </c:spPr>
          </c:dPt>
          <c:cat>
            <c:strRef>
              <c:f>Sheet1!$A$2:$A$9</c:f>
              <c:strCache>
                <c:ptCount val="8"/>
                <c:pt idx="0">
                  <c:v>UG</c:v>
                </c:pt>
                <c:pt idx="1">
                  <c:v>PG</c:v>
                </c:pt>
                <c:pt idx="2">
                  <c:v>Ph.D.</c:v>
                </c:pt>
                <c:pt idx="3">
                  <c:v>Dual Degree</c:v>
                </c:pt>
                <c:pt idx="4">
                  <c:v>IIT Faculty/Staff</c:v>
                </c:pt>
                <c:pt idx="5">
                  <c:v>Employee Family</c:v>
                </c:pt>
                <c:pt idx="6">
                  <c:v>Post Doc/Proj Asso</c:v>
                </c:pt>
                <c:pt idx="7">
                  <c:v>Not Able to Identify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244</c:v>
                </c:pt>
                <c:pt idx="1">
                  <c:v>98</c:v>
                </c:pt>
                <c:pt idx="2">
                  <c:v>91</c:v>
                </c:pt>
                <c:pt idx="3">
                  <c:v>22</c:v>
                </c:pt>
                <c:pt idx="4">
                  <c:v>32</c:v>
                </c:pt>
                <c:pt idx="5">
                  <c:v>15</c:v>
                </c:pt>
                <c:pt idx="6">
                  <c:v>11</c:v>
                </c:pt>
                <c:pt idx="7">
                  <c:v>0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000" b="1">
                  <a:solidFill>
                    <a:srgbClr val="000000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dPt>
            <c:idx val="0"/>
            <c:spPr>
              <a:solidFill>
                <a:srgbClr val="4472C4"/>
              </a:solidFill>
            </c:spPr>
          </c:dPt>
          <c:dPt>
            <c:idx val="1"/>
            <c:spPr>
              <a:solidFill>
                <a:srgbClr val="ED7D31"/>
              </a:solidFill>
            </c:spPr>
          </c:dPt>
          <c:dPt>
            <c:idx val="2"/>
            <c:spPr>
              <a:solidFill>
                <a:srgbClr val="A5A5A5"/>
              </a:solidFill>
            </c:spPr>
          </c:dPt>
          <c:cat>
            <c:strRef>
              <c:f>Sheet1!$A$2:$A$4</c:f>
              <c:strCache>
                <c:ptCount val="3"/>
                <c:pt idx="0">
                  <c:v>Male</c:v>
                </c:pt>
                <c:pt idx="1">
                  <c:v>Female</c:v>
                </c:pt>
                <c:pt idx="2">
                  <c:v>Others / Not to Say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298</c:v>
                </c:pt>
                <c:pt idx="1">
                  <c:v>202</c:v>
                </c:pt>
                <c:pt idx="2">
                  <c:v>13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000" b="1">
                  <a:solidFill>
                    <a:srgbClr val="000000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dPt>
            <c:idx val="0"/>
            <c:spPr>
              <a:solidFill>
                <a:srgbClr val="4472C4"/>
              </a:solidFill>
            </c:spPr>
          </c:dPt>
          <c:dPt>
            <c:idx val="1"/>
            <c:spPr>
              <a:solidFill>
                <a:srgbClr val="ED7D31"/>
              </a:solidFill>
            </c:spPr>
          </c:dPt>
          <c:dPt>
            <c:idx val="2"/>
            <c:spPr>
              <a:solidFill>
                <a:srgbClr val="A5A5A5"/>
              </a:solidFill>
            </c:spPr>
          </c:dPt>
          <c:cat>
            <c:strRef>
              <c:f>Sheet1!$A$2:$A$4</c:f>
              <c:strCache>
                <c:ptCount val="3"/>
                <c:pt idx="0">
                  <c:v>Online</c:v>
                </c:pt>
                <c:pt idx="1">
                  <c:v>In-Person</c:v>
                </c:pt>
                <c:pt idx="2">
                  <c:v>Phone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120</c:v>
                </c:pt>
                <c:pt idx="1">
                  <c:v>357</c:v>
                </c:pt>
                <c:pt idx="2">
                  <c:v>36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000" b="1">
                  <a:solidFill>
                    <a:srgbClr val="000000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WC</c:v>
                </c:pt>
              </c:strCache>
            </c:strRef>
          </c:tx>
          <c:spPr>
            <a:solidFill>
              <a:srgbClr val="4472C4"/>
            </a:solidFill>
          </c:spPr>
          <c:cat>
            <c:strRef>
              <c:f>Sheet1!$A$2:$A$4</c:f>
              <c:strCache>
                <c:ptCount val="3"/>
                <c:pt idx="0">
                  <c:v>Male</c:v>
                </c:pt>
                <c:pt idx="1">
                  <c:v>Female</c:v>
                </c:pt>
                <c:pt idx="2">
                  <c:v>Others/
Not to say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138</c:v>
                </c:pt>
                <c:pt idx="1">
                  <c:v>94</c:v>
                </c:pt>
                <c:pt idx="2">
                  <c:v>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YD</c:v>
                </c:pt>
              </c:strCache>
            </c:strRef>
          </c:tx>
          <c:spPr>
            <a:solidFill>
              <a:srgbClr val="A5A5A5"/>
            </a:solidFill>
          </c:spPr>
          <c:cat>
            <c:strRef>
              <c:f>Sheet1!$A$2:$A$4</c:f>
              <c:strCache>
                <c:ptCount val="3"/>
                <c:pt idx="0">
                  <c:v>Male</c:v>
                </c:pt>
                <c:pt idx="1">
                  <c:v>Female</c:v>
                </c:pt>
                <c:pt idx="2">
                  <c:v>Others/
Not to say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119</c:v>
                </c:pt>
                <c:pt idx="1">
                  <c:v>81</c:v>
                </c:pt>
                <c:pt idx="2">
                  <c:v>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MW</c:v>
                </c:pt>
              </c:strCache>
            </c:strRef>
          </c:tx>
          <c:spPr>
            <a:solidFill>
              <a:srgbClr val="FFC000"/>
            </a:solidFill>
          </c:spPr>
          <c:cat>
            <c:strRef>
              <c:f>Sheet1!$A$2:$A$4</c:f>
              <c:strCache>
                <c:ptCount val="3"/>
                <c:pt idx="0">
                  <c:v>Male</c:v>
                </c:pt>
                <c:pt idx="1">
                  <c:v>Female</c:v>
                </c:pt>
                <c:pt idx="2">
                  <c:v>Others/
Not to say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41</c:v>
                </c:pt>
                <c:pt idx="1">
                  <c:v>28</c:v>
                </c:pt>
                <c:pt idx="2">
                  <c:v>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800" b="1">
                  <a:solidFill>
                    <a:srgbClr val="000000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WC</c:v>
                </c:pt>
              </c:strCache>
            </c:strRef>
          </c:tx>
          <c:spPr>
            <a:solidFill>
              <a:srgbClr val="4472C4"/>
            </a:solidFill>
          </c:spPr>
          <c:cat>
            <c:strRef>
              <c:f>Sheet1!$A$2:$A$10</c:f>
              <c:strCache>
                <c:ptCount val="9"/>
                <c:pt idx="0">
                  <c:v>Anxiety/
Depresn/
Panic / OCD</c:v>
                </c:pt>
                <c:pt idx="1">
                  <c:v>Acute
 Stress / Trauma</c:v>
                </c:pt>
                <c:pt idx="2">
                  <c:v>Career /
 Acad,</c:v>
                </c:pt>
                <c:pt idx="3">
                  <c:v>Inter-
personal</c:v>
                </c:pt>
                <c:pt idx="4">
                  <c:v>Self-
Devlp</c:v>
                </c:pt>
                <c:pt idx="5">
                  <c:v>Clinical</c:v>
                </c:pt>
                <c:pt idx="6">
                  <c:v>Addiction</c:v>
                </c:pt>
                <c:pt idx="7">
                  <c:v>Medical /
 Health issues</c:v>
                </c:pt>
                <c:pt idx="8">
                  <c:v>Suicidal Ideation
 / Self-harm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84</c:v>
                </c:pt>
                <c:pt idx="1">
                  <c:v>21</c:v>
                </c:pt>
                <c:pt idx="2">
                  <c:v>30</c:v>
                </c:pt>
                <c:pt idx="3">
                  <c:v>50</c:v>
                </c:pt>
                <c:pt idx="4">
                  <c:v>20</c:v>
                </c:pt>
                <c:pt idx="5">
                  <c:v>13</c:v>
                </c:pt>
                <c:pt idx="6">
                  <c:v>7</c:v>
                </c:pt>
                <c:pt idx="7">
                  <c:v>8</c:v>
                </c:pt>
                <c:pt idx="8">
                  <c:v>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YD</c:v>
                </c:pt>
              </c:strCache>
            </c:strRef>
          </c:tx>
          <c:spPr>
            <a:solidFill>
              <a:srgbClr val="A5A5A5"/>
            </a:solidFill>
          </c:spPr>
          <c:cat>
            <c:strRef>
              <c:f>Sheet1!$A$2:$A$10</c:f>
              <c:strCache>
                <c:ptCount val="9"/>
                <c:pt idx="0">
                  <c:v>Anxiety/
Depresn/
Panic / OCD</c:v>
                </c:pt>
                <c:pt idx="1">
                  <c:v>Acute
 Stress / Trauma</c:v>
                </c:pt>
                <c:pt idx="2">
                  <c:v>Career /
 Acad,</c:v>
                </c:pt>
                <c:pt idx="3">
                  <c:v>Inter-
personal</c:v>
                </c:pt>
                <c:pt idx="4">
                  <c:v>Self-
Devlp</c:v>
                </c:pt>
                <c:pt idx="5">
                  <c:v>Clinical</c:v>
                </c:pt>
                <c:pt idx="6">
                  <c:v>Addiction</c:v>
                </c:pt>
                <c:pt idx="7">
                  <c:v>Medical /
 Health issues</c:v>
                </c:pt>
                <c:pt idx="8">
                  <c:v>Suicidal Ideation
 / Self-harm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72</c:v>
                </c:pt>
                <c:pt idx="1">
                  <c:v>18</c:v>
                </c:pt>
                <c:pt idx="2">
                  <c:v>26</c:v>
                </c:pt>
                <c:pt idx="3">
                  <c:v>43</c:v>
                </c:pt>
                <c:pt idx="4">
                  <c:v>17</c:v>
                </c:pt>
                <c:pt idx="5">
                  <c:v>11</c:v>
                </c:pt>
                <c:pt idx="6">
                  <c:v>6</c:v>
                </c:pt>
                <c:pt idx="7">
                  <c:v>7</c:v>
                </c:pt>
                <c:pt idx="8">
                  <c:v>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MW</c:v>
                </c:pt>
              </c:strCache>
            </c:strRef>
          </c:tx>
          <c:spPr>
            <a:solidFill>
              <a:srgbClr val="FFC000"/>
            </a:solidFill>
          </c:spPr>
          <c:cat>
            <c:strRef>
              <c:f>Sheet1!$A$2:$A$10</c:f>
              <c:strCache>
                <c:ptCount val="9"/>
                <c:pt idx="0">
                  <c:v>Anxiety/
Depresn/
Panic / OCD</c:v>
                </c:pt>
                <c:pt idx="1">
                  <c:v>Acute
 Stress / Trauma</c:v>
                </c:pt>
                <c:pt idx="2">
                  <c:v>Career /
 Acad,</c:v>
                </c:pt>
                <c:pt idx="3">
                  <c:v>Inter-
personal</c:v>
                </c:pt>
                <c:pt idx="4">
                  <c:v>Self-
Devlp</c:v>
                </c:pt>
                <c:pt idx="5">
                  <c:v>Clinical</c:v>
                </c:pt>
                <c:pt idx="6">
                  <c:v>Addiction</c:v>
                </c:pt>
                <c:pt idx="7">
                  <c:v>Medical /
 Health issues</c:v>
                </c:pt>
                <c:pt idx="8">
                  <c:v>Suicidal Ideation
 / Self-harm</c:v>
                </c:pt>
              </c:strCache>
            </c: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25</c:v>
                </c:pt>
                <c:pt idx="1">
                  <c:v>6</c:v>
                </c:pt>
                <c:pt idx="2">
                  <c:v>9</c:v>
                </c:pt>
                <c:pt idx="3">
                  <c:v>15</c:v>
                </c:pt>
                <c:pt idx="4">
                  <c:v>6</c:v>
                </c:pt>
                <c:pt idx="5">
                  <c:v>4</c:v>
                </c:pt>
                <c:pt idx="6">
                  <c:v>2</c:v>
                </c:pt>
                <c:pt idx="7">
                  <c:v>2</c:v>
                </c:pt>
                <c:pt idx="8">
                  <c:v>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800" b="1">
                  <a:solidFill>
                    <a:srgbClr val="000000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WC</c:v>
                </c:pt>
              </c:strCache>
            </c:strRef>
          </c:tx>
          <c:spPr>
            <a:solidFill>
              <a:srgbClr val="4472C4"/>
            </a:solidFill>
          </c:spPr>
          <c:cat>
            <c:strRef>
              <c:f>Sheet1!$A$2:$A$9</c:f>
              <c:strCache>
                <c:ptCount val="8"/>
                <c:pt idx="0">
                  <c:v>UG</c:v>
                </c:pt>
                <c:pt idx="1">
                  <c:v>PG</c:v>
                </c:pt>
                <c:pt idx="2">
                  <c:v>Ph.D</c:v>
                </c:pt>
                <c:pt idx="3">
                  <c:v>Dual Degree</c:v>
                </c:pt>
                <c:pt idx="4">
                  <c:v>IIT Faculty / Staff</c:v>
                </c:pt>
                <c:pt idx="5">
                  <c:v>Employee Family</c:v>
                </c:pt>
                <c:pt idx="6">
                  <c:v>Post Doc
Proj Asso</c:v>
                </c:pt>
                <c:pt idx="7">
                  <c:v>Not Able to Identify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113</c:v>
                </c:pt>
                <c:pt idx="1">
                  <c:v>46</c:v>
                </c:pt>
                <c:pt idx="2">
                  <c:v>42</c:v>
                </c:pt>
                <c:pt idx="3">
                  <c:v>10</c:v>
                </c:pt>
                <c:pt idx="4">
                  <c:v>15</c:v>
                </c:pt>
                <c:pt idx="5">
                  <c:v>7</c:v>
                </c:pt>
                <c:pt idx="6">
                  <c:v>5</c:v>
                </c:pt>
                <c:pt idx="7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YD</c:v>
                </c:pt>
              </c:strCache>
            </c:strRef>
          </c:tx>
          <c:spPr>
            <a:solidFill>
              <a:srgbClr val="A5A5A5"/>
            </a:solidFill>
          </c:spPr>
          <c:cat>
            <c:strRef>
              <c:f>Sheet1!$A$2:$A$9</c:f>
              <c:strCache>
                <c:ptCount val="8"/>
                <c:pt idx="0">
                  <c:v>UG</c:v>
                </c:pt>
                <c:pt idx="1">
                  <c:v>PG</c:v>
                </c:pt>
                <c:pt idx="2">
                  <c:v>Ph.D</c:v>
                </c:pt>
                <c:pt idx="3">
                  <c:v>Dual Degree</c:v>
                </c:pt>
                <c:pt idx="4">
                  <c:v>IIT Faculty / Staff</c:v>
                </c:pt>
                <c:pt idx="5">
                  <c:v>Employee Family</c:v>
                </c:pt>
                <c:pt idx="6">
                  <c:v>Post Doc
Proj Asso</c:v>
                </c:pt>
                <c:pt idx="7">
                  <c:v>Not Able to Identify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97</c:v>
                </c:pt>
                <c:pt idx="1">
                  <c:v>39</c:v>
                </c:pt>
                <c:pt idx="2">
                  <c:v>36</c:v>
                </c:pt>
                <c:pt idx="3">
                  <c:v>9</c:v>
                </c:pt>
                <c:pt idx="4">
                  <c:v>13</c:v>
                </c:pt>
                <c:pt idx="5">
                  <c:v>6</c:v>
                </c:pt>
                <c:pt idx="6">
                  <c:v>4</c:v>
                </c:pt>
                <c:pt idx="7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MW</c:v>
                </c:pt>
              </c:strCache>
            </c:strRef>
          </c:tx>
          <c:spPr>
            <a:solidFill>
              <a:srgbClr val="FFC000"/>
            </a:solidFill>
          </c:spPr>
          <c:cat>
            <c:strRef>
              <c:f>Sheet1!$A$2:$A$9</c:f>
              <c:strCache>
                <c:ptCount val="8"/>
                <c:pt idx="0">
                  <c:v>UG</c:v>
                </c:pt>
                <c:pt idx="1">
                  <c:v>PG</c:v>
                </c:pt>
                <c:pt idx="2">
                  <c:v>Ph.D</c:v>
                </c:pt>
                <c:pt idx="3">
                  <c:v>Dual Degree</c:v>
                </c:pt>
                <c:pt idx="4">
                  <c:v>IIT Faculty / Staff</c:v>
                </c:pt>
                <c:pt idx="5">
                  <c:v>Employee Family</c:v>
                </c:pt>
                <c:pt idx="6">
                  <c:v>Post Doc
Proj Asso</c:v>
                </c:pt>
                <c:pt idx="7">
                  <c:v>Not Able to Identify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33</c:v>
                </c:pt>
                <c:pt idx="1">
                  <c:v>13</c:v>
                </c:pt>
                <c:pt idx="2">
                  <c:v>12</c:v>
                </c:pt>
                <c:pt idx="3">
                  <c:v>3</c:v>
                </c:pt>
                <c:pt idx="4">
                  <c:v>4</c:v>
                </c:pt>
                <c:pt idx="5">
                  <c:v>2</c:v>
                </c:pt>
                <c:pt idx="6">
                  <c:v>2</c:v>
                </c:pt>
                <c:pt idx="7">
                  <c:v>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800" b="1">
                  <a:solidFill>
                    <a:srgbClr val="000000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137160"/>
            <a:ext cx="2286000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1600" y="2286000"/>
            <a:ext cx="94457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2F5597"/>
                </a:solidFill>
                <a:latin typeface="Calibri"/>
              </a:rPr>
              <a:t>Monthly Wellness Data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00400"/>
            <a:ext cx="94457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374151"/>
                </a:solidFill>
                <a:latin typeface="Calibri"/>
              </a:rPr>
              <a:t>MAY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IIT Madras Wellness Centre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137160"/>
            <a:ext cx="2286000" cy="4572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33756" y="731520"/>
            <a:ext cx="3688080" cy="77724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33756" y="804672"/>
            <a:ext cx="3688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513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3756" y="1188720"/>
            <a:ext cx="3688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Total Cases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250436" y="731520"/>
            <a:ext cx="3688080" cy="77724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50436" y="804672"/>
            <a:ext cx="3688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65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0436" y="1188720"/>
            <a:ext cx="3688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New Cases</a:t>
            </a:r>
          </a:p>
        </p:txBody>
      </p:sp>
      <p:sp>
        <p:nvSpPr>
          <p:cNvPr id="9" name="Rectangle 8"/>
          <p:cNvSpPr/>
          <p:nvPr/>
        </p:nvSpPr>
        <p:spPr>
          <a:xfrm>
            <a:off x="8167116" y="731520"/>
            <a:ext cx="3688080" cy="777240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67116" y="804672"/>
            <a:ext cx="3688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448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67116" y="1188720"/>
            <a:ext cx="3688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Follow-up Cases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228600" y="1691640"/>
          <a:ext cx="50292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/>
                <a:gridCol w="1676400"/>
                <a:gridCol w="1676400"/>
              </a:tblGrid>
              <a:tr h="3429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Vertical</a:t>
                      </a:r>
                    </a:p>
                  </a:txBody>
                  <a:tcPr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Total Cases</a:t>
                      </a:r>
                    </a:p>
                  </a:txBody>
                  <a:tcPr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% Share</a:t>
                      </a:r>
                    </a:p>
                  </a:txBody>
                  <a:tcPr>
                    <a:solidFill>
                      <a:srgbClr val="2F559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WLN Ctr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Your Dost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237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46%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Myndwell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5943600" y="1554480"/>
          <a:ext cx="5943600" cy="4114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137160"/>
            <a:ext cx="2286000" cy="4572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7160" y="685800"/>
            <a:ext cx="11887200" cy="41148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NEW vs FOLLOW-UP BY VERTICAL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28600" y="123444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1097280"/>
                <a:gridCol w="1097280"/>
                <a:gridCol w="109728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Vertical</a:t>
                      </a:r>
                    </a:p>
                  </a:txBody>
                  <a:tcPr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New Cases</a:t>
                      </a:r>
                    </a:p>
                  </a:txBody>
                  <a:tcPr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Follow-up</a:t>
                      </a:r>
                    </a:p>
                  </a:txBody>
                  <a:tcPr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New %</a:t>
                      </a:r>
                    </a:p>
                  </a:txBody>
                  <a:tcPr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F/up %</a:t>
                      </a:r>
                    </a:p>
                  </a:txBody>
                  <a:tcPr>
                    <a:solidFill>
                      <a:srgbClr val="2F559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WLN Ctr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89%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Your Dost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203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14%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86%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Myndwell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63%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217920" y="1097280"/>
          <a:ext cx="5669280" cy="5029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137160"/>
            <a:ext cx="2286000" cy="4572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7160" y="685800"/>
            <a:ext cx="11887200" cy="41148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DEMOGRAPHICS &amp; MODE OF SESSION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28600" y="1234440"/>
          <a:ext cx="36576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/>
                <a:gridCol w="1219200"/>
                <a:gridCol w="121920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Gender</a:t>
                      </a:r>
                    </a:p>
                  </a:txBody>
                  <a:tcPr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Count</a:t>
                      </a:r>
                    </a:p>
                  </a:txBody>
                  <a:tcPr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% Share</a:t>
                      </a:r>
                    </a:p>
                  </a:txBody>
                  <a:tcPr>
                    <a:solidFill>
                      <a:srgbClr val="2F559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Male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Female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202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39%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Others / Not to Say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0" y="1234440"/>
          <a:ext cx="36576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/>
                <a:gridCol w="1219200"/>
                <a:gridCol w="121920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</a:t>
                      </a:r>
                    </a:p>
                  </a:txBody>
                  <a:tcPr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Count</a:t>
                      </a:r>
                    </a:p>
                  </a:txBody>
                  <a:tcPr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% Share</a:t>
                      </a:r>
                    </a:p>
                  </a:txBody>
                  <a:tcPr>
                    <a:solidFill>
                      <a:srgbClr val="2F559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Online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In-Person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357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70%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Phone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001000" y="1234440"/>
          <a:ext cx="39319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0640"/>
                <a:gridCol w="1310640"/>
                <a:gridCol w="131064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Referral</a:t>
                      </a:r>
                    </a:p>
                  </a:txBody>
                  <a:tcPr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Count</a:t>
                      </a:r>
                    </a:p>
                  </a:txBody>
                  <a:tcPr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% Share</a:t>
                      </a:r>
                    </a:p>
                  </a:txBody>
                  <a:tcPr>
                    <a:solidFill>
                      <a:srgbClr val="2F559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Self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90%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Director / Kushal Calls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Dean / HoD / Faculty / Insti Hosp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Friend / Family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Mitr / Saathi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137160"/>
            <a:ext cx="2286000" cy="4572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7160" y="685800"/>
            <a:ext cx="11887200" cy="41148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RANGE OF CONCERN ADDRESSED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28600" y="1234440"/>
          <a:ext cx="54864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Concern</a:t>
                      </a:r>
                    </a:p>
                  </a:txBody>
                  <a:tcPr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Count</a:t>
                      </a:r>
                    </a:p>
                  </a:txBody>
                  <a:tcPr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% Share</a:t>
                      </a:r>
                    </a:p>
                  </a:txBody>
                  <a:tcPr>
                    <a:solidFill>
                      <a:srgbClr val="2F559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Anxiety/Depresn/Panic/OCD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Acute Stress/Trauma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9%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Career/Acad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Inter-personal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107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21%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Self-Devlp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Clinical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Addiction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Medical/Health Issues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Suicidal Ideation/Self-harm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217920" y="1234440"/>
          <a:ext cx="5669280" cy="4572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137160"/>
            <a:ext cx="2286000" cy="4572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7160" y="685800"/>
            <a:ext cx="11887200" cy="41148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STAKEHOLDER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28600" y="1234440"/>
          <a:ext cx="54864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Stakeholder</a:t>
                      </a:r>
                    </a:p>
                  </a:txBody>
                  <a:tcPr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Count</a:t>
                      </a:r>
                    </a:p>
                  </a:txBody>
                  <a:tcPr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% Share</a:t>
                      </a:r>
                    </a:p>
                  </a:txBody>
                  <a:tcPr>
                    <a:solidFill>
                      <a:srgbClr val="2F559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UG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98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19%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Ph.D.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Dual Degree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IIT Faculty/Staff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Employee Family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Post Doc/Proj Asso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Not Able to Identify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217920" y="1234440"/>
          <a:ext cx="5669280" cy="4572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137160"/>
            <a:ext cx="2286000" cy="4572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7160" y="685800"/>
            <a:ext cx="11887200" cy="41148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GENDER DISTRIBUTION  |  MAY 2026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274320" y="1234440"/>
          <a:ext cx="11612880" cy="5029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137160"/>
            <a:ext cx="2286000" cy="4572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7160" y="685800"/>
            <a:ext cx="11887200" cy="41148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MODE OF SESSION  |  MAY 2026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274320" y="1234440"/>
          <a:ext cx="11612880" cy="5029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137160"/>
            <a:ext cx="2286000" cy="4572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081528" y="512064"/>
            <a:ext cx="6035040" cy="475488"/>
          </a:xfrm>
          <a:prstGeom prst="round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GENDER DISTRIBUTION OF CASES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0" y="1188720"/>
          <a:ext cx="12188952" cy="5486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137160"/>
            <a:ext cx="2286000" cy="4572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081528" y="512064"/>
            <a:ext cx="6035040" cy="475488"/>
          </a:xfrm>
          <a:prstGeom prst="round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RANGE OF CONCERN ADDRESSED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0" y="1188720"/>
          <a:ext cx="12188952" cy="5486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137160"/>
            <a:ext cx="2286000" cy="4572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081528" y="512064"/>
            <a:ext cx="6035040" cy="475488"/>
          </a:xfrm>
          <a:prstGeom prst="round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STAKE HOLDER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0" y="1188720"/>
          <a:ext cx="12188952" cy="5486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137160"/>
            <a:ext cx="2286000" cy="4572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7160" y="685800"/>
            <a:ext cx="11887200" cy="41148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AI DATA INSIGHTS  |  MAY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2F5597"/>
                </a:solidFill>
                <a:latin typeface="Calibri"/>
              </a:rPr>
              <a:t>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28016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**87.3%** of all cases (448 out of 513) are follow-up cases, indicating a high proportion of ongoing support rather than new initiations.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2F5597"/>
                </a:solidFill>
                <a:latin typeface="Calibri"/>
              </a:rPr>
              <a:t>2.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**53.8%** of all cases (276 out of 513) fall under the WLC vertical, making it the most utilized service, followed by YD at **46.2%** (237 cases).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8600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2F5597"/>
                </a:solidFill>
                <a:latin typeface="Calibri"/>
              </a:rPr>
              <a:t>3.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28600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**35.1%** of all concerns (180 out of 510 total identified concerns) are related to "Anxiety/Depression/Panic/OCD," highlighting it as the predominant mental health challenge.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8892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2F5597"/>
                </a:solidFill>
                <a:latin typeface="Calibri"/>
              </a:rPr>
              <a:t>4.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7889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**47.6%** of all stakeholders (244 out of 513) are Undergraduate students, indicating they are the largest demographic seeking wellness services.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29184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2F5597"/>
                </a:solidFill>
                <a:latin typeface="Calibri"/>
              </a:rPr>
              <a:t>5.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29184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**58.1%** of cases (298 out of 513) are male, suggesting a higher engagement from male students or a greater need within this demographic.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79476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2F5597"/>
                </a:solidFill>
                <a:latin typeface="Calibri"/>
              </a:rPr>
              <a:t>6.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79476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**69.6%** of cases (357 out of 513) are conducted In-Person, indicating a strong preference for face-to-face interactions over Online (**23.4%**) or Phone (**7.0%**) modes.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29768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2F5597"/>
                </a:solidFill>
                <a:latin typeface="Calibri"/>
              </a:rPr>
              <a:t>7.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2976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**90.2%** of cases (463 out of 513) are self-referred, demonstrating a high level of self-initiative in seeking support.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80060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2F5597"/>
                </a:solidFill>
                <a:latin typeface="Calibri"/>
              </a:rPr>
              <a:t>8.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80060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**2.9%** of concerns (15 out of 510 total identified concerns) are related to "Suicidal Ideation/Self-harm," which, despite being a small percentage, represents a critical and high-risk area.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