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15</c:v>
                </c:pt>
                <c:pt idx="2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21</c:v>
                </c:pt>
                <c:pt idx="2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8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Follow-up</c:v>
                </c:pt>
              </c:strCache>
            </c:strRef>
          </c:tx>
          <c:spPr>
            <a:solidFill>
              <a:srgbClr val="548235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7</c:v>
                </c:pt>
                <c:pt idx="2">
                  <c:v>0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7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Follow-up</c:v>
                </c:pt>
              </c:strCache>
            </c:strRef>
          </c:tx>
          <c:spPr>
            <a:solidFill>
              <a:srgbClr val="548235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14</c:v>
                </c:pt>
                <c:pt idx="2">
                  <c:v>0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</c:v>
                </c:pt>
                <c:pt idx="1">
                  <c:v>20</c:v>
                </c:pt>
                <c:pt idx="2">
                  <c:v>24</c:v>
                </c:pt>
                <c:pt idx="3">
                  <c:v>7</c:v>
                </c:pt>
                <c:pt idx="4">
                  <c:v>9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</c:v>
                </c:pt>
                <c:pt idx="1">
                  <c:v>16</c:v>
                </c:pt>
                <c:pt idx="2">
                  <c:v>21</c:v>
                </c:pt>
                <c:pt idx="3">
                  <c:v>8</c:v>
                </c:pt>
                <c:pt idx="4">
                  <c:v>13</c:v>
                </c:pt>
                <c:pt idx="5">
                  <c:v>2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dPt>
            <c:idx val="8"/>
            <c:spPr>
              <a:solidFill>
                <a:srgbClr val="06B6D4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</c:v>
                </c:pt>
                <c:pt idx="1">
                  <c:v>52</c:v>
                </c:pt>
                <c:pt idx="2">
                  <c:v>15</c:v>
                </c:pt>
                <c:pt idx="3">
                  <c:v>18</c:v>
                </c:pt>
                <c:pt idx="4">
                  <c:v>8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dPt>
            <c:idx val="8"/>
            <c:spPr>
              <a:solidFill>
                <a:srgbClr val="06B6D4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25</c:v>
                </c:pt>
                <c:pt idx="2">
                  <c:v>16</c:v>
                </c:pt>
                <c:pt idx="3">
                  <c:v>20</c:v>
                </c:pt>
                <c:pt idx="4">
                  <c:v>3</c:v>
                </c:pt>
                <c:pt idx="5">
                  <c:v>8</c:v>
                </c:pt>
                <c:pt idx="6">
                  <c:v>2</c:v>
                </c:pt>
                <c:pt idx="7">
                  <c:v>3</c:v>
                </c:pt>
                <c:pt idx="8">
                  <c:v>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 / 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43</c:v>
                </c:pt>
                <c:pt idx="2">
                  <c:v>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In-Person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55</c:v>
                </c:pt>
                <c:pt idx="2">
                  <c:v>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15th to 21st July 2026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</c:v>
                </c:pt>
                <c:pt idx="1">
                  <c:v>52</c:v>
                </c:pt>
                <c:pt idx="2">
                  <c:v>15</c:v>
                </c:pt>
                <c:pt idx="3">
                  <c:v>18</c:v>
                </c:pt>
                <c:pt idx="4">
                  <c:v>8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22nd to 28th July 2026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</c:v>
                </c:pt>
                <c:pt idx="1">
                  <c:v>25</c:v>
                </c:pt>
                <c:pt idx="2">
                  <c:v>16</c:v>
                </c:pt>
                <c:pt idx="3">
                  <c:v>20</c:v>
                </c:pt>
                <c:pt idx="4">
                  <c:v>3</c:v>
                </c:pt>
                <c:pt idx="5">
                  <c:v>8</c:v>
                </c:pt>
                <c:pt idx="6">
                  <c:v>2</c:v>
                </c:pt>
                <c:pt idx="7">
                  <c:v>3</c:v>
                </c:pt>
                <c:pt idx="8">
                  <c:v>6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15th to 21st July 2026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</c:v>
                </c:pt>
                <c:pt idx="1">
                  <c:v>20</c:v>
                </c:pt>
                <c:pt idx="2">
                  <c:v>24</c:v>
                </c:pt>
                <c:pt idx="3">
                  <c:v>7</c:v>
                </c:pt>
                <c:pt idx="4">
                  <c:v>9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22nd to 28th July 2026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36</c:v>
                </c:pt>
                <c:pt idx="1">
                  <c:v>16</c:v>
                </c:pt>
                <c:pt idx="2">
                  <c:v>21</c:v>
                </c:pt>
                <c:pt idx="3">
                  <c:v>8</c:v>
                </c:pt>
                <c:pt idx="4">
                  <c:v>13</c:v>
                </c:pt>
                <c:pt idx="5">
                  <c:v>2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Sheet1!$A$2:$A$7</c:f>
              <c:strCache>
                <c:ptCount val="6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  <c:pt idx="3">
                  <c:v>Male</c:v>
                </c:pt>
                <c:pt idx="4">
                  <c:v>Female</c:v>
                </c:pt>
                <c:pt idx="5">
                  <c:v>Others/
Not to say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37</c:v>
                </c:pt>
                <c:pt idx="2">
                  <c:v>2</c:v>
                </c:pt>
                <c:pt idx="3">
                  <c:v>38</c:v>
                </c:pt>
                <c:pt idx="4">
                  <c:v>33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Sheet1!$A$2:$A$7</c:f>
              <c:strCache>
                <c:ptCount val="6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  <c:pt idx="3">
                  <c:v>Male</c:v>
                </c:pt>
                <c:pt idx="4">
                  <c:v>Female</c:v>
                </c:pt>
                <c:pt idx="5">
                  <c:v>Others/
Not to say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</c:v>
                </c:pt>
                <c:pt idx="1">
                  <c:v>6</c:v>
                </c:pt>
                <c:pt idx="2">
                  <c:v>0</c:v>
                </c:pt>
                <c:pt idx="3">
                  <c:v>10</c:v>
                </c:pt>
                <c:pt idx="4">
                  <c:v>9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Sheet1!$A$2:$A$7</c:f>
              <c:strCache>
                <c:ptCount val="6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  <c:pt idx="3">
                  <c:v>Male</c:v>
                </c:pt>
                <c:pt idx="4">
                  <c:v>Female</c:v>
                </c:pt>
                <c:pt idx="5">
                  <c:v>Others/
Not to say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Sheet1!$A$2:$A$20</c:f>
              <c:strCache>
                <c:ptCount val="1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  <c:pt idx="9">
                  <c:v/>
                </c:pt>
                <c:pt idx="10">
                  <c:v>Anxiety/
Depresn/
Panic / OCD</c:v>
                </c:pt>
                <c:pt idx="11">
                  <c:v>Acute
 Stress / Trauma</c:v>
                </c:pt>
                <c:pt idx="12">
                  <c:v>Career /
 Acad,</c:v>
                </c:pt>
                <c:pt idx="13">
                  <c:v>Inter-
personal</c:v>
                </c:pt>
                <c:pt idx="14">
                  <c:v>Self-
Devlp</c:v>
                </c:pt>
                <c:pt idx="15">
                  <c:v>Clinical</c:v>
                </c:pt>
                <c:pt idx="16">
                  <c:v>Addiction</c:v>
                </c:pt>
                <c:pt idx="17">
                  <c:v>Medical /
 Health issues</c:v>
                </c:pt>
                <c:pt idx="18">
                  <c:v>Suicidal Ideation
 / Self-harm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23</c:v>
                </c:pt>
                <c:pt idx="1">
                  <c:v>45</c:v>
                </c:pt>
                <c:pt idx="2">
                  <c:v>13</c:v>
                </c:pt>
                <c:pt idx="3">
                  <c:v>15</c:v>
                </c:pt>
                <c:pt idx="4">
                  <c:v>7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0</c:v>
                </c:pt>
                <c:pt idx="10">
                  <c:v>16</c:v>
                </c:pt>
                <c:pt idx="11">
                  <c:v>20</c:v>
                </c:pt>
                <c:pt idx="12">
                  <c:v>13</c:v>
                </c:pt>
                <c:pt idx="13">
                  <c:v>16</c:v>
                </c:pt>
                <c:pt idx="14">
                  <c:v>2</c:v>
                </c:pt>
                <c:pt idx="15">
                  <c:v>6</c:v>
                </c:pt>
                <c:pt idx="16">
                  <c:v>2</c:v>
                </c:pt>
                <c:pt idx="17">
                  <c:v>2</c:v>
                </c:pt>
                <c:pt idx="18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Sheet1!$A$2:$A$20</c:f>
              <c:strCache>
                <c:ptCount val="1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  <c:pt idx="9">
                  <c:v/>
                </c:pt>
                <c:pt idx="10">
                  <c:v>Anxiety/
Depresn/
Panic / OCD</c:v>
                </c:pt>
                <c:pt idx="11">
                  <c:v>Acute
 Stress / Trauma</c:v>
                </c:pt>
                <c:pt idx="12">
                  <c:v>Career /
 Acad,</c:v>
                </c:pt>
                <c:pt idx="13">
                  <c:v>Inter-
personal</c:v>
                </c:pt>
                <c:pt idx="14">
                  <c:v>Self-
Devlp</c:v>
                </c:pt>
                <c:pt idx="15">
                  <c:v>Clinical</c:v>
                </c:pt>
                <c:pt idx="16">
                  <c:v>Addiction</c:v>
                </c:pt>
                <c:pt idx="17">
                  <c:v>Medical /
 Health issues</c:v>
                </c:pt>
                <c:pt idx="18">
                  <c:v>Suicidal Ideation
 / Self-harm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4</c:v>
                </c:pt>
                <c:pt idx="1">
                  <c:v>7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4</c:v>
                </c:pt>
                <c:pt idx="11">
                  <c:v>5</c:v>
                </c:pt>
                <c:pt idx="12">
                  <c:v>3</c:v>
                </c:pt>
                <c:pt idx="13">
                  <c:v>4</c:v>
                </c:pt>
                <c:pt idx="14">
                  <c:v>1</c:v>
                </c:pt>
                <c:pt idx="15">
                  <c:v>2</c:v>
                </c:pt>
                <c:pt idx="16">
                  <c:v>0</c:v>
                </c:pt>
                <c:pt idx="17">
                  <c:v>1</c:v>
                </c:pt>
                <c:pt idx="18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Sheet1!$A$2:$A$20</c:f>
              <c:strCache>
                <c:ptCount val="1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  <c:pt idx="9">
                  <c:v/>
                </c:pt>
                <c:pt idx="10">
                  <c:v>Anxiety/
Depresn/
Panic / OCD</c:v>
                </c:pt>
                <c:pt idx="11">
                  <c:v>Acute
 Stress / Trauma</c:v>
                </c:pt>
                <c:pt idx="12">
                  <c:v>Career /
 Acad,</c:v>
                </c:pt>
                <c:pt idx="13">
                  <c:v>Inter-
personal</c:v>
                </c:pt>
                <c:pt idx="14">
                  <c:v>Self-
Devlp</c:v>
                </c:pt>
                <c:pt idx="15">
                  <c:v>Clinical</c:v>
                </c:pt>
                <c:pt idx="16">
                  <c:v>Addiction</c:v>
                </c:pt>
                <c:pt idx="17">
                  <c:v>Medical /
 Health issues</c:v>
                </c:pt>
                <c:pt idx="18">
                  <c:v>Suicidal Ideation
 / Self-harm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Sheet1!$A$2:$A$18</c:f>
              <c:strCache>
                <c:ptCount val="17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  <c:pt idx="8">
                  <c:v/>
                </c:pt>
                <c:pt idx="9">
                  <c:v>UG</c:v>
                </c:pt>
                <c:pt idx="10">
                  <c:v>PG</c:v>
                </c:pt>
                <c:pt idx="11">
                  <c:v>Ph.D</c:v>
                </c:pt>
                <c:pt idx="12">
                  <c:v>Dual Degree</c:v>
                </c:pt>
                <c:pt idx="13">
                  <c:v>IIT Faculty / Staff</c:v>
                </c:pt>
                <c:pt idx="14">
                  <c:v>Employee Family</c:v>
                </c:pt>
                <c:pt idx="15">
                  <c:v>Post Doc
Proj Asso</c:v>
                </c:pt>
                <c:pt idx="16">
                  <c:v>Not Able to Identify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29</c:v>
                </c:pt>
                <c:pt idx="1">
                  <c:v>17</c:v>
                </c:pt>
                <c:pt idx="2">
                  <c:v>21</c:v>
                </c:pt>
                <c:pt idx="3">
                  <c:v>6</c:v>
                </c:pt>
                <c:pt idx="4">
                  <c:v>8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  <c:pt idx="8">
                  <c:v>0</c:v>
                </c:pt>
                <c:pt idx="9">
                  <c:v>29</c:v>
                </c:pt>
                <c:pt idx="10">
                  <c:v>13</c:v>
                </c:pt>
                <c:pt idx="11">
                  <c:v>17</c:v>
                </c:pt>
                <c:pt idx="12">
                  <c:v>6</c:v>
                </c:pt>
                <c:pt idx="13">
                  <c:v>10</c:v>
                </c:pt>
                <c:pt idx="14">
                  <c:v>2</c:v>
                </c:pt>
                <c:pt idx="15">
                  <c:v>4</c:v>
                </c:pt>
                <c:pt idx="16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Sheet1!$A$2:$A$18</c:f>
              <c:strCache>
                <c:ptCount val="17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  <c:pt idx="8">
                  <c:v/>
                </c:pt>
                <c:pt idx="9">
                  <c:v>UG</c:v>
                </c:pt>
                <c:pt idx="10">
                  <c:v>PG</c:v>
                </c:pt>
                <c:pt idx="11">
                  <c:v>Ph.D</c:v>
                </c:pt>
                <c:pt idx="12">
                  <c:v>Dual Degree</c:v>
                </c:pt>
                <c:pt idx="13">
                  <c:v>IIT Faculty / Staff</c:v>
                </c:pt>
                <c:pt idx="14">
                  <c:v>Employee Family</c:v>
                </c:pt>
                <c:pt idx="15">
                  <c:v>Post Doc
Proj Asso</c:v>
                </c:pt>
                <c:pt idx="16">
                  <c:v>Not Able to Identify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7</c:v>
                </c:pt>
                <c:pt idx="10">
                  <c:v>3</c:v>
                </c:pt>
                <c:pt idx="11">
                  <c:v>4</c:v>
                </c:pt>
                <c:pt idx="12">
                  <c:v>2</c:v>
                </c:pt>
                <c:pt idx="13">
                  <c:v>3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Sheet1!$A$2:$A$18</c:f>
              <c:strCache>
                <c:ptCount val="17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  <c:pt idx="8">
                  <c:v/>
                </c:pt>
                <c:pt idx="9">
                  <c:v>UG</c:v>
                </c:pt>
                <c:pt idx="10">
                  <c:v>PG</c:v>
                </c:pt>
                <c:pt idx="11">
                  <c:v>Ph.D</c:v>
                </c:pt>
                <c:pt idx="12">
                  <c:v>Dual Degree</c:v>
                </c:pt>
                <c:pt idx="13">
                  <c:v>IIT Faculty / Staff</c:v>
                </c:pt>
                <c:pt idx="14">
                  <c:v>Employee Family</c:v>
                </c:pt>
                <c:pt idx="15">
                  <c:v>Post Doc
Proj Asso</c:v>
                </c:pt>
                <c:pt idx="16">
                  <c:v>Not Able to Identify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F5597"/>
                </a:solidFill>
                <a:latin typeface="Calibri"/>
              </a:rPr>
              <a:t>Comparative Weekly Wellness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  <a:latin typeface="Calibri"/>
              </a:rPr>
              <a:t>15th to 21st July 2026  to  22nd to 28th July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IIT Madras Wellness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3756" y="731520"/>
            <a:ext cx="2121408" cy="7772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3756" y="80467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" y="118872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Total (15th to 21st July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683764" y="731520"/>
            <a:ext cx="2121408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83764" y="80467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3764" y="118872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Total (22nd to 28th July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3772" y="731520"/>
            <a:ext cx="2121408" cy="7772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3772" y="80467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3772" y="118872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Difference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83779" y="731520"/>
            <a:ext cx="2121408" cy="7772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3779" y="80467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3779" y="118872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New (15th to 21st July 2026)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3788" y="731520"/>
            <a:ext cx="2121408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3788" y="80467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3788" y="1188720"/>
            <a:ext cx="2121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New (22nd to 28th July 2026)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11480" y="169164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15th to 21st July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22nd to 28th July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New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Follow-up 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Grand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1480" y="3657600"/>
          <a:ext cx="11338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15th to 21st July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22nd to 28th July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 15th to 21st July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 22nd to 28th July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VERTICALS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15th to 21st July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VERTICALS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NEW vs FOLLOW-UP BY 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143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15th to 21st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143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" y="1463040"/>
          <a:ext cx="56692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63640" y="1463040"/>
          <a:ext cx="5669280" cy="5029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15th to 21st July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RANGE OF CONCERN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15th to 21st July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RANGE OF CONCERN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GENDER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15th to 21st July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MODE OF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Concern Comparison  |  15th to 21st July 2026 vs 22nd to 28th July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" y="1097280"/>
          <a:ext cx="1188720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6634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Stakeholder Comparison  |  15th to 21st July 2026 vs 22nd to 28th July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" y="1097280"/>
          <a:ext cx="11887200" cy="5440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GENDER DISTRIBUTION OF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15th to 21st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0" y="132588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RANGE OF CONCERN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15th to 21st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0" y="132588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STAKE 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15th to 21st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22nd to 28th July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0" y="132588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887200" cy="50292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PROPOSED POINTS FROM WELLNESS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1. Continue weekly data tracking across all verticals (WLC, YourDOST, Myndwell)
2. Monitor anxiety/depression trends - slight decrease observed this week
3. Increase outreach to PG and Ph.D. scholars for early intervention
4. Conduct follow-up sessions for cases with ongoing concerns
5. Coordinate with HoDs for faculty referral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