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10.xml" ContentType="application/vnd.openxmlformats-officedocument.drawingml.chart+xml"/>
  <Override PartName="/ppt/charts/chart11.xml" ContentType="application/vnd.openxmlformats-officedocument.drawingml.chart+xml"/>
  <Override PartName="/ppt/charts/chart12.xml" ContentType="application/vnd.openxmlformats-officedocument.drawingml.chart+xml"/>
  <Override PartName="/ppt/charts/chart13.xml" ContentType="application/vnd.openxmlformats-officedocument.drawingml.chart+xml"/>
  <Override PartName="/ppt/charts/chart14.xml" ContentType="application/vnd.openxmlformats-officedocument.drawingml.chart+xml"/>
  <Override PartName="/ppt/charts/chart15.xml" ContentType="application/vnd.openxmlformats-officedocument.drawingml.chart+xml"/>
  <Override PartName="/ppt/charts/chart16.xml" ContentType="application/vnd.openxmlformats-officedocument.drawingml.chart+xml"/>
  <Override PartName="/ppt/charts/chart17.xml" ContentType="application/vnd.openxmlformats-officedocument.drawingml.chart+xml"/>
  <Override PartName="/ppt/charts/chart18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charts/chart6.xml" ContentType="application/vnd.openxmlformats-officedocument.drawingml.chart+xml"/>
  <Override PartName="/ppt/charts/chart7.xml" ContentType="application/vnd.openxmlformats-officedocument.drawingml.chart+xml"/>
  <Override PartName="/ppt/charts/chart8.xml" ContentType="application/vnd.openxmlformats-officedocument.drawingml.chart+xml"/>
  <Override PartName="/ppt/charts/chart9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.xlsx"/></Relationships>
</file>

<file path=ppt/charts/_rels/chart4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4.xlsx"/></Relationships>
</file>

<file path=ppt/charts/_rels/chart5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5.xlsx"/></Relationships>
</file>

<file path=ppt/charts/_rels/chart6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6.xlsx"/></Relationships>
</file>

<file path=ppt/charts/_rels/chart7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7.xlsx"/></Relationships>
</file>

<file path=ppt/charts/_rels/chart8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8.xlsx"/></Relationships>
</file>

<file path=ppt/charts/_rels/chart9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9.xlsx"/></Relationships>
</file>

<file path=ppt/charts/_rels/chart10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0.xlsx"/></Relationships>
</file>

<file path=ppt/charts/_rels/chart1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1.xlsx"/></Relationships>
</file>

<file path=ppt/charts/_rels/chart1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2.xlsx"/></Relationships>
</file>

<file path=ppt/charts/_rels/chart1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3.xlsx"/></Relationships>
</file>

<file path=ppt/charts/_rels/chart14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4.xlsx"/></Relationships>
</file>

<file path=ppt/charts/_rels/chart15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5.xlsx"/></Relationships>
</file>

<file path=ppt/charts/_rels/chart16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6.xlsx"/></Relationships>
</file>

<file path=ppt/charts/_rels/chart17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7.xlsx"/></Relationships>
</file>

<file path=ppt/charts/_rels/chart18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8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chart>
    <c:autoTitleDeleted val="0"/>
    <c:plotArea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Cases</c:v>
                </c:pt>
              </c:strCache>
            </c:strRef>
          </c:tx>
          <c:dPt>
            <c:idx val="0"/>
            <c:spPr>
              <a:solidFill>
                <a:srgbClr val="4472C4"/>
              </a:solidFill>
            </c:spPr>
          </c:dPt>
          <c:dPt>
            <c:idx val="1"/>
            <c:spPr>
              <a:solidFill>
                <a:srgbClr val="ED7D31"/>
              </a:solidFill>
            </c:spPr>
          </c:dPt>
          <c:dPt>
            <c:idx val="2"/>
            <c:spPr>
              <a:solidFill>
                <a:srgbClr val="A5A5A5"/>
              </a:solidFill>
            </c:spPr>
          </c:dPt>
          <c:dPt>
            <c:idx val="3"/>
            <c:spPr>
              <a:solidFill>
                <a:srgbClr val="FFC000"/>
              </a:solidFill>
            </c:spPr>
          </c:dPt>
          <c:cat>
            <c:strRef>
              <c:f>Sheet1!$A$2:$A$5</c:f>
              <c:strCache>
                <c:ptCount val="4"/>
                <c:pt idx="0">
                  <c:v>WLN Ctr</c:v>
                </c:pt>
                <c:pt idx="1">
                  <c:v>Team A</c:v>
                </c:pt>
                <c:pt idx="2">
                  <c:v>Your Dost</c:v>
                </c:pt>
                <c:pt idx="3">
                  <c:v>Myndwell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114</c:v>
                </c:pt>
                <c:pt idx="1">
                  <c:v>162</c:v>
                </c:pt>
                <c:pt idx="2">
                  <c:v>237</c:v>
                </c:pt>
                <c:pt idx="3">
                  <c:v>81</c:v>
                </c:pt>
              </c:numCache>
            </c:numRef>
          </c:val>
        </c:ser>
        <c:dLbls>
          <c:numFmt formatCode="0%" sourceLinked="0"/>
          <c:txPr>
            <a:bodyPr/>
            <a:lstStyle/>
            <a:p>
              <a:pPr>
                <a:defRPr sz="900">
                  <a:solidFill>
                    <a:srgbClr val="000000"/>
                  </a:solidFill>
                </a:defRPr>
              </a:pPr>
            </a:p>
          </c:txPr>
          <c:showLegendKey val="0"/>
          <c:showVal val="0"/>
          <c:showCatName val="0"/>
          <c:showSerName val="0"/>
          <c:showPercent val="1"/>
          <c:showBubbleSize val="0"/>
          <c:showLeaderLines val="1"/>
        </c:dLbls>
      </c:pieChart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chart>
    <c:autoTitleDeleted val="0"/>
    <c:plotArea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Cases</c:v>
                </c:pt>
              </c:strCache>
            </c:strRef>
          </c:tx>
          <c:dPt>
            <c:idx val="0"/>
            <c:spPr>
              <a:solidFill>
                <a:srgbClr val="4472C4"/>
              </a:solidFill>
            </c:spPr>
          </c:dPt>
          <c:dPt>
            <c:idx val="1"/>
            <c:spPr>
              <a:solidFill>
                <a:srgbClr val="ED7D31"/>
              </a:solidFill>
            </c:spPr>
          </c:dPt>
          <c:dPt>
            <c:idx val="2"/>
            <c:spPr>
              <a:solidFill>
                <a:srgbClr val="A5A5A5"/>
              </a:solidFill>
            </c:spPr>
          </c:dPt>
          <c:dPt>
            <c:idx val="3"/>
            <c:spPr>
              <a:solidFill>
                <a:srgbClr val="FFC000"/>
              </a:solidFill>
            </c:spPr>
          </c:dPt>
          <c:cat>
            <c:strRef>
              <c:f>Sheet1!$A$2:$A$5</c:f>
              <c:strCache>
                <c:ptCount val="4"/>
                <c:pt idx="0">
                  <c:v>WLN Ctr</c:v>
                </c:pt>
                <c:pt idx="1">
                  <c:v>Team A</c:v>
                </c:pt>
                <c:pt idx="2">
                  <c:v>Your Dost</c:v>
                </c:pt>
                <c:pt idx="3">
                  <c:v>Myndwell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58</c:v>
                </c:pt>
                <c:pt idx="1">
                  <c:v>65</c:v>
                </c:pt>
                <c:pt idx="2">
                  <c:v>187</c:v>
                </c:pt>
                <c:pt idx="3">
                  <c:v>63</c:v>
                </c:pt>
              </c:numCache>
            </c:numRef>
          </c:val>
        </c:ser>
        <c:dLbls>
          <c:numFmt formatCode="0%" sourceLinked="0"/>
          <c:txPr>
            <a:bodyPr/>
            <a:lstStyle/>
            <a:p>
              <a:pPr>
                <a:defRPr sz="900">
                  <a:solidFill>
                    <a:srgbClr val="000000"/>
                  </a:solidFill>
                </a:defRPr>
              </a:pPr>
            </a:p>
          </c:txPr>
          <c:showLegendKey val="0"/>
          <c:showVal val="0"/>
          <c:showCatName val="0"/>
          <c:showSerName val="0"/>
          <c:showPercent val="1"/>
          <c:showBubbleSize val="0"/>
          <c:showLeaderLines val="1"/>
        </c:dLbls>
      </c:pieChart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chart>
    <c:autoTitleDeleted val="0"/>
    <c:plotArea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Cases</c:v>
                </c:pt>
              </c:strCache>
            </c:strRef>
          </c:tx>
          <c:dPt>
            <c:idx val="0"/>
            <c:spPr>
              <a:solidFill>
                <a:srgbClr val="4472C4"/>
              </a:solidFill>
            </c:spPr>
          </c:dPt>
          <c:dPt>
            <c:idx val="1"/>
            <c:spPr>
              <a:solidFill>
                <a:srgbClr val="ED7D31"/>
              </a:solidFill>
            </c:spPr>
          </c:dPt>
          <c:dPt>
            <c:idx val="2"/>
            <c:spPr>
              <a:solidFill>
                <a:srgbClr val="A5A5A5"/>
              </a:solidFill>
            </c:spPr>
          </c:dPt>
          <c:dPt>
            <c:idx val="3"/>
            <c:spPr>
              <a:solidFill>
                <a:srgbClr val="FFC000"/>
              </a:solidFill>
            </c:spPr>
          </c:dPt>
          <c:cat>
            <c:strRef>
              <c:f>Sheet1!$A$2:$A$5</c:f>
              <c:strCache>
                <c:ptCount val="4"/>
                <c:pt idx="0">
                  <c:v>WLN Ctr</c:v>
                </c:pt>
                <c:pt idx="1">
                  <c:v>Team A</c:v>
                </c:pt>
                <c:pt idx="2">
                  <c:v>Your Dost</c:v>
                </c:pt>
                <c:pt idx="3">
                  <c:v>Myndwell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12</c:v>
                </c:pt>
                <c:pt idx="1">
                  <c:v>19</c:v>
                </c:pt>
                <c:pt idx="2">
                  <c:v>34</c:v>
                </c:pt>
                <c:pt idx="3">
                  <c:v>30</c:v>
                </c:pt>
              </c:numCache>
            </c:numRef>
          </c:val>
        </c:ser>
        <c:dLbls>
          <c:numFmt formatCode="0%" sourceLinked="0"/>
          <c:txPr>
            <a:bodyPr/>
            <a:lstStyle/>
            <a:p>
              <a:pPr>
                <a:defRPr sz="900">
                  <a:solidFill>
                    <a:srgbClr val="000000"/>
                  </a:solidFill>
                </a:defRPr>
              </a:pPr>
            </a:p>
          </c:txPr>
          <c:showLegendKey val="0"/>
          <c:showVal val="0"/>
          <c:showCatName val="0"/>
          <c:showSerName val="0"/>
          <c:showPercent val="1"/>
          <c:showBubbleSize val="0"/>
          <c:showLeaderLines val="1"/>
        </c:dLbls>
      </c:pieChart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chart>
    <c:autoTitleDeleted val="0"/>
    <c:plotArea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Cases</c:v>
                </c:pt>
              </c:strCache>
            </c:strRef>
          </c:tx>
          <c:dPt>
            <c:idx val="0"/>
            <c:spPr>
              <a:solidFill>
                <a:srgbClr val="4472C4"/>
              </a:solidFill>
            </c:spPr>
          </c:dPt>
          <c:dPt>
            <c:idx val="1"/>
            <c:spPr>
              <a:solidFill>
                <a:srgbClr val="ED7D31"/>
              </a:solidFill>
            </c:spPr>
          </c:dPt>
          <c:dPt>
            <c:idx val="2"/>
            <c:spPr>
              <a:solidFill>
                <a:srgbClr val="A5A5A5"/>
              </a:solidFill>
            </c:spPr>
          </c:dPt>
          <c:dPt>
            <c:idx val="3"/>
            <c:spPr>
              <a:solidFill>
                <a:srgbClr val="FFC000"/>
              </a:solidFill>
            </c:spPr>
          </c:dPt>
          <c:cat>
            <c:strRef>
              <c:f>Sheet1!$A$2:$A$5</c:f>
              <c:strCache>
                <c:ptCount val="4"/>
                <c:pt idx="0">
                  <c:v>WLN Ctr</c:v>
                </c:pt>
                <c:pt idx="1">
                  <c:v>Team A</c:v>
                </c:pt>
                <c:pt idx="2">
                  <c:v>Your Dost</c:v>
                </c:pt>
                <c:pt idx="3">
                  <c:v>Myndwell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6</c:v>
                </c:pt>
                <c:pt idx="1">
                  <c:v>20</c:v>
                </c:pt>
                <c:pt idx="2">
                  <c:v>25</c:v>
                </c:pt>
                <c:pt idx="3">
                  <c:v>18</c:v>
                </c:pt>
              </c:numCache>
            </c:numRef>
          </c:val>
        </c:ser>
        <c:dLbls>
          <c:numFmt formatCode="0%" sourceLinked="0"/>
          <c:txPr>
            <a:bodyPr/>
            <a:lstStyle/>
            <a:p>
              <a:pPr>
                <a:defRPr sz="900">
                  <a:solidFill>
                    <a:srgbClr val="000000"/>
                  </a:solidFill>
                </a:defRPr>
              </a:pPr>
            </a:p>
          </c:txPr>
          <c:showLegendKey val="0"/>
          <c:showVal val="0"/>
          <c:showCatName val="0"/>
          <c:showSerName val="0"/>
          <c:showPercent val="1"/>
          <c:showBubbleSize val="0"/>
          <c:showLeaderLines val="1"/>
        </c:dLbls>
      </c:pieChart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chart>
    <c:autoTitleDeleted val="0"/>
    <c:plotArea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Cases</c:v>
                </c:pt>
              </c:strCache>
            </c:strRef>
          </c:tx>
          <c:dPt>
            <c:idx val="0"/>
            <c:spPr>
              <a:solidFill>
                <a:srgbClr val="4472C4"/>
              </a:solidFill>
            </c:spPr>
          </c:dPt>
          <c:dPt>
            <c:idx val="1"/>
            <c:spPr>
              <a:solidFill>
                <a:srgbClr val="ED7D31"/>
              </a:solidFill>
            </c:spPr>
          </c:dPt>
          <c:dPt>
            <c:idx val="2"/>
            <c:spPr>
              <a:solidFill>
                <a:srgbClr val="A5A5A5"/>
              </a:solidFill>
            </c:spPr>
          </c:dPt>
          <c:dPt>
            <c:idx val="3"/>
            <c:spPr>
              <a:solidFill>
                <a:srgbClr val="FFC000"/>
              </a:solidFill>
            </c:spPr>
          </c:dPt>
          <c:cat>
            <c:strRef>
              <c:f>Sheet1!$A$2:$A$5</c:f>
              <c:strCache>
                <c:ptCount val="4"/>
                <c:pt idx="0">
                  <c:v>WLN Ctr</c:v>
                </c:pt>
                <c:pt idx="1">
                  <c:v>Team A</c:v>
                </c:pt>
                <c:pt idx="2">
                  <c:v>Your Dost</c:v>
                </c:pt>
                <c:pt idx="3">
                  <c:v>Myndwell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102</c:v>
                </c:pt>
                <c:pt idx="1">
                  <c:v>143</c:v>
                </c:pt>
                <c:pt idx="2">
                  <c:v>203</c:v>
                </c:pt>
                <c:pt idx="3">
                  <c:v>51</c:v>
                </c:pt>
              </c:numCache>
            </c:numRef>
          </c:val>
        </c:ser>
        <c:dLbls>
          <c:numFmt formatCode="0%" sourceLinked="0"/>
          <c:txPr>
            <a:bodyPr/>
            <a:lstStyle/>
            <a:p>
              <a:pPr>
                <a:defRPr sz="900">
                  <a:solidFill>
                    <a:srgbClr val="000000"/>
                  </a:solidFill>
                </a:defRPr>
              </a:pPr>
            </a:p>
          </c:txPr>
          <c:showLegendKey val="0"/>
          <c:showVal val="0"/>
          <c:showCatName val="0"/>
          <c:showSerName val="0"/>
          <c:showPercent val="1"/>
          <c:showBubbleSize val="0"/>
          <c:showLeaderLines val="1"/>
        </c:dLbls>
      </c:pieChart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>
  <c:chart>
    <c:autoTitleDeleted val="0"/>
    <c:plotArea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Cases</c:v>
                </c:pt>
              </c:strCache>
            </c:strRef>
          </c:tx>
          <c:dPt>
            <c:idx val="0"/>
            <c:spPr>
              <a:solidFill>
                <a:srgbClr val="4472C4"/>
              </a:solidFill>
            </c:spPr>
          </c:dPt>
          <c:dPt>
            <c:idx val="1"/>
            <c:spPr>
              <a:solidFill>
                <a:srgbClr val="ED7D31"/>
              </a:solidFill>
            </c:spPr>
          </c:dPt>
          <c:dPt>
            <c:idx val="2"/>
            <c:spPr>
              <a:solidFill>
                <a:srgbClr val="A5A5A5"/>
              </a:solidFill>
            </c:spPr>
          </c:dPt>
          <c:dPt>
            <c:idx val="3"/>
            <c:spPr>
              <a:solidFill>
                <a:srgbClr val="FFC000"/>
              </a:solidFill>
            </c:spPr>
          </c:dPt>
          <c:cat>
            <c:strRef>
              <c:f>Sheet1!$A$2:$A$5</c:f>
              <c:strCache>
                <c:ptCount val="4"/>
                <c:pt idx="0">
                  <c:v>WLN Ctr</c:v>
                </c:pt>
                <c:pt idx="1">
                  <c:v>Team A</c:v>
                </c:pt>
                <c:pt idx="2">
                  <c:v>Your Dost</c:v>
                </c:pt>
                <c:pt idx="3">
                  <c:v>Myndwell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52</c:v>
                </c:pt>
                <c:pt idx="1">
                  <c:v>45</c:v>
                </c:pt>
                <c:pt idx="2">
                  <c:v>162</c:v>
                </c:pt>
                <c:pt idx="3">
                  <c:v>45</c:v>
                </c:pt>
              </c:numCache>
            </c:numRef>
          </c:val>
        </c:ser>
        <c:dLbls>
          <c:numFmt formatCode="0%" sourceLinked="0"/>
          <c:txPr>
            <a:bodyPr/>
            <a:lstStyle/>
            <a:p>
              <a:pPr>
                <a:defRPr sz="900">
                  <a:solidFill>
                    <a:srgbClr val="000000"/>
                  </a:solidFill>
                </a:defRPr>
              </a:pPr>
            </a:p>
          </c:txPr>
          <c:showLegendKey val="0"/>
          <c:showVal val="0"/>
          <c:showCatName val="0"/>
          <c:showSerName val="0"/>
          <c:showPercent val="1"/>
          <c:showBubbleSize val="0"/>
          <c:showLeaderLines val="1"/>
        </c:dLbls>
      </c:pieChart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>
  <c:chart>
    <c:autoTitleDeleted val="0"/>
    <c:plotArea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Cases</c:v>
                </c:pt>
              </c:strCache>
            </c:strRef>
          </c:tx>
          <c:dPt>
            <c:idx val="0"/>
            <c:spPr>
              <a:solidFill>
                <a:srgbClr val="4472C4"/>
              </a:solidFill>
            </c:spPr>
          </c:dPt>
          <c:dPt>
            <c:idx val="1"/>
            <c:spPr>
              <a:solidFill>
                <a:srgbClr val="ED7D31"/>
              </a:solidFill>
            </c:spPr>
          </c:dPt>
          <c:dPt>
            <c:idx val="2"/>
            <c:spPr>
              <a:solidFill>
                <a:srgbClr val="A5A5A5"/>
              </a:solidFill>
            </c:spPr>
          </c:dPt>
          <c:cat>
            <c:strRef>
              <c:f>Sheet1!$A$2:$A$4</c:f>
              <c:strCache>
                <c:ptCount val="3"/>
                <c:pt idx="0">
                  <c:v>Male</c:v>
                </c:pt>
                <c:pt idx="1">
                  <c:v>Female</c:v>
                </c:pt>
                <c:pt idx="2">
                  <c:v>Others / Not to Say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298</c:v>
                </c:pt>
                <c:pt idx="1">
                  <c:v>202</c:v>
                </c:pt>
                <c:pt idx="2">
                  <c:v>13</c:v>
                </c:pt>
              </c:numCache>
            </c:numRef>
          </c:val>
        </c:ser>
        <c:dLbls>
          <c:numFmt formatCode="0%" sourceLinked="0"/>
          <c:txPr>
            <a:bodyPr/>
            <a:lstStyle/>
            <a:p>
              <a:pPr>
                <a:defRPr sz="900">
                  <a:solidFill>
                    <a:srgbClr val="000000"/>
                  </a:solidFill>
                </a:defRPr>
              </a:pPr>
            </a:p>
          </c:txPr>
          <c:showLegendKey val="0"/>
          <c:showVal val="0"/>
          <c:showCatName val="0"/>
          <c:showSerName val="0"/>
          <c:showPercent val="1"/>
          <c:showBubbleSize val="0"/>
          <c:showLeaderLines val="1"/>
        </c:dLbls>
      </c:pieChart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>
  <c:chart>
    <c:autoTitleDeleted val="0"/>
    <c:plotArea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Cases</c:v>
                </c:pt>
              </c:strCache>
            </c:strRef>
          </c:tx>
          <c:dPt>
            <c:idx val="0"/>
            <c:spPr>
              <a:solidFill>
                <a:srgbClr val="4472C4"/>
              </a:solidFill>
            </c:spPr>
          </c:dPt>
          <c:dPt>
            <c:idx val="1"/>
            <c:spPr>
              <a:solidFill>
                <a:srgbClr val="ED7D31"/>
              </a:solidFill>
            </c:spPr>
          </c:dPt>
          <c:dPt>
            <c:idx val="2"/>
            <c:spPr>
              <a:solidFill>
                <a:srgbClr val="A5A5A5"/>
              </a:solidFill>
            </c:spPr>
          </c:dPt>
          <c:cat>
            <c:strRef>
              <c:f>Sheet1!$A$2:$A$4</c:f>
              <c:strCache>
                <c:ptCount val="3"/>
                <c:pt idx="0">
                  <c:v>Male</c:v>
                </c:pt>
                <c:pt idx="1">
                  <c:v>Female</c:v>
                </c:pt>
                <c:pt idx="2">
                  <c:v>Others / Not to Say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195</c:v>
                </c:pt>
                <c:pt idx="1">
                  <c:v>159</c:v>
                </c:pt>
                <c:pt idx="2">
                  <c:v>19</c:v>
                </c:pt>
              </c:numCache>
            </c:numRef>
          </c:val>
        </c:ser>
        <c:dLbls>
          <c:numFmt formatCode="0%" sourceLinked="0"/>
          <c:txPr>
            <a:bodyPr/>
            <a:lstStyle/>
            <a:p>
              <a:pPr>
                <a:defRPr sz="900">
                  <a:solidFill>
                    <a:srgbClr val="000000"/>
                  </a:solidFill>
                </a:defRPr>
              </a:pPr>
            </a:p>
          </c:txPr>
          <c:showLegendKey val="0"/>
          <c:showVal val="0"/>
          <c:showCatName val="0"/>
          <c:showSerName val="0"/>
          <c:showPercent val="1"/>
          <c:showBubbleSize val="0"/>
          <c:showLeaderLines val="1"/>
        </c:dLbls>
      </c:pieChart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9.xml><?xml version="1.0" encoding="utf-8"?>
<c:chartSpace xmlns:c="http://schemas.openxmlformats.org/drawingml/2006/chart" xmlns:a="http://schemas.openxmlformats.org/drawingml/2006/main" xmlns:r="http://schemas.openxmlformats.org/officeDocument/2006/relationships">
  <c:chart>
    <c:autoTitleDeleted val="0"/>
    <c:plotArea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Cases</c:v>
                </c:pt>
              </c:strCache>
            </c:strRef>
          </c:tx>
          <c:dPt>
            <c:idx val="0"/>
            <c:spPr>
              <a:solidFill>
                <a:srgbClr val="4472C4"/>
              </a:solidFill>
            </c:spPr>
          </c:dPt>
          <c:dPt>
            <c:idx val="1"/>
            <c:spPr>
              <a:solidFill>
                <a:srgbClr val="ED7D31"/>
              </a:solidFill>
            </c:spPr>
          </c:dPt>
          <c:dPt>
            <c:idx val="2"/>
            <c:spPr>
              <a:solidFill>
                <a:srgbClr val="A5A5A5"/>
              </a:solidFill>
            </c:spPr>
          </c:dPt>
          <c:cat>
            <c:strRef>
              <c:f>Sheet1!$A$2:$A$4</c:f>
              <c:strCache>
                <c:ptCount val="3"/>
                <c:pt idx="0">
                  <c:v>Online</c:v>
                </c:pt>
                <c:pt idx="1">
                  <c:v>In-Person</c:v>
                </c:pt>
                <c:pt idx="2">
                  <c:v>Phone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120</c:v>
                </c:pt>
                <c:pt idx="1">
                  <c:v>357</c:v>
                </c:pt>
                <c:pt idx="2">
                  <c:v>36</c:v>
                </c:pt>
              </c:numCache>
            </c:numRef>
          </c:val>
        </c:ser>
        <c:dLbls>
          <c:numFmt formatCode="0%" sourceLinked="0"/>
          <c:txPr>
            <a:bodyPr/>
            <a:lstStyle/>
            <a:p>
              <a:pPr>
                <a:defRPr sz="900">
                  <a:solidFill>
                    <a:srgbClr val="000000"/>
                  </a:solidFill>
                </a:defRPr>
              </a:pPr>
            </a:p>
          </c:txPr>
          <c:showLegendKey val="0"/>
          <c:showVal val="0"/>
          <c:showCatName val="0"/>
          <c:showSerName val="0"/>
          <c:showPercent val="1"/>
          <c:showBubbleSize val="0"/>
          <c:showLeaderLines val="1"/>
        </c:dLbls>
      </c:pieChart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10.xml><?xml version="1.0" encoding="utf-8"?>
<c:chartSpace xmlns:c="http://schemas.openxmlformats.org/drawingml/2006/chart" xmlns:a="http://schemas.openxmlformats.org/drawingml/2006/main" xmlns:r="http://schemas.openxmlformats.org/officeDocument/2006/relationships">
  <c:chart>
    <c:autoTitleDeleted val="0"/>
    <c:plotArea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Cases</c:v>
                </c:pt>
              </c:strCache>
            </c:strRef>
          </c:tx>
          <c:dPt>
            <c:idx val="0"/>
            <c:spPr>
              <a:solidFill>
                <a:srgbClr val="4472C4"/>
              </a:solidFill>
            </c:spPr>
          </c:dPt>
          <c:dPt>
            <c:idx val="1"/>
            <c:spPr>
              <a:solidFill>
                <a:srgbClr val="ED7D31"/>
              </a:solidFill>
            </c:spPr>
          </c:dPt>
          <c:dPt>
            <c:idx val="2"/>
            <c:spPr>
              <a:solidFill>
                <a:srgbClr val="A5A5A5"/>
              </a:solidFill>
            </c:spPr>
          </c:dPt>
          <c:cat>
            <c:strRef>
              <c:f>Sheet1!$A$2:$A$4</c:f>
              <c:strCache>
                <c:ptCount val="3"/>
                <c:pt idx="0">
                  <c:v>Online</c:v>
                </c:pt>
                <c:pt idx="1">
                  <c:v>In-Person</c:v>
                </c:pt>
                <c:pt idx="2">
                  <c:v>Phone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105</c:v>
                </c:pt>
                <c:pt idx="1">
                  <c:v>224</c:v>
                </c:pt>
                <c:pt idx="2">
                  <c:v>44</c:v>
                </c:pt>
              </c:numCache>
            </c:numRef>
          </c:val>
        </c:ser>
        <c:dLbls>
          <c:numFmt formatCode="0%" sourceLinked="0"/>
          <c:txPr>
            <a:bodyPr/>
            <a:lstStyle/>
            <a:p>
              <a:pPr>
                <a:defRPr sz="900">
                  <a:solidFill>
                    <a:srgbClr val="000000"/>
                  </a:solidFill>
                </a:defRPr>
              </a:pPr>
            </a:p>
          </c:txPr>
          <c:showLegendKey val="0"/>
          <c:showVal val="0"/>
          <c:showCatName val="0"/>
          <c:showSerName val="0"/>
          <c:showPercent val="1"/>
          <c:showBubbleSize val="0"/>
          <c:showLeaderLines val="1"/>
        </c:dLbls>
      </c:pieChart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11.xml><?xml version="1.0" encoding="utf-8"?>
<c:chartSpace xmlns:c="http://schemas.openxmlformats.org/drawingml/2006/chart" xmlns:a="http://schemas.openxmlformats.org/drawingml/2006/main" xmlns:r="http://schemas.openxmlformats.org/officeDocument/2006/relationships">
  <c:chart>
    <c:autoTitleDeleted val="0"/>
    <c:plotArea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Cases</c:v>
                </c:pt>
              </c:strCache>
            </c:strRef>
          </c:tx>
          <c:dPt>
            <c:idx val="0"/>
            <c:spPr>
              <a:solidFill>
                <a:srgbClr val="4472C4"/>
              </a:solidFill>
            </c:spPr>
          </c:dPt>
          <c:dPt>
            <c:idx val="1"/>
            <c:spPr>
              <a:solidFill>
                <a:srgbClr val="ED7D31"/>
              </a:solidFill>
            </c:spPr>
          </c:dPt>
          <c:dPt>
            <c:idx val="2"/>
            <c:spPr>
              <a:solidFill>
                <a:srgbClr val="A5A5A5"/>
              </a:solidFill>
            </c:spPr>
          </c:dPt>
          <c:dPt>
            <c:idx val="3"/>
            <c:spPr>
              <a:solidFill>
                <a:srgbClr val="FFC000"/>
              </a:solidFill>
            </c:spPr>
          </c:dPt>
          <c:dPt>
            <c:idx val="4"/>
            <c:spPr>
              <a:solidFill>
                <a:srgbClr val="5B9BD5"/>
              </a:solidFill>
            </c:spPr>
          </c:dPt>
          <c:cat>
            <c:strRef>
              <c:f>Sheet1!$A$2:$A$6</c:f>
              <c:strCache>
                <c:ptCount val="5"/>
                <c:pt idx="0">
                  <c:v>Self</c:v>
                </c:pt>
                <c:pt idx="1">
                  <c:v>Director / Kushal Calls</c:v>
                </c:pt>
                <c:pt idx="2">
                  <c:v>Dean / HoD / Faculty / Insti Hosp</c:v>
                </c:pt>
                <c:pt idx="3">
                  <c:v>Friend / Family</c:v>
                </c:pt>
                <c:pt idx="4">
                  <c:v>Mitr / Saathi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463</c:v>
                </c:pt>
                <c:pt idx="1">
                  <c:v>17</c:v>
                </c:pt>
                <c:pt idx="2">
                  <c:v>19</c:v>
                </c:pt>
                <c:pt idx="3">
                  <c:v>14</c:v>
                </c:pt>
                <c:pt idx="4">
                  <c:v>0</c:v>
                </c:pt>
              </c:numCache>
            </c:numRef>
          </c:val>
        </c:ser>
        <c:dLbls>
          <c:numFmt formatCode="0%" sourceLinked="0"/>
          <c:txPr>
            <a:bodyPr/>
            <a:lstStyle/>
            <a:p>
              <a:pPr>
                <a:defRPr sz="900">
                  <a:solidFill>
                    <a:srgbClr val="000000"/>
                  </a:solidFill>
                </a:defRPr>
              </a:pPr>
            </a:p>
          </c:txPr>
          <c:showLegendKey val="0"/>
          <c:showVal val="0"/>
          <c:showCatName val="0"/>
          <c:showSerName val="0"/>
          <c:showPercent val="1"/>
          <c:showBubbleSize val="0"/>
          <c:showLeaderLines val="1"/>
        </c:dLbls>
      </c:pieChart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12.xml><?xml version="1.0" encoding="utf-8"?>
<c:chartSpace xmlns:c="http://schemas.openxmlformats.org/drawingml/2006/chart" xmlns:a="http://schemas.openxmlformats.org/drawingml/2006/main" xmlns:r="http://schemas.openxmlformats.org/officeDocument/2006/relationships">
  <c:chart>
    <c:autoTitleDeleted val="0"/>
    <c:plotArea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Cases</c:v>
                </c:pt>
              </c:strCache>
            </c:strRef>
          </c:tx>
          <c:dPt>
            <c:idx val="0"/>
            <c:spPr>
              <a:solidFill>
                <a:srgbClr val="4472C4"/>
              </a:solidFill>
            </c:spPr>
          </c:dPt>
          <c:dPt>
            <c:idx val="1"/>
            <c:spPr>
              <a:solidFill>
                <a:srgbClr val="ED7D31"/>
              </a:solidFill>
            </c:spPr>
          </c:dPt>
          <c:dPt>
            <c:idx val="2"/>
            <c:spPr>
              <a:solidFill>
                <a:srgbClr val="A5A5A5"/>
              </a:solidFill>
            </c:spPr>
          </c:dPt>
          <c:dPt>
            <c:idx val="3"/>
            <c:spPr>
              <a:solidFill>
                <a:srgbClr val="FFC000"/>
              </a:solidFill>
            </c:spPr>
          </c:dPt>
          <c:dPt>
            <c:idx val="4"/>
            <c:spPr>
              <a:solidFill>
                <a:srgbClr val="5B9BD5"/>
              </a:solidFill>
            </c:spPr>
          </c:dPt>
          <c:cat>
            <c:strRef>
              <c:f>Sheet1!$A$2:$A$6</c:f>
              <c:strCache>
                <c:ptCount val="5"/>
                <c:pt idx="0">
                  <c:v>Self</c:v>
                </c:pt>
                <c:pt idx="1">
                  <c:v>Director / Kushal Calls</c:v>
                </c:pt>
                <c:pt idx="2">
                  <c:v>Dean / HoD / Faculty / Insti Hosp</c:v>
                </c:pt>
                <c:pt idx="3">
                  <c:v>Friend / Family</c:v>
                </c:pt>
                <c:pt idx="4">
                  <c:v>Mitr / Saathi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308</c:v>
                </c:pt>
                <c:pt idx="1">
                  <c:v>19</c:v>
                </c:pt>
                <c:pt idx="2">
                  <c:v>45</c:v>
                </c:pt>
                <c:pt idx="3">
                  <c:v>0</c:v>
                </c:pt>
                <c:pt idx="4">
                  <c:v>0</c:v>
                </c:pt>
              </c:numCache>
            </c:numRef>
          </c:val>
        </c:ser>
        <c:dLbls>
          <c:numFmt formatCode="0%" sourceLinked="0"/>
          <c:txPr>
            <a:bodyPr/>
            <a:lstStyle/>
            <a:p>
              <a:pPr>
                <a:defRPr sz="900">
                  <a:solidFill>
                    <a:srgbClr val="000000"/>
                  </a:solidFill>
                </a:defRPr>
              </a:pPr>
            </a:p>
          </c:txPr>
          <c:showLegendKey val="0"/>
          <c:showVal val="0"/>
          <c:showCatName val="0"/>
          <c:showSerName val="0"/>
          <c:showPercent val="1"/>
          <c:showBubbleSize val="0"/>
          <c:showLeaderLines val="1"/>
        </c:dLbls>
      </c:pieChart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13.xml><?xml version="1.0" encoding="utf-8"?>
<c:chartSpace xmlns:c="http://schemas.openxmlformats.org/drawingml/2006/chart" xmlns:a="http://schemas.openxmlformats.org/drawingml/2006/main" xmlns:r="http://schemas.openxmlformats.org/officeDocument/2006/relationships">
  <c:chart>
    <c:autoTitleDeleted val="0"/>
    <c:plotArea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Cases</c:v>
                </c:pt>
              </c:strCache>
            </c:strRef>
          </c:tx>
          <c:dPt>
            <c:idx val="0"/>
            <c:spPr>
              <a:solidFill>
                <a:srgbClr val="4472C4"/>
              </a:solidFill>
            </c:spPr>
          </c:dPt>
          <c:dPt>
            <c:idx val="1"/>
            <c:spPr>
              <a:solidFill>
                <a:srgbClr val="ED7D31"/>
              </a:solidFill>
            </c:spPr>
          </c:dPt>
          <c:dPt>
            <c:idx val="2"/>
            <c:spPr>
              <a:solidFill>
                <a:srgbClr val="A5A5A5"/>
              </a:solidFill>
            </c:spPr>
          </c:dPt>
          <c:dPt>
            <c:idx val="3"/>
            <c:spPr>
              <a:solidFill>
                <a:srgbClr val="FFC000"/>
              </a:solidFill>
            </c:spPr>
          </c:dPt>
          <c:dPt>
            <c:idx val="4"/>
            <c:spPr>
              <a:solidFill>
                <a:srgbClr val="5B9BD5"/>
              </a:solidFill>
            </c:spPr>
          </c:dPt>
          <c:dPt>
            <c:idx val="5"/>
            <c:spPr>
              <a:solidFill>
                <a:srgbClr val="70AD47"/>
              </a:solidFill>
            </c:spPr>
          </c:dPt>
          <c:dPt>
            <c:idx val="6"/>
            <c:spPr>
              <a:solidFill>
                <a:srgbClr val="264478"/>
              </a:solidFill>
            </c:spPr>
          </c:dPt>
          <c:dPt>
            <c:idx val="7"/>
            <c:spPr>
              <a:solidFill>
                <a:srgbClr val="9B59B6"/>
              </a:solidFill>
            </c:spPr>
          </c:dPt>
          <c:dPt>
            <c:idx val="8"/>
            <c:spPr>
              <a:solidFill>
                <a:srgbClr val="7F7F7F"/>
              </a:solidFill>
            </c:spPr>
          </c:dPt>
          <c:cat>
            <c:strRef>
              <c:f>Sheet1!$A$2:$A$10</c:f>
              <c:strCache>
                <c:ptCount val="9"/>
                <c:pt idx="0">
                  <c:v>Anxiety/Depresn/Panic/OCD</c:v>
                </c:pt>
                <c:pt idx="1">
                  <c:v>Acute Stress/Trauma</c:v>
                </c:pt>
                <c:pt idx="2">
                  <c:v>Career/Acad</c:v>
                </c:pt>
                <c:pt idx="3">
                  <c:v>Inter-personal</c:v>
                </c:pt>
                <c:pt idx="4">
                  <c:v>Self-Devlp</c:v>
                </c:pt>
                <c:pt idx="5">
                  <c:v>Clinical</c:v>
                </c:pt>
                <c:pt idx="6">
                  <c:v>Addiction</c:v>
                </c:pt>
                <c:pt idx="7">
                  <c:v>Medical/Health Issues</c:v>
                </c:pt>
                <c:pt idx="8">
                  <c:v>Suicidal Ideation/Self-harm</c:v>
                </c:pt>
              </c:strCache>
            </c:strRef>
          </c:cat>
          <c:val>
            <c:numRef>
              <c:f>Sheet1!$B$2:$B$10</c:f>
              <c:numCache>
                <c:formatCode>General</c:formatCode>
                <c:ptCount val="9"/>
                <c:pt idx="0">
                  <c:v>180</c:v>
                </c:pt>
                <c:pt idx="1">
                  <c:v>45</c:v>
                </c:pt>
                <c:pt idx="2">
                  <c:v>65</c:v>
                </c:pt>
                <c:pt idx="3">
                  <c:v>107</c:v>
                </c:pt>
                <c:pt idx="4">
                  <c:v>42</c:v>
                </c:pt>
                <c:pt idx="5">
                  <c:v>28</c:v>
                </c:pt>
                <c:pt idx="6">
                  <c:v>15</c:v>
                </c:pt>
                <c:pt idx="7">
                  <c:v>18</c:v>
                </c:pt>
                <c:pt idx="8">
                  <c:v>15</c:v>
                </c:pt>
              </c:numCache>
            </c:numRef>
          </c:val>
        </c:ser>
        <c:dLbls>
          <c:numFmt formatCode="0%" sourceLinked="0"/>
          <c:txPr>
            <a:bodyPr/>
            <a:lstStyle/>
            <a:p>
              <a:pPr>
                <a:defRPr sz="900">
                  <a:solidFill>
                    <a:srgbClr val="000000"/>
                  </a:solidFill>
                </a:defRPr>
              </a:pPr>
            </a:p>
          </c:txPr>
          <c:showLegendKey val="0"/>
          <c:showVal val="0"/>
          <c:showCatName val="0"/>
          <c:showSerName val="0"/>
          <c:showPercent val="1"/>
          <c:showBubbleSize val="0"/>
          <c:showLeaderLines val="1"/>
        </c:dLbls>
      </c:pieChart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14.xml><?xml version="1.0" encoding="utf-8"?>
<c:chartSpace xmlns:c="http://schemas.openxmlformats.org/drawingml/2006/chart" xmlns:a="http://schemas.openxmlformats.org/drawingml/2006/main" xmlns:r="http://schemas.openxmlformats.org/officeDocument/2006/relationships">
  <c:chart>
    <c:autoTitleDeleted val="0"/>
    <c:plotArea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Cases</c:v>
                </c:pt>
              </c:strCache>
            </c:strRef>
          </c:tx>
          <c:dPt>
            <c:idx val="0"/>
            <c:spPr>
              <a:solidFill>
                <a:srgbClr val="4472C4"/>
              </a:solidFill>
            </c:spPr>
          </c:dPt>
          <c:dPt>
            <c:idx val="1"/>
            <c:spPr>
              <a:solidFill>
                <a:srgbClr val="ED7D31"/>
              </a:solidFill>
            </c:spPr>
          </c:dPt>
          <c:dPt>
            <c:idx val="2"/>
            <c:spPr>
              <a:solidFill>
                <a:srgbClr val="A5A5A5"/>
              </a:solidFill>
            </c:spPr>
          </c:dPt>
          <c:dPt>
            <c:idx val="3"/>
            <c:spPr>
              <a:solidFill>
                <a:srgbClr val="FFC000"/>
              </a:solidFill>
            </c:spPr>
          </c:dPt>
          <c:dPt>
            <c:idx val="4"/>
            <c:spPr>
              <a:solidFill>
                <a:srgbClr val="5B9BD5"/>
              </a:solidFill>
            </c:spPr>
          </c:dPt>
          <c:dPt>
            <c:idx val="5"/>
            <c:spPr>
              <a:solidFill>
                <a:srgbClr val="70AD47"/>
              </a:solidFill>
            </c:spPr>
          </c:dPt>
          <c:dPt>
            <c:idx val="6"/>
            <c:spPr>
              <a:solidFill>
                <a:srgbClr val="264478"/>
              </a:solidFill>
            </c:spPr>
          </c:dPt>
          <c:dPt>
            <c:idx val="7"/>
            <c:spPr>
              <a:solidFill>
                <a:srgbClr val="9B59B6"/>
              </a:solidFill>
            </c:spPr>
          </c:dPt>
          <c:dPt>
            <c:idx val="8"/>
            <c:spPr>
              <a:solidFill>
                <a:srgbClr val="7F7F7F"/>
              </a:solidFill>
            </c:spPr>
          </c:dPt>
          <c:cat>
            <c:strRef>
              <c:f>Sheet1!$A$2:$A$10</c:f>
              <c:strCache>
                <c:ptCount val="9"/>
                <c:pt idx="0">
                  <c:v>Anxiety/Depresn/Panic/OCD</c:v>
                </c:pt>
                <c:pt idx="1">
                  <c:v>Acute Stress/Trauma</c:v>
                </c:pt>
                <c:pt idx="2">
                  <c:v>Career/Acad</c:v>
                </c:pt>
                <c:pt idx="3">
                  <c:v>Inter-personal</c:v>
                </c:pt>
                <c:pt idx="4">
                  <c:v>Self-Devlp</c:v>
                </c:pt>
                <c:pt idx="5">
                  <c:v>Clinical</c:v>
                </c:pt>
                <c:pt idx="6">
                  <c:v>Addiction</c:v>
                </c:pt>
                <c:pt idx="7">
                  <c:v>Medical/Health Issues</c:v>
                </c:pt>
                <c:pt idx="8">
                  <c:v>Suicidal Ideation/Self-harm</c:v>
                </c:pt>
              </c:strCache>
            </c:strRef>
          </c:cat>
          <c:val>
            <c:numRef>
              <c:f>Sheet1!$B$2:$B$10</c:f>
              <c:numCache>
                <c:formatCode>General</c:formatCode>
                <c:ptCount val="9"/>
                <c:pt idx="0">
                  <c:v>67</c:v>
                </c:pt>
                <c:pt idx="1">
                  <c:v>35</c:v>
                </c:pt>
                <c:pt idx="2">
                  <c:v>55</c:v>
                </c:pt>
                <c:pt idx="3">
                  <c:v>127</c:v>
                </c:pt>
                <c:pt idx="4">
                  <c:v>38</c:v>
                </c:pt>
                <c:pt idx="5">
                  <c:v>22</c:v>
                </c:pt>
                <c:pt idx="6">
                  <c:v>10</c:v>
                </c:pt>
                <c:pt idx="7">
                  <c:v>12</c:v>
                </c:pt>
                <c:pt idx="8">
                  <c:v>1</c:v>
                </c:pt>
              </c:numCache>
            </c:numRef>
          </c:val>
        </c:ser>
        <c:dLbls>
          <c:numFmt formatCode="0%" sourceLinked="0"/>
          <c:txPr>
            <a:bodyPr/>
            <a:lstStyle/>
            <a:p>
              <a:pPr>
                <a:defRPr sz="900">
                  <a:solidFill>
                    <a:srgbClr val="000000"/>
                  </a:solidFill>
                </a:defRPr>
              </a:pPr>
            </a:p>
          </c:txPr>
          <c:showLegendKey val="0"/>
          <c:showVal val="0"/>
          <c:showCatName val="0"/>
          <c:showSerName val="0"/>
          <c:showPercent val="1"/>
          <c:showBubbleSize val="0"/>
          <c:showLeaderLines val="1"/>
        </c:dLbls>
      </c:pieChart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15.xml><?xml version="1.0" encoding="utf-8"?>
<c:chartSpace xmlns:c="http://schemas.openxmlformats.org/drawingml/2006/chart" xmlns:a="http://schemas.openxmlformats.org/drawingml/2006/main" xmlns:r="http://schemas.openxmlformats.org/officeDocument/2006/relationships">
  <c:chart>
    <c:autoTitleDeleted val="0"/>
    <c:plotArea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Cases</c:v>
                </c:pt>
              </c:strCache>
            </c:strRef>
          </c:tx>
          <c:dPt>
            <c:idx val="0"/>
            <c:spPr>
              <a:solidFill>
                <a:srgbClr val="4472C4"/>
              </a:solidFill>
            </c:spPr>
          </c:dPt>
          <c:dPt>
            <c:idx val="1"/>
            <c:spPr>
              <a:solidFill>
                <a:srgbClr val="ED7D31"/>
              </a:solidFill>
            </c:spPr>
          </c:dPt>
          <c:dPt>
            <c:idx val="2"/>
            <c:spPr>
              <a:solidFill>
                <a:srgbClr val="A5A5A5"/>
              </a:solidFill>
            </c:spPr>
          </c:dPt>
          <c:dPt>
            <c:idx val="3"/>
            <c:spPr>
              <a:solidFill>
                <a:srgbClr val="FFC000"/>
              </a:solidFill>
            </c:spPr>
          </c:dPt>
          <c:dPt>
            <c:idx val="4"/>
            <c:spPr>
              <a:solidFill>
                <a:srgbClr val="5B9BD5"/>
              </a:solidFill>
            </c:spPr>
          </c:dPt>
          <c:dPt>
            <c:idx val="5"/>
            <c:spPr>
              <a:solidFill>
                <a:srgbClr val="70AD47"/>
              </a:solidFill>
            </c:spPr>
          </c:dPt>
          <c:dPt>
            <c:idx val="6"/>
            <c:spPr>
              <a:solidFill>
                <a:srgbClr val="264478"/>
              </a:solidFill>
            </c:spPr>
          </c:dPt>
          <c:dPt>
            <c:idx val="7"/>
            <c:spPr>
              <a:solidFill>
                <a:srgbClr val="9B59B6"/>
              </a:solidFill>
            </c:spPr>
          </c:dPt>
          <c:cat>
            <c:strRef>
              <c:f>Sheet1!$A$2:$A$9</c:f>
              <c:strCache>
                <c:ptCount val="8"/>
                <c:pt idx="0">
                  <c:v>UG</c:v>
                </c:pt>
                <c:pt idx="1">
                  <c:v>PG</c:v>
                </c:pt>
                <c:pt idx="2">
                  <c:v>Ph.D.</c:v>
                </c:pt>
                <c:pt idx="3">
                  <c:v>Dual Degree</c:v>
                </c:pt>
                <c:pt idx="4">
                  <c:v>IIT Faculty/Staff</c:v>
                </c:pt>
                <c:pt idx="5">
                  <c:v>Employee Family</c:v>
                </c:pt>
                <c:pt idx="6">
                  <c:v>Post Doc/Proj Asso</c:v>
                </c:pt>
                <c:pt idx="7">
                  <c:v>Not Able to Identify</c:v>
                </c:pt>
              </c:strCache>
            </c: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244</c:v>
                </c:pt>
                <c:pt idx="1">
                  <c:v>98</c:v>
                </c:pt>
                <c:pt idx="2">
                  <c:v>91</c:v>
                </c:pt>
                <c:pt idx="3">
                  <c:v>22</c:v>
                </c:pt>
                <c:pt idx="4">
                  <c:v>32</c:v>
                </c:pt>
                <c:pt idx="5">
                  <c:v>15</c:v>
                </c:pt>
                <c:pt idx="6">
                  <c:v>11</c:v>
                </c:pt>
                <c:pt idx="7">
                  <c:v>0</c:v>
                </c:pt>
              </c:numCache>
            </c:numRef>
          </c:val>
        </c:ser>
        <c:dLbls>
          <c:numFmt formatCode="0%" sourceLinked="0"/>
          <c:txPr>
            <a:bodyPr/>
            <a:lstStyle/>
            <a:p>
              <a:pPr>
                <a:defRPr sz="900">
                  <a:solidFill>
                    <a:srgbClr val="000000"/>
                  </a:solidFill>
                </a:defRPr>
              </a:pPr>
            </a:p>
          </c:txPr>
          <c:showLegendKey val="0"/>
          <c:showVal val="0"/>
          <c:showCatName val="0"/>
          <c:showSerName val="0"/>
          <c:showPercent val="1"/>
          <c:showBubbleSize val="0"/>
          <c:showLeaderLines val="1"/>
        </c:dLbls>
      </c:pieChart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16.xml><?xml version="1.0" encoding="utf-8"?>
<c:chartSpace xmlns:c="http://schemas.openxmlformats.org/drawingml/2006/chart" xmlns:a="http://schemas.openxmlformats.org/drawingml/2006/main" xmlns:r="http://schemas.openxmlformats.org/officeDocument/2006/relationships">
  <c:chart>
    <c:autoTitleDeleted val="0"/>
    <c:plotArea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Cases</c:v>
                </c:pt>
              </c:strCache>
            </c:strRef>
          </c:tx>
          <c:dPt>
            <c:idx val="0"/>
            <c:spPr>
              <a:solidFill>
                <a:srgbClr val="4472C4"/>
              </a:solidFill>
            </c:spPr>
          </c:dPt>
          <c:dPt>
            <c:idx val="1"/>
            <c:spPr>
              <a:solidFill>
                <a:srgbClr val="ED7D31"/>
              </a:solidFill>
            </c:spPr>
          </c:dPt>
          <c:dPt>
            <c:idx val="2"/>
            <c:spPr>
              <a:solidFill>
                <a:srgbClr val="A5A5A5"/>
              </a:solidFill>
            </c:spPr>
          </c:dPt>
          <c:dPt>
            <c:idx val="3"/>
            <c:spPr>
              <a:solidFill>
                <a:srgbClr val="FFC000"/>
              </a:solidFill>
            </c:spPr>
          </c:dPt>
          <c:dPt>
            <c:idx val="4"/>
            <c:spPr>
              <a:solidFill>
                <a:srgbClr val="5B9BD5"/>
              </a:solidFill>
            </c:spPr>
          </c:dPt>
          <c:dPt>
            <c:idx val="5"/>
            <c:spPr>
              <a:solidFill>
                <a:srgbClr val="70AD47"/>
              </a:solidFill>
            </c:spPr>
          </c:dPt>
          <c:dPt>
            <c:idx val="6"/>
            <c:spPr>
              <a:solidFill>
                <a:srgbClr val="264478"/>
              </a:solidFill>
            </c:spPr>
          </c:dPt>
          <c:dPt>
            <c:idx val="7"/>
            <c:spPr>
              <a:solidFill>
                <a:srgbClr val="9B59B6"/>
              </a:solidFill>
            </c:spPr>
          </c:dPt>
          <c:cat>
            <c:strRef>
              <c:f>Sheet1!$A$2:$A$9</c:f>
              <c:strCache>
                <c:ptCount val="8"/>
                <c:pt idx="0">
                  <c:v>UG</c:v>
                </c:pt>
                <c:pt idx="1">
                  <c:v>PG</c:v>
                </c:pt>
                <c:pt idx="2">
                  <c:v>Ph.D.</c:v>
                </c:pt>
                <c:pt idx="3">
                  <c:v>Dual Degree</c:v>
                </c:pt>
                <c:pt idx="4">
                  <c:v>IIT Faculty/Staff</c:v>
                </c:pt>
                <c:pt idx="5">
                  <c:v>Employee Family</c:v>
                </c:pt>
                <c:pt idx="6">
                  <c:v>Post Doc/Proj Asso</c:v>
                </c:pt>
                <c:pt idx="7">
                  <c:v>Not Able to Identify</c:v>
                </c:pt>
              </c:strCache>
            </c: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121</c:v>
                </c:pt>
                <c:pt idx="1">
                  <c:v>102</c:v>
                </c:pt>
                <c:pt idx="2">
                  <c:v>109</c:v>
                </c:pt>
                <c:pt idx="3">
                  <c:v>15</c:v>
                </c:pt>
                <c:pt idx="4">
                  <c:v>18</c:v>
                </c:pt>
                <c:pt idx="5">
                  <c:v>5</c:v>
                </c:pt>
                <c:pt idx="6">
                  <c:v>3</c:v>
                </c:pt>
                <c:pt idx="7">
                  <c:v>0</c:v>
                </c:pt>
              </c:numCache>
            </c:numRef>
          </c:val>
        </c:ser>
        <c:dLbls>
          <c:numFmt formatCode="0%" sourceLinked="0"/>
          <c:txPr>
            <a:bodyPr/>
            <a:lstStyle/>
            <a:p>
              <a:pPr>
                <a:defRPr sz="900">
                  <a:solidFill>
                    <a:srgbClr val="000000"/>
                  </a:solidFill>
                </a:defRPr>
              </a:pPr>
            </a:p>
          </c:txPr>
          <c:showLegendKey val="0"/>
          <c:showVal val="0"/>
          <c:showCatName val="0"/>
          <c:showSerName val="0"/>
          <c:showPercent val="1"/>
          <c:showBubbleSize val="0"/>
          <c:showLeaderLines val="1"/>
        </c:dLbls>
      </c:pieChart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1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New</c:v>
                </c:pt>
              </c:strCache>
            </c:strRef>
          </c:tx>
          <c:spPr>
            <a:solidFill>
              <a:srgbClr val="4472C4"/>
            </a:solidFill>
          </c:spPr>
          <c:cat>
            <c:strRef>
              <c:f>Sheet1!$A$2:$A$5</c:f>
              <c:strCache>
                <c:ptCount val="4"/>
                <c:pt idx="0">
                  <c:v>WLN Ctr</c:v>
                </c:pt>
                <c:pt idx="1">
                  <c:v>Team A</c:v>
                </c:pt>
                <c:pt idx="2">
                  <c:v>Your Dost</c:v>
                </c:pt>
                <c:pt idx="3">
                  <c:v>Myndwell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12</c:v>
                </c:pt>
                <c:pt idx="1">
                  <c:v>19</c:v>
                </c:pt>
                <c:pt idx="2">
                  <c:v>34</c:v>
                </c:pt>
                <c:pt idx="3">
                  <c:v>30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Follow-up</c:v>
                </c:pt>
              </c:strCache>
            </c:strRef>
          </c:tx>
          <c:spPr>
            <a:solidFill>
              <a:srgbClr val="ED7D31"/>
            </a:solidFill>
          </c:spPr>
          <c:cat>
            <c:strRef>
              <c:f>Sheet1!$A$2:$A$5</c:f>
              <c:strCache>
                <c:ptCount val="4"/>
                <c:pt idx="0">
                  <c:v>WLN Ctr</c:v>
                </c:pt>
                <c:pt idx="1">
                  <c:v>Team A</c:v>
                </c:pt>
                <c:pt idx="2">
                  <c:v>Your Dost</c:v>
                </c:pt>
                <c:pt idx="3">
                  <c:v>Myndwell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102</c:v>
                </c:pt>
                <c:pt idx="1">
                  <c:v>143</c:v>
                </c:pt>
                <c:pt idx="2">
                  <c:v>203</c:v>
                </c:pt>
                <c:pt idx="3">
                  <c:v>51</c:v>
                </c:pt>
              </c:numCache>
            </c:numRef>
          </c:val>
        </c:ser>
        <c:dLbls>
          <c:numFmt formatCode="0" sourceLinked="0"/>
          <c:txPr>
            <a:bodyPr/>
            <a:lstStyle/>
            <a:p>
              <a:pPr>
                <a:defRPr sz="900" b="1">
                  <a:solidFill>
                    <a:srgbClr val="000000"/>
                  </a:solidFill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legend>
      <c:legendPos val="b"/>
      <c:overlay val="0"/>
      <c:txPr>
        <a:bodyPr/>
        <a:lstStyle/>
        <a:p>
          <a:pPr>
            <a:defRPr sz="900"/>
          </a:pPr>
        </a:p>
      </c:txPr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18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New</c:v>
                </c:pt>
              </c:strCache>
            </c:strRef>
          </c:tx>
          <c:spPr>
            <a:solidFill>
              <a:srgbClr val="4472C4"/>
            </a:solidFill>
          </c:spPr>
          <c:cat>
            <c:strRef>
              <c:f>Sheet1!$A$2:$A$5</c:f>
              <c:strCache>
                <c:ptCount val="4"/>
                <c:pt idx="0">
                  <c:v>WLN Ctr</c:v>
                </c:pt>
                <c:pt idx="1">
                  <c:v>Team A</c:v>
                </c:pt>
                <c:pt idx="2">
                  <c:v>Your Dost</c:v>
                </c:pt>
                <c:pt idx="3">
                  <c:v>Myndwell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6</c:v>
                </c:pt>
                <c:pt idx="1">
                  <c:v>20</c:v>
                </c:pt>
                <c:pt idx="2">
                  <c:v>25</c:v>
                </c:pt>
                <c:pt idx="3">
                  <c:v>18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Follow-up</c:v>
                </c:pt>
              </c:strCache>
            </c:strRef>
          </c:tx>
          <c:spPr>
            <a:solidFill>
              <a:srgbClr val="ED7D31"/>
            </a:solidFill>
          </c:spPr>
          <c:cat>
            <c:strRef>
              <c:f>Sheet1!$A$2:$A$5</c:f>
              <c:strCache>
                <c:ptCount val="4"/>
                <c:pt idx="0">
                  <c:v>WLN Ctr</c:v>
                </c:pt>
                <c:pt idx="1">
                  <c:v>Team A</c:v>
                </c:pt>
                <c:pt idx="2">
                  <c:v>Your Dost</c:v>
                </c:pt>
                <c:pt idx="3">
                  <c:v>Myndwell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52</c:v>
                </c:pt>
                <c:pt idx="1">
                  <c:v>45</c:v>
                </c:pt>
                <c:pt idx="2">
                  <c:v>162</c:v>
                </c:pt>
                <c:pt idx="3">
                  <c:v>45</c:v>
                </c:pt>
              </c:numCache>
            </c:numRef>
          </c:val>
        </c:ser>
        <c:dLbls>
          <c:numFmt formatCode="0" sourceLinked="0"/>
          <c:txPr>
            <a:bodyPr/>
            <a:lstStyle/>
            <a:p>
              <a:pPr>
                <a:defRPr sz="900" b="1">
                  <a:solidFill>
                    <a:srgbClr val="000000"/>
                  </a:solidFill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legend>
      <c:legendPos val="b"/>
      <c:overlay val="0"/>
      <c:txPr>
        <a:bodyPr/>
        <a:lstStyle/>
        <a:p>
          <a:pPr>
            <a:defRPr sz="900"/>
          </a:pPr>
        </a:p>
      </c:txPr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chart" Target="../charts/chart1.xml"/><Relationship Id="rId4" Type="http://schemas.openxmlformats.org/officeDocument/2006/relationships/chart" Target="../charts/char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chart" Target="../charts/chart3.xml"/><Relationship Id="rId4" Type="http://schemas.openxmlformats.org/officeDocument/2006/relationships/chart" Target="../charts/chart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chart" Target="../charts/chart5.xml"/><Relationship Id="rId4" Type="http://schemas.openxmlformats.org/officeDocument/2006/relationships/chart" Target="../charts/chart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chart" Target="../charts/chart7.xml"/><Relationship Id="rId4" Type="http://schemas.openxmlformats.org/officeDocument/2006/relationships/chart" Target="../charts/chart8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chart" Target="../charts/chart9.xml"/><Relationship Id="rId4" Type="http://schemas.openxmlformats.org/officeDocument/2006/relationships/chart" Target="../charts/chart10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chart" Target="../charts/chart11.xml"/><Relationship Id="rId4" Type="http://schemas.openxmlformats.org/officeDocument/2006/relationships/chart" Target="../charts/chart1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chart" Target="../charts/chart13.xml"/><Relationship Id="rId4" Type="http://schemas.openxmlformats.org/officeDocument/2006/relationships/chart" Target="../charts/chart14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chart" Target="../charts/chart15.xml"/><Relationship Id="rId4" Type="http://schemas.openxmlformats.org/officeDocument/2006/relationships/chart" Target="../charts/chart16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chart" Target="../charts/chart17.xml"/><Relationship Id="rId4" Type="http://schemas.openxmlformats.org/officeDocument/2006/relationships/chart" Target="../charts/chart18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04806" y="0"/>
            <a:ext cx="3182388" cy="640135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655064" y="2706624"/>
            <a:ext cx="8723376" cy="7589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>
                <a:solidFill>
                  <a:srgbClr val="FF0000"/>
                </a:solidFill>
                <a:latin typeface="Calibri"/>
              </a:rPr>
              <a:t>Monthly Wellness Data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655064" y="3474720"/>
            <a:ext cx="8723376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000000"/>
                </a:solidFill>
                <a:latin typeface="Calibri"/>
              </a:rPr>
              <a:t>Comparative Analysis: MAY 2026 vs. JUNE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04806" y="0"/>
            <a:ext cx="3182388" cy="640135"/>
          </a:xfrm>
          <a:prstGeom prst="rect">
            <a:avLst/>
          </a:prstGeom>
        </p:spPr>
      </p:pic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11480" y="1088136"/>
          <a:ext cx="521208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03020"/>
                <a:gridCol w="1303020"/>
                <a:gridCol w="1303020"/>
                <a:gridCol w="1303020"/>
              </a:tblGrid>
              <a:tr h="457200"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Metric</a:t>
                      </a:r>
                    </a:p>
                  </a:txBody>
                  <a:tcPr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MAY 2026</a:t>
                      </a:r>
                    </a:p>
                  </a:txBody>
                  <a:tcPr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JUNE 2026</a:t>
                      </a:r>
                    </a:p>
                  </a:txBody>
                  <a:tcPr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Change</a:t>
                      </a:r>
                    </a:p>
                  </a:txBody>
                  <a:tcPr>
                    <a:solidFill>
                      <a:srgbClr val="4472C4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New Cases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65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69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4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Follow-up Cases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448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304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-144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Grand Total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513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373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-140</a:t>
                      </a:r>
                    </a:p>
                  </a:txBody>
                  <a:tcPr/>
                </a:tc>
              </a:tr>
            </a:tbl>
          </a:graphicData>
        </a:graphic>
      </p:graphicFrame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943600" y="1088136"/>
          <a:ext cx="576072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20240"/>
                <a:gridCol w="1920240"/>
                <a:gridCol w="1920240"/>
              </a:tblGrid>
              <a:tr h="457200"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Gender</a:t>
                      </a:r>
                    </a:p>
                  </a:txBody>
                  <a:tcPr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MAY 2026</a:t>
                      </a:r>
                    </a:p>
                  </a:txBody>
                  <a:tcPr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JUNE 2026</a:t>
                      </a:r>
                    </a:p>
                  </a:txBody>
                  <a:tcPr>
                    <a:solidFill>
                      <a:srgbClr val="4472C4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Male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298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195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Female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202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159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Others / Not to Say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13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19</a:t>
                      </a:r>
                    </a:p>
                  </a:txBody>
                  <a:tcPr/>
                </a:tc>
              </a:tr>
            </a:tbl>
          </a:graphicData>
        </a:graphic>
      </p:graphicFrame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11480" y="3200400"/>
          <a:ext cx="521208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37360"/>
                <a:gridCol w="1737360"/>
                <a:gridCol w="1737360"/>
              </a:tblGrid>
              <a:tr h="457200"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Mode</a:t>
                      </a:r>
                    </a:p>
                  </a:txBody>
                  <a:tcPr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MAY 2026</a:t>
                      </a:r>
                    </a:p>
                  </a:txBody>
                  <a:tcPr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JUNE 2026</a:t>
                      </a:r>
                    </a:p>
                  </a:txBody>
                  <a:tcPr>
                    <a:solidFill>
                      <a:srgbClr val="4472C4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Online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120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105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In-Person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357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224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Phone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36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44</a:t>
                      </a:r>
                    </a:p>
                  </a:txBody>
                  <a:tcPr/>
                </a:tc>
              </a:tr>
            </a:tbl>
          </a:graphicData>
        </a:graphic>
      </p:graphicFrame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943600" y="3200400"/>
          <a:ext cx="5760720" cy="228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20240"/>
                <a:gridCol w="1920240"/>
                <a:gridCol w="1920240"/>
              </a:tblGrid>
              <a:tr h="381000"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Referral</a:t>
                      </a:r>
                    </a:p>
                  </a:txBody>
                  <a:tcPr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MAY 2026</a:t>
                      </a:r>
                    </a:p>
                  </a:txBody>
                  <a:tcPr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JUNE 2026</a:t>
                      </a:r>
                    </a:p>
                  </a:txBody>
                  <a:tcPr>
                    <a:solidFill>
                      <a:srgbClr val="4472C4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Self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463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308</a:t>
                      </a:r>
                    </a:p>
                  </a:txBody>
                  <a:tcPr/>
                </a:tc>
              </a:tr>
              <a:tr h="381000"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Director / Kushal Calls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17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19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Dean / HoD / Faculty / Insti Hosp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19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45</a:t>
                      </a:r>
                    </a:p>
                  </a:txBody>
                  <a:tcPr/>
                </a:tc>
              </a:tr>
              <a:tr h="381000"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Friend / Family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14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Mitr / Saathi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0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04806" y="0"/>
            <a:ext cx="3182388" cy="640135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18872" y="612648"/>
            <a:ext cx="6099048" cy="740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400" b="1">
                <a:solidFill>
                  <a:srgbClr val="FF0000"/>
                </a:solidFill>
                <a:latin typeface="Calibri"/>
              </a:rPr>
              <a:t>VERTICALS TOTAL</a:t>
            </a:r>
          </a:p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400" b="1">
                <a:solidFill>
                  <a:srgbClr val="FF0000"/>
                </a:solidFill>
                <a:latin typeface="Calibri"/>
              </a:rPr>
              <a:t>MAY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532120" y="612648"/>
            <a:ext cx="6099048" cy="740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400" b="1">
                <a:solidFill>
                  <a:srgbClr val="FF0000"/>
                </a:solidFill>
                <a:latin typeface="Calibri"/>
              </a:rPr>
              <a:t>VERTICALS TOTAL</a:t>
            </a:r>
          </a:p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400" b="1">
                <a:solidFill>
                  <a:srgbClr val="FF0000"/>
                </a:solidFill>
                <a:latin typeface="Calibri"/>
              </a:rPr>
              <a:t>JUNE 2026</a:t>
            </a:r>
          </a:p>
        </p:txBody>
      </p:sp>
      <p:graphicFrame>
        <p:nvGraphicFramePr>
          <p:cNvPr id="5" name="Chart 4"/>
          <p:cNvGraphicFramePr>
            <a:graphicFrameLocks noGrp="1"/>
          </p:cNvGraphicFramePr>
          <p:nvPr/>
        </p:nvGraphicFramePr>
        <p:xfrm>
          <a:off x="45720" y="1371600"/>
          <a:ext cx="6217920" cy="544068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graphicFrame>
        <p:nvGraphicFramePr>
          <p:cNvPr id="6" name="Chart 5"/>
          <p:cNvGraphicFramePr>
            <a:graphicFrameLocks noGrp="1"/>
          </p:cNvGraphicFramePr>
          <p:nvPr/>
        </p:nvGraphicFramePr>
        <p:xfrm>
          <a:off x="5870448" y="1371600"/>
          <a:ext cx="6263640" cy="5440680"/>
        </p:xfrm>
        <a:graphic>
          <a:graphicData uri="http://schemas.openxmlformats.org/drawingml/2006/chart">
            <c:chart xmlns:c="http://schemas.openxmlformats.org/drawingml/2006/chart" r:id="rId4"/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04806" y="0"/>
            <a:ext cx="3182388" cy="640135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18872" y="612648"/>
            <a:ext cx="6099048" cy="740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400" b="1">
                <a:solidFill>
                  <a:srgbClr val="FF0000"/>
                </a:solidFill>
                <a:latin typeface="Calibri"/>
              </a:rPr>
              <a:t>VERTICALS NEW CASES</a:t>
            </a:r>
          </a:p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400" b="1">
                <a:solidFill>
                  <a:srgbClr val="FF0000"/>
                </a:solidFill>
                <a:latin typeface="Calibri"/>
              </a:rPr>
              <a:t>MAY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532120" y="612648"/>
            <a:ext cx="6099048" cy="740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400" b="1">
                <a:solidFill>
                  <a:srgbClr val="FF0000"/>
                </a:solidFill>
                <a:latin typeface="Calibri"/>
              </a:rPr>
              <a:t>VERTICALS NEW CASES</a:t>
            </a:r>
          </a:p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400" b="1">
                <a:solidFill>
                  <a:srgbClr val="FF0000"/>
                </a:solidFill>
                <a:latin typeface="Calibri"/>
              </a:rPr>
              <a:t>JUNE 2026</a:t>
            </a:r>
          </a:p>
        </p:txBody>
      </p:sp>
      <p:graphicFrame>
        <p:nvGraphicFramePr>
          <p:cNvPr id="5" name="Chart 4"/>
          <p:cNvGraphicFramePr>
            <a:graphicFrameLocks noGrp="1"/>
          </p:cNvGraphicFramePr>
          <p:nvPr/>
        </p:nvGraphicFramePr>
        <p:xfrm>
          <a:off x="45720" y="1371600"/>
          <a:ext cx="6217920" cy="544068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graphicFrame>
        <p:nvGraphicFramePr>
          <p:cNvPr id="6" name="Chart 5"/>
          <p:cNvGraphicFramePr>
            <a:graphicFrameLocks noGrp="1"/>
          </p:cNvGraphicFramePr>
          <p:nvPr/>
        </p:nvGraphicFramePr>
        <p:xfrm>
          <a:off x="5870448" y="1371600"/>
          <a:ext cx="6263640" cy="5440680"/>
        </p:xfrm>
        <a:graphic>
          <a:graphicData uri="http://schemas.openxmlformats.org/drawingml/2006/chart">
            <c:chart xmlns:c="http://schemas.openxmlformats.org/drawingml/2006/chart" r:id="rId4"/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04806" y="0"/>
            <a:ext cx="3182388" cy="640135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18872" y="612648"/>
            <a:ext cx="6099048" cy="740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400" b="1">
                <a:solidFill>
                  <a:srgbClr val="FF0000"/>
                </a:solidFill>
                <a:latin typeface="Calibri"/>
              </a:rPr>
              <a:t>VERTICALS FOLLOW-UP CASES</a:t>
            </a:r>
          </a:p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400" b="1">
                <a:solidFill>
                  <a:srgbClr val="FF0000"/>
                </a:solidFill>
                <a:latin typeface="Calibri"/>
              </a:rPr>
              <a:t>MAY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532120" y="612648"/>
            <a:ext cx="6099048" cy="740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400" b="1">
                <a:solidFill>
                  <a:srgbClr val="FF0000"/>
                </a:solidFill>
                <a:latin typeface="Calibri"/>
              </a:rPr>
              <a:t>VERTICALS FOLLOW-UP CASES</a:t>
            </a:r>
          </a:p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400" b="1">
                <a:solidFill>
                  <a:srgbClr val="FF0000"/>
                </a:solidFill>
                <a:latin typeface="Calibri"/>
              </a:rPr>
              <a:t>JUNE 2026</a:t>
            </a:r>
          </a:p>
        </p:txBody>
      </p:sp>
      <p:graphicFrame>
        <p:nvGraphicFramePr>
          <p:cNvPr id="5" name="Chart 4"/>
          <p:cNvGraphicFramePr>
            <a:graphicFrameLocks noGrp="1"/>
          </p:cNvGraphicFramePr>
          <p:nvPr/>
        </p:nvGraphicFramePr>
        <p:xfrm>
          <a:off x="45720" y="1371600"/>
          <a:ext cx="6217920" cy="544068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graphicFrame>
        <p:nvGraphicFramePr>
          <p:cNvPr id="6" name="Chart 5"/>
          <p:cNvGraphicFramePr>
            <a:graphicFrameLocks noGrp="1"/>
          </p:cNvGraphicFramePr>
          <p:nvPr/>
        </p:nvGraphicFramePr>
        <p:xfrm>
          <a:off x="5870448" y="1371600"/>
          <a:ext cx="6263640" cy="5440680"/>
        </p:xfrm>
        <a:graphic>
          <a:graphicData uri="http://schemas.openxmlformats.org/drawingml/2006/chart">
            <c:chart xmlns:c="http://schemas.openxmlformats.org/drawingml/2006/chart" r:id="rId4"/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04806" y="0"/>
            <a:ext cx="3182388" cy="640135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18872" y="612648"/>
            <a:ext cx="6099048" cy="740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400" b="1">
                <a:solidFill>
                  <a:srgbClr val="FF0000"/>
                </a:solidFill>
                <a:latin typeface="Calibri"/>
              </a:rPr>
              <a:t>GENDER DISTRIBUTION</a:t>
            </a:r>
          </a:p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400" b="1">
                <a:solidFill>
                  <a:srgbClr val="FF0000"/>
                </a:solidFill>
                <a:latin typeface="Calibri"/>
              </a:rPr>
              <a:t>MAY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532120" y="612648"/>
            <a:ext cx="6099048" cy="740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400" b="1">
                <a:solidFill>
                  <a:srgbClr val="FF0000"/>
                </a:solidFill>
                <a:latin typeface="Calibri"/>
              </a:rPr>
              <a:t>GENDER DISTRIBUTION</a:t>
            </a:r>
          </a:p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400" b="1">
                <a:solidFill>
                  <a:srgbClr val="FF0000"/>
                </a:solidFill>
                <a:latin typeface="Calibri"/>
              </a:rPr>
              <a:t>JUNE 2026</a:t>
            </a:r>
          </a:p>
        </p:txBody>
      </p:sp>
      <p:graphicFrame>
        <p:nvGraphicFramePr>
          <p:cNvPr id="5" name="Chart 4"/>
          <p:cNvGraphicFramePr>
            <a:graphicFrameLocks noGrp="1"/>
          </p:cNvGraphicFramePr>
          <p:nvPr/>
        </p:nvGraphicFramePr>
        <p:xfrm>
          <a:off x="45720" y="1371600"/>
          <a:ext cx="6217920" cy="544068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graphicFrame>
        <p:nvGraphicFramePr>
          <p:cNvPr id="6" name="Chart 5"/>
          <p:cNvGraphicFramePr>
            <a:graphicFrameLocks noGrp="1"/>
          </p:cNvGraphicFramePr>
          <p:nvPr/>
        </p:nvGraphicFramePr>
        <p:xfrm>
          <a:off x="5870448" y="1371600"/>
          <a:ext cx="6263640" cy="5440680"/>
        </p:xfrm>
        <a:graphic>
          <a:graphicData uri="http://schemas.openxmlformats.org/drawingml/2006/chart">
            <c:chart xmlns:c="http://schemas.openxmlformats.org/drawingml/2006/chart" r:id="rId4"/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04806" y="0"/>
            <a:ext cx="3182388" cy="640135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18872" y="612648"/>
            <a:ext cx="6099048" cy="740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400" b="1">
                <a:solidFill>
                  <a:srgbClr val="FF0000"/>
                </a:solidFill>
                <a:latin typeface="Calibri"/>
              </a:rPr>
              <a:t>MODE OF SESSION</a:t>
            </a:r>
          </a:p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400" b="1">
                <a:solidFill>
                  <a:srgbClr val="FF0000"/>
                </a:solidFill>
                <a:latin typeface="Calibri"/>
              </a:rPr>
              <a:t>MAY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532120" y="612648"/>
            <a:ext cx="6099048" cy="740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400" b="1">
                <a:solidFill>
                  <a:srgbClr val="FF0000"/>
                </a:solidFill>
                <a:latin typeface="Calibri"/>
              </a:rPr>
              <a:t>MODE OF SESSION</a:t>
            </a:r>
          </a:p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400" b="1">
                <a:solidFill>
                  <a:srgbClr val="FF0000"/>
                </a:solidFill>
                <a:latin typeface="Calibri"/>
              </a:rPr>
              <a:t>JUNE 2026</a:t>
            </a:r>
          </a:p>
        </p:txBody>
      </p:sp>
      <p:graphicFrame>
        <p:nvGraphicFramePr>
          <p:cNvPr id="5" name="Chart 4"/>
          <p:cNvGraphicFramePr>
            <a:graphicFrameLocks noGrp="1"/>
          </p:cNvGraphicFramePr>
          <p:nvPr/>
        </p:nvGraphicFramePr>
        <p:xfrm>
          <a:off x="45720" y="1371600"/>
          <a:ext cx="6217920" cy="544068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graphicFrame>
        <p:nvGraphicFramePr>
          <p:cNvPr id="6" name="Chart 5"/>
          <p:cNvGraphicFramePr>
            <a:graphicFrameLocks noGrp="1"/>
          </p:cNvGraphicFramePr>
          <p:nvPr/>
        </p:nvGraphicFramePr>
        <p:xfrm>
          <a:off x="5870448" y="1371600"/>
          <a:ext cx="6263640" cy="5440680"/>
        </p:xfrm>
        <a:graphic>
          <a:graphicData uri="http://schemas.openxmlformats.org/drawingml/2006/chart">
            <c:chart xmlns:c="http://schemas.openxmlformats.org/drawingml/2006/chart" r:id="rId4"/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04806" y="0"/>
            <a:ext cx="3182388" cy="640135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18872" y="612648"/>
            <a:ext cx="6099048" cy="740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400" b="1">
                <a:solidFill>
                  <a:srgbClr val="FF0000"/>
                </a:solidFill>
                <a:latin typeface="Calibri"/>
              </a:rPr>
              <a:t>REFERRAL TYPE</a:t>
            </a:r>
          </a:p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400" b="1">
                <a:solidFill>
                  <a:srgbClr val="FF0000"/>
                </a:solidFill>
                <a:latin typeface="Calibri"/>
              </a:rPr>
              <a:t>MAY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532120" y="612648"/>
            <a:ext cx="6099048" cy="740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400" b="1">
                <a:solidFill>
                  <a:srgbClr val="FF0000"/>
                </a:solidFill>
                <a:latin typeface="Calibri"/>
              </a:rPr>
              <a:t>REFERRAL TYPE</a:t>
            </a:r>
          </a:p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400" b="1">
                <a:solidFill>
                  <a:srgbClr val="FF0000"/>
                </a:solidFill>
                <a:latin typeface="Calibri"/>
              </a:rPr>
              <a:t>JUNE 2026</a:t>
            </a:r>
          </a:p>
        </p:txBody>
      </p:sp>
      <p:graphicFrame>
        <p:nvGraphicFramePr>
          <p:cNvPr id="5" name="Chart 4"/>
          <p:cNvGraphicFramePr>
            <a:graphicFrameLocks noGrp="1"/>
          </p:cNvGraphicFramePr>
          <p:nvPr/>
        </p:nvGraphicFramePr>
        <p:xfrm>
          <a:off x="45720" y="1371600"/>
          <a:ext cx="6217920" cy="544068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graphicFrame>
        <p:nvGraphicFramePr>
          <p:cNvPr id="6" name="Chart 5"/>
          <p:cNvGraphicFramePr>
            <a:graphicFrameLocks noGrp="1"/>
          </p:cNvGraphicFramePr>
          <p:nvPr/>
        </p:nvGraphicFramePr>
        <p:xfrm>
          <a:off x="5870448" y="1371600"/>
          <a:ext cx="6263640" cy="5440680"/>
        </p:xfrm>
        <a:graphic>
          <a:graphicData uri="http://schemas.openxmlformats.org/drawingml/2006/chart">
            <c:chart xmlns:c="http://schemas.openxmlformats.org/drawingml/2006/chart" r:id="rId4"/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04806" y="0"/>
            <a:ext cx="3182388" cy="640135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18872" y="612648"/>
            <a:ext cx="6099048" cy="740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400" b="1">
                <a:solidFill>
                  <a:srgbClr val="FF0000"/>
                </a:solidFill>
                <a:latin typeface="Calibri"/>
              </a:rPr>
              <a:t>RANGE OF CONCERN ADDRESSED</a:t>
            </a:r>
          </a:p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400" b="1">
                <a:solidFill>
                  <a:srgbClr val="FF0000"/>
                </a:solidFill>
                <a:latin typeface="Calibri"/>
              </a:rPr>
              <a:t>MAY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532120" y="612648"/>
            <a:ext cx="6099048" cy="740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400" b="1">
                <a:solidFill>
                  <a:srgbClr val="FF0000"/>
                </a:solidFill>
                <a:latin typeface="Calibri"/>
              </a:rPr>
              <a:t>RANGE OF CONCERN ADDRESSED</a:t>
            </a:r>
          </a:p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400" b="1">
                <a:solidFill>
                  <a:srgbClr val="FF0000"/>
                </a:solidFill>
                <a:latin typeface="Calibri"/>
              </a:rPr>
              <a:t>JUNE 2026</a:t>
            </a:r>
          </a:p>
        </p:txBody>
      </p:sp>
      <p:graphicFrame>
        <p:nvGraphicFramePr>
          <p:cNvPr id="5" name="Chart 4"/>
          <p:cNvGraphicFramePr>
            <a:graphicFrameLocks noGrp="1"/>
          </p:cNvGraphicFramePr>
          <p:nvPr/>
        </p:nvGraphicFramePr>
        <p:xfrm>
          <a:off x="45720" y="1371600"/>
          <a:ext cx="6217920" cy="544068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graphicFrame>
        <p:nvGraphicFramePr>
          <p:cNvPr id="6" name="Chart 5"/>
          <p:cNvGraphicFramePr>
            <a:graphicFrameLocks noGrp="1"/>
          </p:cNvGraphicFramePr>
          <p:nvPr/>
        </p:nvGraphicFramePr>
        <p:xfrm>
          <a:off x="5870448" y="1371600"/>
          <a:ext cx="6263640" cy="5440680"/>
        </p:xfrm>
        <a:graphic>
          <a:graphicData uri="http://schemas.openxmlformats.org/drawingml/2006/chart">
            <c:chart xmlns:c="http://schemas.openxmlformats.org/drawingml/2006/chart" r:id="rId4"/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04806" y="0"/>
            <a:ext cx="3182388" cy="640135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18872" y="612648"/>
            <a:ext cx="6099048" cy="740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400" b="1">
                <a:solidFill>
                  <a:srgbClr val="FF0000"/>
                </a:solidFill>
                <a:latin typeface="Calibri"/>
              </a:rPr>
              <a:t>STAKEHOLDER</a:t>
            </a:r>
          </a:p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400" b="1">
                <a:solidFill>
                  <a:srgbClr val="FF0000"/>
                </a:solidFill>
                <a:latin typeface="Calibri"/>
              </a:rPr>
              <a:t>MAY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532120" y="612648"/>
            <a:ext cx="6099048" cy="740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400" b="1">
                <a:solidFill>
                  <a:srgbClr val="FF0000"/>
                </a:solidFill>
                <a:latin typeface="Calibri"/>
              </a:rPr>
              <a:t>STAKEHOLDER</a:t>
            </a:r>
          </a:p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400" b="1">
                <a:solidFill>
                  <a:srgbClr val="FF0000"/>
                </a:solidFill>
                <a:latin typeface="Calibri"/>
              </a:rPr>
              <a:t>JUNE 2026</a:t>
            </a:r>
          </a:p>
        </p:txBody>
      </p:sp>
      <p:graphicFrame>
        <p:nvGraphicFramePr>
          <p:cNvPr id="5" name="Chart 4"/>
          <p:cNvGraphicFramePr>
            <a:graphicFrameLocks noGrp="1"/>
          </p:cNvGraphicFramePr>
          <p:nvPr/>
        </p:nvGraphicFramePr>
        <p:xfrm>
          <a:off x="45720" y="1371600"/>
          <a:ext cx="6217920" cy="544068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graphicFrame>
        <p:nvGraphicFramePr>
          <p:cNvPr id="6" name="Chart 5"/>
          <p:cNvGraphicFramePr>
            <a:graphicFrameLocks noGrp="1"/>
          </p:cNvGraphicFramePr>
          <p:nvPr/>
        </p:nvGraphicFramePr>
        <p:xfrm>
          <a:off x="5870448" y="1371600"/>
          <a:ext cx="6263640" cy="5440680"/>
        </p:xfrm>
        <a:graphic>
          <a:graphicData uri="http://schemas.openxmlformats.org/drawingml/2006/chart">
            <c:chart xmlns:c="http://schemas.openxmlformats.org/drawingml/2006/chart" r:id="rId4"/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04806" y="0"/>
            <a:ext cx="3182388" cy="640135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822960" y="466344"/>
            <a:ext cx="105156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FF0000"/>
                </a:solidFill>
                <a:latin typeface="Calibri"/>
              </a:rPr>
              <a:t>New Cases vs Follow-up by Vertical — MAY 2026 vs JUNE 2026</a:t>
            </a:r>
          </a:p>
        </p:txBody>
      </p:sp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45720" y="914400"/>
          <a:ext cx="5943600" cy="548640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graphicFrame>
        <p:nvGraphicFramePr>
          <p:cNvPr id="5" name="Chart 4"/>
          <p:cNvGraphicFramePr>
            <a:graphicFrameLocks noGrp="1"/>
          </p:cNvGraphicFramePr>
          <p:nvPr/>
        </p:nvGraphicFramePr>
        <p:xfrm>
          <a:off x="6172200" y="914400"/>
          <a:ext cx="5943600" cy="5486400"/>
        </p:xfrm>
        <a:graphic>
          <a:graphicData uri="http://schemas.openxmlformats.org/drawingml/2006/chart">
            <c:chart xmlns:c="http://schemas.openxmlformats.org/drawingml/2006/chart" r:id="rId4"/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04806" y="0"/>
            <a:ext cx="3182388" cy="640135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47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FF0000"/>
                </a:solidFill>
                <a:latin typeface="Calibri"/>
              </a:rPr>
              <a:t>KEY INSIGHTS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10698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000000"/>
                </a:solidFill>
                <a:latin typeface="Calibri"/>
              </a:rPr>
              <a:t>1. Overall cases fell 27.3% (513 to 373), driven by fewer follow-ups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737360"/>
            <a:ext cx="10698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000000"/>
                </a:solidFill>
                <a:latin typeface="Calibri"/>
              </a:rPr>
              <a:t>2. Your Dost remained highest-volume vertical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194560"/>
            <a:ext cx="10698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000000"/>
                </a:solidFill>
                <a:latin typeface="Calibri"/>
              </a:rPr>
              <a:t>3. Anxiety/Depression cases dropped sharply (180 to 67)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651760"/>
            <a:ext cx="10698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000000"/>
                </a:solidFill>
                <a:latin typeface="Calibri"/>
              </a:rPr>
              <a:t>4. Interpersonal concerns rose (107 to 127)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28016" y="109728"/>
            <a:ext cx="11969496" cy="5760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FF0000"/>
                </a:solidFill>
                <a:latin typeface="Calibri"/>
              </a:rPr>
              <a:t>PROPOSED POINTS FROM WELLNESS CENTRE: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65176" y="886968"/>
            <a:ext cx="11686032" cy="56967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000000"/>
                </a:solidFill>
                <a:latin typeface="Calibri"/>
              </a:rPr>
              <a:t>1. Continue weekly data tracking across all verticals (WLC, YourDOST, Myndwell)
2. Monitor anxiety/depression trends - slight decrease observed this week
3. Increase outreach to PG and Ph.D. scholars for early intervention
4. Conduct follow-up sessions for cases with ongoing concerns
5. Coordinate with HoDs for faculty referral pipeline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