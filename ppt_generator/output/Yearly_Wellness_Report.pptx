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1368</c:v>
                </c:pt>
                <c:pt idx="1">
                  <c:v>1944</c:v>
                </c:pt>
                <c:pt idx="2">
                  <c:v>2844</c:v>
                </c:pt>
                <c:pt idx="3">
                  <c:v>972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2928</c:v>
                </c:pt>
                <c:pt idx="1">
                  <c:v>1176</c:v>
                </c:pt>
                <c:pt idx="2">
                  <c:v>1092</c:v>
                </c:pt>
                <c:pt idx="3">
                  <c:v>264</c:v>
                </c:pt>
                <c:pt idx="4">
                  <c:v>384</c:v>
                </c:pt>
                <c:pt idx="5">
                  <c:v>180</c:v>
                </c:pt>
                <c:pt idx="6">
                  <c:v>132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dPt>
            <c:idx val="8"/>
            <c:spPr>
              <a:solidFill>
                <a:srgbClr val="7F7F7F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2160</c:v>
                </c:pt>
                <c:pt idx="1">
                  <c:v>540</c:v>
                </c:pt>
                <c:pt idx="2">
                  <c:v>780</c:v>
                </c:pt>
                <c:pt idx="3">
                  <c:v>1284</c:v>
                </c:pt>
                <c:pt idx="4">
                  <c:v>504</c:v>
                </c:pt>
                <c:pt idx="5">
                  <c:v>336</c:v>
                </c:pt>
                <c:pt idx="6">
                  <c:v>180</c:v>
                </c:pt>
                <c:pt idx="7">
                  <c:v>216</c:v>
                </c:pt>
                <c:pt idx="8">
                  <c:v>180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696</c:v>
                </c:pt>
                <c:pt idx="1">
                  <c:v>780</c:v>
                </c:pt>
                <c:pt idx="2">
                  <c:v>2244</c:v>
                </c:pt>
                <c:pt idx="3">
                  <c:v>756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1452</c:v>
                </c:pt>
                <c:pt idx="1">
                  <c:v>1224</c:v>
                </c:pt>
                <c:pt idx="2">
                  <c:v>1308</c:v>
                </c:pt>
                <c:pt idx="3">
                  <c:v>180</c:v>
                </c:pt>
                <c:pt idx="4">
                  <c:v>216</c:v>
                </c:pt>
                <c:pt idx="5">
                  <c:v>60</c:v>
                </c:pt>
                <c:pt idx="6">
                  <c:v>36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264478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dPt>
            <c:idx val="8"/>
            <c:spPr>
              <a:solidFill>
                <a:srgbClr val="7F7F7F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804</c:v>
                </c:pt>
                <c:pt idx="1">
                  <c:v>420</c:v>
                </c:pt>
                <c:pt idx="2">
                  <c:v>660</c:v>
                </c:pt>
                <c:pt idx="3">
                  <c:v>1524</c:v>
                </c:pt>
                <c:pt idx="4">
                  <c:v>456</c:v>
                </c:pt>
                <c:pt idx="5">
                  <c:v>264</c:v>
                </c:pt>
                <c:pt idx="6">
                  <c:v>120</c:v>
                </c:pt>
                <c:pt idx="7">
                  <c:v>144</c:v>
                </c:pt>
                <c:pt idx="8">
                  <c:v>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 2024-25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1368</c:v>
                </c:pt>
                <c:pt idx="1">
                  <c:v>1944</c:v>
                </c:pt>
                <c:pt idx="2">
                  <c:v>2844</c:v>
                </c:pt>
                <c:pt idx="3">
                  <c:v>972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2025-26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WLN Ctr</c:v>
                </c:pt>
                <c:pt idx="1">
                  <c:v>Team A</c:v>
                </c:pt>
                <c:pt idx="2">
                  <c:v>Your Dost</c:v>
                </c:pt>
                <c:pt idx="3">
                  <c:v>Myndwell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696</c:v>
                </c:pt>
                <c:pt idx="1">
                  <c:v>780</c:v>
                </c:pt>
                <c:pt idx="2">
                  <c:v>2244</c:v>
                </c:pt>
                <c:pt idx="3">
                  <c:v>756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 2024-25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2928</c:v>
                </c:pt>
                <c:pt idx="1">
                  <c:v>1176</c:v>
                </c:pt>
                <c:pt idx="2">
                  <c:v>1092</c:v>
                </c:pt>
                <c:pt idx="3">
                  <c:v>264</c:v>
                </c:pt>
                <c:pt idx="4">
                  <c:v>384</c:v>
                </c:pt>
                <c:pt idx="5">
                  <c:v>180</c:v>
                </c:pt>
                <c:pt idx="6">
                  <c:v>132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2025-26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1452</c:v>
                </c:pt>
                <c:pt idx="1">
                  <c:v>1224</c:v>
                </c:pt>
                <c:pt idx="2">
                  <c:v>1308</c:v>
                </c:pt>
                <c:pt idx="3">
                  <c:v>180</c:v>
                </c:pt>
                <c:pt idx="4">
                  <c:v>216</c:v>
                </c:pt>
                <c:pt idx="5">
                  <c:v>60</c:v>
                </c:pt>
                <c:pt idx="6">
                  <c:v>36</c:v>
                </c:pt>
                <c:pt idx="7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 2024-25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2160</c:v>
                </c:pt>
                <c:pt idx="1">
                  <c:v>540</c:v>
                </c:pt>
                <c:pt idx="2">
                  <c:v>780</c:v>
                </c:pt>
                <c:pt idx="3">
                  <c:v>1284</c:v>
                </c:pt>
                <c:pt idx="4">
                  <c:v>504</c:v>
                </c:pt>
                <c:pt idx="5">
                  <c:v>336</c:v>
                </c:pt>
                <c:pt idx="6">
                  <c:v>180</c:v>
                </c:pt>
                <c:pt idx="7">
                  <c:v>216</c:v>
                </c:pt>
                <c:pt idx="8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2025-26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804</c:v>
                </c:pt>
                <c:pt idx="1">
                  <c:v>420</c:v>
                </c:pt>
                <c:pt idx="2">
                  <c:v>660</c:v>
                </c:pt>
                <c:pt idx="3">
                  <c:v>1524</c:v>
                </c:pt>
                <c:pt idx="4">
                  <c:v>456</c:v>
                </c:pt>
                <c:pt idx="5">
                  <c:v>264</c:v>
                </c:pt>
                <c:pt idx="6">
                  <c:v>120</c:v>
                </c:pt>
                <c:pt idx="7">
                  <c:v>144</c:v>
                </c:pt>
                <c:pt idx="8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5064" y="2706624"/>
            <a:ext cx="872337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Yearly Wellness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474720"/>
            <a:ext cx="8723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Comparative Analysis: FY 2024-25 vs. FY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27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VERTICALS  |  FY 2024-25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WC  /  Team A  /  YD  /  MW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731520"/>
          <a:ext cx="6400800" cy="5943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46304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1368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Team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2844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27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STAKEHOLDER  |  FY 2024-25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731520"/>
          <a:ext cx="11612880" cy="5943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27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RANGE OF CONCERN  |  FY 2024-25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731520"/>
          <a:ext cx="11612880" cy="5943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27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VERTICALS  |  FY 2025-26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WC  /  Team A  /  YD  /  MW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731520"/>
          <a:ext cx="6400800" cy="5943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46304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Team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2244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27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STAKEHOLDER  |  FY 2025-26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731520"/>
          <a:ext cx="11612880" cy="5943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27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RANGE OF CONCERN  |  FY 2025-26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731520"/>
          <a:ext cx="11612880" cy="5943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Calibri"/>
              </a:rPr>
              <a:t>DIFFERENCE IN VERTICALS  |  FY 2024-25 vs FY 2025-26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731520"/>
          <a:ext cx="12188952" cy="6080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Calibri"/>
              </a:rPr>
              <a:t>DIFFERENCE IN STAKEHOLDERS  |  FY 2024-25 vs FY 2025-26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731520"/>
          <a:ext cx="12188952" cy="6080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Calibri"/>
              </a:rPr>
              <a:t>DIFFERENCE IN RANGE OF CONCERN  |  FY 2024-25 vs FY 2025-26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731520"/>
          <a:ext cx="12188952" cy="6080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27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0000"/>
                </a:solidFill>
                <a:latin typeface="Calibri"/>
              </a:rPr>
              <a:t>YEARLY COMPARISON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2024-25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2025-26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Change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-27.3%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New Cases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+6.2%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Follow-up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-32.1%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11480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2024-25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2025-26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-672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Team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-1164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-600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-216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06" y="0"/>
            <a:ext cx="3182388" cy="64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Calibri"/>
              </a:rPr>
              <a:t>YEARLY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1. Grand total cases changed from 6156 to 4476 (-1680 (-27.3%)).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2. New cases: 780 to 828 (+48).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3. Follow-up cases: 5376 to 3648 (-1728).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4. Largest vertical increase: Myndwell (972 to 756).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5. Largest vertical decrease: Team A (1944 to 780).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377440"/>
            <a:ext cx="1196949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0000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" y="3063240"/>
            <a:ext cx="11969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Calibri"/>
              </a:rPr>
              <a:t>Wellness Annual Report -- Comparative Analysis: FY 2024-25 vs FY 2025-26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