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15</c:v>
                </c:pt>
                <c:pt idx="2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8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Follow-up</c:v>
                </c:pt>
              </c:strCache>
            </c:strRef>
          </c:tx>
          <c:spPr>
            <a:solidFill>
              <a:srgbClr val="548235"/>
            </a:solidFill>
          </c:spPr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</c:v>
                </c:pt>
                <c:pt idx="1">
                  <c:v>7</c:v>
                </c:pt>
                <c:pt idx="2">
                  <c:v>0</c:v>
                </c:pt>
              </c:numCache>
            </c:numRef>
          </c:val>
        </c:ser>
        <c:dLbls>
          <c:numFmt formatCode="0&quot; (&quot;0%&quot;)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5B9BD5"/>
              </a:solidFill>
            </c:spPr>
          </c:dPt>
          <c:dPt>
            <c:idx val="6"/>
            <c:spPr>
              <a:solidFill>
                <a:srgbClr val="374151"/>
              </a:solidFill>
            </c:spPr>
          </c:dPt>
          <c:dPt>
            <c:idx val="7"/>
            <c:spPr>
              <a:solidFill>
                <a:srgbClr val="7C3AED"/>
              </a:solidFill>
            </c:spPr>
          </c:dPt>
          <c:dPt>
            <c:idx val="8"/>
            <c:spPr>
              <a:solidFill>
                <a:srgbClr val="06B6D4"/>
              </a:solidFill>
            </c:spPr>
          </c:dPt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27</c:v>
                </c:pt>
                <c:pt idx="1">
                  <c:v>52</c:v>
                </c:pt>
                <c:pt idx="2">
                  <c:v>15</c:v>
                </c:pt>
                <c:pt idx="3">
                  <c:v>18</c:v>
                </c:pt>
                <c:pt idx="4">
                  <c:v>8</c:v>
                </c:pt>
                <c:pt idx="5">
                  <c:v>5</c:v>
                </c:pt>
                <c:pt idx="6">
                  <c:v>3</c:v>
                </c:pt>
                <c:pt idx="7">
                  <c:v>4</c:v>
                </c:pt>
                <c:pt idx="8">
                  <c:v>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5B9BD5"/>
              </a:solidFill>
            </c:spPr>
          </c:dPt>
          <c:dPt>
            <c:idx val="6"/>
            <c:spPr>
              <a:solidFill>
                <a:srgbClr val="374151"/>
              </a:solidFill>
            </c:spPr>
          </c:dPt>
          <c:dPt>
            <c:idx val="7"/>
            <c:spPr>
              <a:solidFill>
                <a:srgbClr val="7C3AED"/>
              </a:solidFill>
            </c:spPr>
          </c:dPt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</c:v>
                </c:pt>
                <c:pt idx="1">
                  <c:v>20</c:v>
                </c:pt>
                <c:pt idx="2">
                  <c:v>24</c:v>
                </c:pt>
                <c:pt idx="3">
                  <c:v>7</c:v>
                </c:pt>
                <c:pt idx="4">
                  <c:v>9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Others/
Not to say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37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Others/
Not to say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</c:v>
                </c:pt>
                <c:pt idx="1">
                  <c:v>6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Others/
Not to say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Sheet1!$A$2:$A$10</c:f>
              <c:strCache>
                <c:ptCount val="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</c:v>
                </c:pt>
                <c:pt idx="1">
                  <c:v>45</c:v>
                </c:pt>
                <c:pt idx="2">
                  <c:v>13</c:v>
                </c:pt>
                <c:pt idx="3">
                  <c:v>15</c:v>
                </c:pt>
                <c:pt idx="4">
                  <c:v>7</c:v>
                </c:pt>
                <c:pt idx="5">
                  <c:v>4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Sheet1!$A$2:$A$10</c:f>
              <c:strCache>
                <c:ptCount val="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</c:v>
                </c:pt>
                <c:pt idx="1">
                  <c:v>7</c:v>
                </c:pt>
                <c:pt idx="2">
                  <c:v>2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Sheet1!$A$2:$A$10</c:f>
              <c:strCache>
                <c:ptCount val="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29</c:v>
                </c:pt>
                <c:pt idx="1">
                  <c:v>17</c:v>
                </c:pt>
                <c:pt idx="2">
                  <c:v>21</c:v>
                </c:pt>
                <c:pt idx="3">
                  <c:v>6</c:v>
                </c:pt>
                <c:pt idx="4">
                  <c:v>8</c:v>
                </c:pt>
                <c:pt idx="5">
                  <c:v>2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2860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F5597"/>
                </a:solidFill>
                <a:latin typeface="Calibri"/>
              </a:rPr>
              <a:t>Weekly Wellness Data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74151"/>
                </a:solidFill>
                <a:latin typeface="Calibri"/>
              </a:rPr>
              <a:t>15th to 21st July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IIT Madras Wellness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3756" y="731520"/>
            <a:ext cx="3688080" cy="7772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3756" y="804672"/>
            <a:ext cx="3688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" y="1188720"/>
            <a:ext cx="3688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Total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0436" y="731520"/>
            <a:ext cx="3688080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0436" y="804672"/>
            <a:ext cx="3688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0436" y="1188720"/>
            <a:ext cx="3688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New 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7116" y="731520"/>
            <a:ext cx="3688080" cy="7772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7116" y="804672"/>
            <a:ext cx="3688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7116" y="1188720"/>
            <a:ext cx="3688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Follow-up Cases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28600" y="1691640"/>
          <a:ext cx="5029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Vertical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Cases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WLN Ctr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Your Dost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Myndwell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943600" y="1554480"/>
          <a:ext cx="59436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NEW vs FOLLOW-UP BY VERTICAL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23444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Vertical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 Cases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Follow-up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 %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F/up %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WLN Ctr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Your Dost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Myndwell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097280"/>
          <a:ext cx="566928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DEMOGRAPHICS &amp; MODE OF SESSION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234440"/>
          <a:ext cx="3657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Gender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Female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Others / Not to Say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0" y="1234440"/>
          <a:ext cx="3657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Online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In-Person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001000" y="1234440"/>
          <a:ext cx="3931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/>
                <a:gridCol w="1310640"/>
                <a:gridCol w="13106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Referral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Director / Kushal Calls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Dean / HoD / Faculty / Insti Hosp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Friend / Family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Mitr / Saathi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RANGE OF CONCERN ADDRESSED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23444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Concern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Anxiety/Depresn/Panic/OCD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Acute Stress/Trauma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Career/Acad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Inter-personal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Self-Devlp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Clinical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Addiction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Medical/Health Issues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Suicidal Ideation/Self-harm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234440"/>
          <a:ext cx="566928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STAKEHOLDER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23444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Stakeholder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Ph.D.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Dual Degree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IIT Faculty/Staff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Employee Family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Post Doc/Proj Asso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Not Able to Identify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234440"/>
          <a:ext cx="566928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1528" y="512064"/>
            <a:ext cx="6035040" cy="475488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GENDER DISTRIBUTION OF CASES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1188720"/>
          <a:ext cx="12188952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1528" y="512064"/>
            <a:ext cx="6035040" cy="475488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RANGE OF CONCERN ADDRESSED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1188720"/>
          <a:ext cx="12188952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1528" y="512064"/>
            <a:ext cx="6035040" cy="475488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STAKE HOLDER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1188720"/>
          <a:ext cx="12188952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AI DATA INSIGHTS  |  15th to 21st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87.6% of all cases (85 out of 97) were follow-up appointments, indicating a high proportion of ongoing support rather than initial outreach.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92.8% of all cases (90 out of 97) were handled by the Wellness and Lifestyle Counselling (WLC) vertical, suggesting it is the primary service provider.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Acute Stress/Trauma was the most prevalent concern, accounting for 53.6% of all reported concerns (52 out of 97), highlighting a significant area of distress.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Undergraduate students represent the largest stakeholder group, comprising 35.1% of all cases (34 out of 97), indicating a primary demographic for wellness services.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918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53.6% of cases (52 out of 97) involved male individuals, while 44.3% involved female individuals, showing a slightly higher engagement from male students.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9476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In-person consultations were the most common mode, accounting for 59.8% of all cases (58 out of 97), suggesting a preference for direct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78 cases (80.4%) were self-referred, indicating strong self-awareness and initiative among individuals seeking support.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006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8.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006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The "MW" (Medical Wellness) vertical reported 0 cases, suggesting either no demand or a lack of awareness/provision for medical wellness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