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3312</c:v>
                </c:pt>
                <c:pt idx="1">
                  <c:v>2844</c:v>
                </c:pt>
                <c:pt idx="2">
                  <c:v>972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1476</c:v>
                </c:pt>
                <c:pt idx="1">
                  <c:v>2244</c:v>
                </c:pt>
                <c:pt idx="2">
                  <c:v>756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2928</c:v>
                </c:pt>
                <c:pt idx="1">
                  <c:v>1176</c:v>
                </c:pt>
                <c:pt idx="2">
                  <c:v>1092</c:v>
                </c:pt>
                <c:pt idx="3">
                  <c:v>264</c:v>
                </c:pt>
                <c:pt idx="4">
                  <c:v>384</c:v>
                </c:pt>
                <c:pt idx="5">
                  <c:v>180</c:v>
                </c:pt>
                <c:pt idx="6">
                  <c:v>132</c:v>
                </c:pt>
                <c:pt idx="7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1452</c:v>
                </c:pt>
                <c:pt idx="1">
                  <c:v>1224</c:v>
                </c:pt>
                <c:pt idx="2">
                  <c:v>1308</c:v>
                </c:pt>
                <c:pt idx="3">
                  <c:v>180</c:v>
                </c:pt>
                <c:pt idx="4">
                  <c:v>216</c:v>
                </c:pt>
                <c:pt idx="5">
                  <c:v>60</c:v>
                </c:pt>
                <c:pt idx="6">
                  <c:v>36</c:v>
                </c:pt>
                <c:pt idx="7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dPt>
            <c:idx val="8"/>
            <c:spPr>
              <a:solidFill>
                <a:srgbClr val="06B6D4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2160</c:v>
                </c:pt>
                <c:pt idx="1">
                  <c:v>540</c:v>
                </c:pt>
                <c:pt idx="2">
                  <c:v>780</c:v>
                </c:pt>
                <c:pt idx="3">
                  <c:v>1284</c:v>
                </c:pt>
                <c:pt idx="4">
                  <c:v>504</c:v>
                </c:pt>
                <c:pt idx="5">
                  <c:v>336</c:v>
                </c:pt>
                <c:pt idx="6">
                  <c:v>180</c:v>
                </c:pt>
                <c:pt idx="7">
                  <c:v>216</c:v>
                </c:pt>
                <c:pt idx="8">
                  <c:v>180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dPt>
            <c:idx val="8"/>
            <c:spPr>
              <a:solidFill>
                <a:srgbClr val="06B6D4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804</c:v>
                </c:pt>
                <c:pt idx="1">
                  <c:v>420</c:v>
                </c:pt>
                <c:pt idx="2">
                  <c:v>660</c:v>
                </c:pt>
                <c:pt idx="3">
                  <c:v>1524</c:v>
                </c:pt>
                <c:pt idx="4">
                  <c:v>456</c:v>
                </c:pt>
                <c:pt idx="5">
                  <c:v>264</c:v>
                </c:pt>
                <c:pt idx="6">
                  <c:v>120</c:v>
                </c:pt>
                <c:pt idx="7">
                  <c:v>144</c:v>
                </c:pt>
                <c:pt idx="8">
                  <c:v>12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 2024-25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3312</c:v>
                </c:pt>
                <c:pt idx="1">
                  <c:v>2844</c:v>
                </c:pt>
                <c:pt idx="2">
                  <c:v>972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2025-26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1476</c:v>
                </c:pt>
                <c:pt idx="1">
                  <c:v>2244</c:v>
                </c:pt>
                <c:pt idx="2">
                  <c:v>756</c:v>
                </c:pt>
              </c:numCache>
            </c:numRef>
          </c:val>
        </c:ser>
        <c:dLbls>
          <c:numFmt formatCode="0&quot; (&quot;0%&quot;)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 2024-25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2928</c:v>
                </c:pt>
                <c:pt idx="1">
                  <c:v>1176</c:v>
                </c:pt>
                <c:pt idx="2">
                  <c:v>1092</c:v>
                </c:pt>
                <c:pt idx="3">
                  <c:v>264</c:v>
                </c:pt>
                <c:pt idx="4">
                  <c:v>384</c:v>
                </c:pt>
                <c:pt idx="5">
                  <c:v>180</c:v>
                </c:pt>
                <c:pt idx="6">
                  <c:v>132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2025-26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1452</c:v>
                </c:pt>
                <c:pt idx="1">
                  <c:v>1224</c:v>
                </c:pt>
                <c:pt idx="2">
                  <c:v>1308</c:v>
                </c:pt>
                <c:pt idx="3">
                  <c:v>180</c:v>
                </c:pt>
                <c:pt idx="4">
                  <c:v>216</c:v>
                </c:pt>
                <c:pt idx="5">
                  <c:v>60</c:v>
                </c:pt>
                <c:pt idx="6">
                  <c:v>36</c:v>
                </c:pt>
                <c:pt idx="7">
                  <c:v>0</c:v>
                </c:pt>
              </c:numCache>
            </c:numRef>
          </c:val>
        </c:ser>
        <c:dLbls>
          <c:numFmt formatCode="0&quot; (&quot;0%&quot;)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 2024-25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2160</c:v>
                </c:pt>
                <c:pt idx="1">
                  <c:v>540</c:v>
                </c:pt>
                <c:pt idx="2">
                  <c:v>780</c:v>
                </c:pt>
                <c:pt idx="3">
                  <c:v>1284</c:v>
                </c:pt>
                <c:pt idx="4">
                  <c:v>504</c:v>
                </c:pt>
                <c:pt idx="5">
                  <c:v>336</c:v>
                </c:pt>
                <c:pt idx="6">
                  <c:v>180</c:v>
                </c:pt>
                <c:pt idx="7">
                  <c:v>216</c:v>
                </c:pt>
                <c:pt idx="8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2025-26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804</c:v>
                </c:pt>
                <c:pt idx="1">
                  <c:v>420</c:v>
                </c:pt>
                <c:pt idx="2">
                  <c:v>660</c:v>
                </c:pt>
                <c:pt idx="3">
                  <c:v>1524</c:v>
                </c:pt>
                <c:pt idx="4">
                  <c:v>456</c:v>
                </c:pt>
                <c:pt idx="5">
                  <c:v>264</c:v>
                </c:pt>
                <c:pt idx="6">
                  <c:v>120</c:v>
                </c:pt>
                <c:pt idx="7">
                  <c:v>144</c:v>
                </c:pt>
                <c:pt idx="8">
                  <c:v>12</c:v>
                </c:pt>
              </c:numCache>
            </c:numRef>
          </c:val>
        </c:ser>
        <c:dLbls>
          <c:numFmt formatCode="0&quot; (&quot;0%&quot;)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Sheet1!$A$2:$A$7</c:f>
              <c:strCache>
                <c:ptCount val="6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  <c:pt idx="3">
                  <c:v>Male</c:v>
                </c:pt>
                <c:pt idx="4">
                  <c:v>Female</c:v>
                </c:pt>
                <c:pt idx="5">
                  <c:v>Others/
Not to say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1662</c:v>
                </c:pt>
                <c:pt idx="1">
                  <c:v>1126</c:v>
                </c:pt>
                <c:pt idx="2">
                  <c:v>72</c:v>
                </c:pt>
                <c:pt idx="3">
                  <c:v>772</c:v>
                </c:pt>
                <c:pt idx="4">
                  <c:v>629</c:v>
                </c:pt>
                <c:pt idx="5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Sheet1!$A$2:$A$7</c:f>
              <c:strCache>
                <c:ptCount val="6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  <c:pt idx="3">
                  <c:v>Male</c:v>
                </c:pt>
                <c:pt idx="4">
                  <c:v>Female</c:v>
                </c:pt>
                <c:pt idx="5">
                  <c:v>Others/
Not to say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1427</c:v>
                </c:pt>
                <c:pt idx="1">
                  <c:v>967</c:v>
                </c:pt>
                <c:pt idx="2">
                  <c:v>62</c:v>
                </c:pt>
                <c:pt idx="3">
                  <c:v>1173</c:v>
                </c:pt>
                <c:pt idx="4">
                  <c:v>957</c:v>
                </c:pt>
                <c:pt idx="5">
                  <c:v>114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Sheet1!$A$2:$A$7</c:f>
              <c:strCache>
                <c:ptCount val="6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  <c:pt idx="3">
                  <c:v>Male</c:v>
                </c:pt>
                <c:pt idx="4">
                  <c:v>Female</c:v>
                </c:pt>
                <c:pt idx="5">
                  <c:v>Others/
Not to say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488</c:v>
                </c:pt>
                <c:pt idx="1">
                  <c:v>331</c:v>
                </c:pt>
                <c:pt idx="2">
                  <c:v>21</c:v>
                </c:pt>
                <c:pt idx="3">
                  <c:v>395</c:v>
                </c:pt>
                <c:pt idx="4">
                  <c:v>322</c:v>
                </c:pt>
                <c:pt idx="5">
                  <c:v>39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Sheet1!$A$2:$A$20</c:f>
              <c:strCache>
                <c:ptCount val="1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  <c:pt idx="9">
                  <c:v/>
                </c:pt>
                <c:pt idx="10">
                  <c:v>Anxiety/
Depresn/
Panic / OCD</c:v>
                </c:pt>
                <c:pt idx="11">
                  <c:v>Acute
 Stress / Trauma</c:v>
                </c:pt>
                <c:pt idx="12">
                  <c:v>Career /
 Acad,</c:v>
                </c:pt>
                <c:pt idx="13">
                  <c:v>Inter-
personal</c:v>
                </c:pt>
                <c:pt idx="14">
                  <c:v>Self-
Devlp</c:v>
                </c:pt>
                <c:pt idx="15">
                  <c:v>Clinical</c:v>
                </c:pt>
                <c:pt idx="16">
                  <c:v>Addiction</c:v>
                </c:pt>
                <c:pt idx="17">
                  <c:v>Medical /
 Health issues</c:v>
                </c:pt>
                <c:pt idx="18">
                  <c:v>Suicidal Ideation
 / Self-harm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1004</c:v>
                </c:pt>
                <c:pt idx="1">
                  <c:v>251</c:v>
                </c:pt>
                <c:pt idx="2">
                  <c:v>362</c:v>
                </c:pt>
                <c:pt idx="3">
                  <c:v>597</c:v>
                </c:pt>
                <c:pt idx="4">
                  <c:v>234</c:v>
                </c:pt>
                <c:pt idx="5">
                  <c:v>156</c:v>
                </c:pt>
                <c:pt idx="6">
                  <c:v>84</c:v>
                </c:pt>
                <c:pt idx="7">
                  <c:v>100</c:v>
                </c:pt>
                <c:pt idx="8">
                  <c:v>84</c:v>
                </c:pt>
                <c:pt idx="9">
                  <c:v>0</c:v>
                </c:pt>
                <c:pt idx="10">
                  <c:v>265</c:v>
                </c:pt>
                <c:pt idx="11">
                  <c:v>138</c:v>
                </c:pt>
                <c:pt idx="12">
                  <c:v>218</c:v>
                </c:pt>
                <c:pt idx="13">
                  <c:v>503</c:v>
                </c:pt>
                <c:pt idx="14">
                  <c:v>150</c:v>
                </c:pt>
                <c:pt idx="15">
                  <c:v>87</c:v>
                </c:pt>
                <c:pt idx="16">
                  <c:v>40</c:v>
                </c:pt>
                <c:pt idx="17">
                  <c:v>47</c:v>
                </c:pt>
                <c:pt idx="18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Sheet1!$A$2:$A$20</c:f>
              <c:strCache>
                <c:ptCount val="1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  <c:pt idx="9">
                  <c:v/>
                </c:pt>
                <c:pt idx="10">
                  <c:v>Anxiety/
Depresn/
Panic / OCD</c:v>
                </c:pt>
                <c:pt idx="11">
                  <c:v>Acute
 Stress / Trauma</c:v>
                </c:pt>
                <c:pt idx="12">
                  <c:v>Career /
 Acad,</c:v>
                </c:pt>
                <c:pt idx="13">
                  <c:v>Inter-
personal</c:v>
                </c:pt>
                <c:pt idx="14">
                  <c:v>Self-
Devlp</c:v>
                </c:pt>
                <c:pt idx="15">
                  <c:v>Clinical</c:v>
                </c:pt>
                <c:pt idx="16">
                  <c:v>Addiction</c:v>
                </c:pt>
                <c:pt idx="17">
                  <c:v>Medical /
 Health issues</c:v>
                </c:pt>
                <c:pt idx="18">
                  <c:v>Suicidal Ideation
 / Self-harm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862</c:v>
                </c:pt>
                <c:pt idx="1">
                  <c:v>215</c:v>
                </c:pt>
                <c:pt idx="2">
                  <c:v>311</c:v>
                </c:pt>
                <c:pt idx="3">
                  <c:v>512</c:v>
                </c:pt>
                <c:pt idx="4">
                  <c:v>201</c:v>
                </c:pt>
                <c:pt idx="5">
                  <c:v>134</c:v>
                </c:pt>
                <c:pt idx="6">
                  <c:v>72</c:v>
                </c:pt>
                <c:pt idx="7">
                  <c:v>86</c:v>
                </c:pt>
                <c:pt idx="8">
                  <c:v>72</c:v>
                </c:pt>
                <c:pt idx="9">
                  <c:v>0</c:v>
                </c:pt>
                <c:pt idx="10">
                  <c:v>403</c:v>
                </c:pt>
                <c:pt idx="11">
                  <c:v>211</c:v>
                </c:pt>
                <c:pt idx="12">
                  <c:v>331</c:v>
                </c:pt>
                <c:pt idx="13">
                  <c:v>764</c:v>
                </c:pt>
                <c:pt idx="14">
                  <c:v>229</c:v>
                </c:pt>
                <c:pt idx="15">
                  <c:v>132</c:v>
                </c:pt>
                <c:pt idx="16">
                  <c:v>60</c:v>
                </c:pt>
                <c:pt idx="17">
                  <c:v>72</c:v>
                </c:pt>
                <c:pt idx="18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Sheet1!$A$2:$A$20</c:f>
              <c:strCache>
                <c:ptCount val="1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  <c:pt idx="9">
                  <c:v/>
                </c:pt>
                <c:pt idx="10">
                  <c:v>Anxiety/
Depresn/
Panic / OCD</c:v>
                </c:pt>
                <c:pt idx="11">
                  <c:v>Acute
 Stress / Trauma</c:v>
                </c:pt>
                <c:pt idx="12">
                  <c:v>Career /
 Acad,</c:v>
                </c:pt>
                <c:pt idx="13">
                  <c:v>Inter-
personal</c:v>
                </c:pt>
                <c:pt idx="14">
                  <c:v>Self-
Devlp</c:v>
                </c:pt>
                <c:pt idx="15">
                  <c:v>Clinical</c:v>
                </c:pt>
                <c:pt idx="16">
                  <c:v>Addiction</c:v>
                </c:pt>
                <c:pt idx="17">
                  <c:v>Medical /
 Health issues</c:v>
                </c:pt>
                <c:pt idx="18">
                  <c:v>Suicidal Ideation
 / Self-harm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295</c:v>
                </c:pt>
                <c:pt idx="1">
                  <c:v>74</c:v>
                </c:pt>
                <c:pt idx="2">
                  <c:v>106</c:v>
                </c:pt>
                <c:pt idx="3">
                  <c:v>175</c:v>
                </c:pt>
                <c:pt idx="4">
                  <c:v>69</c:v>
                </c:pt>
                <c:pt idx="5">
                  <c:v>46</c:v>
                </c:pt>
                <c:pt idx="6">
                  <c:v>25</c:v>
                </c:pt>
                <c:pt idx="7">
                  <c:v>29</c:v>
                </c:pt>
                <c:pt idx="8">
                  <c:v>25</c:v>
                </c:pt>
                <c:pt idx="9">
                  <c:v>0</c:v>
                </c:pt>
                <c:pt idx="10">
                  <c:v>136</c:v>
                </c:pt>
                <c:pt idx="11">
                  <c:v>71</c:v>
                </c:pt>
                <c:pt idx="12">
                  <c:v>111</c:v>
                </c:pt>
                <c:pt idx="13">
                  <c:v>257</c:v>
                </c:pt>
                <c:pt idx="14">
                  <c:v>77</c:v>
                </c:pt>
                <c:pt idx="15">
                  <c:v>45</c:v>
                </c:pt>
                <c:pt idx="16">
                  <c:v>20</c:v>
                </c:pt>
                <c:pt idx="17">
                  <c:v>24</c:v>
                </c:pt>
                <c:pt idx="18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Sheet1!$A$2:$A$18</c:f>
              <c:strCache>
                <c:ptCount val="17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  <c:pt idx="8">
                  <c:v/>
                </c:pt>
                <c:pt idx="9">
                  <c:v>UG</c:v>
                </c:pt>
                <c:pt idx="10">
                  <c:v>PG</c:v>
                </c:pt>
                <c:pt idx="11">
                  <c:v>Ph.D</c:v>
                </c:pt>
                <c:pt idx="12">
                  <c:v>Dual Degree</c:v>
                </c:pt>
                <c:pt idx="13">
                  <c:v>IIT Faculty / Staff</c:v>
                </c:pt>
                <c:pt idx="14">
                  <c:v>Employee Family</c:v>
                </c:pt>
                <c:pt idx="15">
                  <c:v>Post Doc
Proj Asso</c:v>
                </c:pt>
                <c:pt idx="16">
                  <c:v>Not Able to Identify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1360</c:v>
                </c:pt>
                <c:pt idx="1">
                  <c:v>546</c:v>
                </c:pt>
                <c:pt idx="2">
                  <c:v>507</c:v>
                </c:pt>
                <c:pt idx="3">
                  <c:v>123</c:v>
                </c:pt>
                <c:pt idx="4">
                  <c:v>178</c:v>
                </c:pt>
                <c:pt idx="5">
                  <c:v>84</c:v>
                </c:pt>
                <c:pt idx="6">
                  <c:v>61</c:v>
                </c:pt>
                <c:pt idx="7">
                  <c:v>0</c:v>
                </c:pt>
                <c:pt idx="8">
                  <c:v>0</c:v>
                </c:pt>
                <c:pt idx="9">
                  <c:v>479</c:v>
                </c:pt>
                <c:pt idx="10">
                  <c:v>404</c:v>
                </c:pt>
                <c:pt idx="11">
                  <c:v>431</c:v>
                </c:pt>
                <c:pt idx="12">
                  <c:v>59</c:v>
                </c:pt>
                <c:pt idx="13">
                  <c:v>71</c:v>
                </c:pt>
                <c:pt idx="14">
                  <c:v>20</c:v>
                </c:pt>
                <c:pt idx="15">
                  <c:v>12</c:v>
                </c:pt>
                <c:pt idx="1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Sheet1!$A$2:$A$18</c:f>
              <c:strCache>
                <c:ptCount val="17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  <c:pt idx="8">
                  <c:v/>
                </c:pt>
                <c:pt idx="9">
                  <c:v>UG</c:v>
                </c:pt>
                <c:pt idx="10">
                  <c:v>PG</c:v>
                </c:pt>
                <c:pt idx="11">
                  <c:v>Ph.D</c:v>
                </c:pt>
                <c:pt idx="12">
                  <c:v>Dual Degree</c:v>
                </c:pt>
                <c:pt idx="13">
                  <c:v>IIT Faculty / Staff</c:v>
                </c:pt>
                <c:pt idx="14">
                  <c:v>Employee Family</c:v>
                </c:pt>
                <c:pt idx="15">
                  <c:v>Post Doc
Proj Asso</c:v>
                </c:pt>
                <c:pt idx="16">
                  <c:v>Not Able to Identify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1168</c:v>
                </c:pt>
                <c:pt idx="1">
                  <c:v>469</c:v>
                </c:pt>
                <c:pt idx="2">
                  <c:v>436</c:v>
                </c:pt>
                <c:pt idx="3">
                  <c:v>105</c:v>
                </c:pt>
                <c:pt idx="4">
                  <c:v>153</c:v>
                </c:pt>
                <c:pt idx="5">
                  <c:v>72</c:v>
                </c:pt>
                <c:pt idx="6">
                  <c:v>53</c:v>
                </c:pt>
                <c:pt idx="7">
                  <c:v>0</c:v>
                </c:pt>
                <c:pt idx="8">
                  <c:v>0</c:v>
                </c:pt>
                <c:pt idx="9">
                  <c:v>728</c:v>
                </c:pt>
                <c:pt idx="10">
                  <c:v>614</c:v>
                </c:pt>
                <c:pt idx="11">
                  <c:v>656</c:v>
                </c:pt>
                <c:pt idx="12">
                  <c:v>90</c:v>
                </c:pt>
                <c:pt idx="13">
                  <c:v>108</c:v>
                </c:pt>
                <c:pt idx="14">
                  <c:v>30</c:v>
                </c:pt>
                <c:pt idx="15">
                  <c:v>18</c:v>
                </c:pt>
                <c:pt idx="1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Sheet1!$A$2:$A$18</c:f>
              <c:strCache>
                <c:ptCount val="17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  <c:pt idx="8">
                  <c:v/>
                </c:pt>
                <c:pt idx="9">
                  <c:v>UG</c:v>
                </c:pt>
                <c:pt idx="10">
                  <c:v>PG</c:v>
                </c:pt>
                <c:pt idx="11">
                  <c:v>Ph.D</c:v>
                </c:pt>
                <c:pt idx="12">
                  <c:v>Dual Degree</c:v>
                </c:pt>
                <c:pt idx="13">
                  <c:v>IIT Faculty / Staff</c:v>
                </c:pt>
                <c:pt idx="14">
                  <c:v>Employee Family</c:v>
                </c:pt>
                <c:pt idx="15">
                  <c:v>Post Doc
Proj Asso</c:v>
                </c:pt>
                <c:pt idx="16">
                  <c:v>Not Able to Identify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399</c:v>
                </c:pt>
                <c:pt idx="1">
                  <c:v>160</c:v>
                </c:pt>
                <c:pt idx="2">
                  <c:v>149</c:v>
                </c:pt>
                <c:pt idx="3">
                  <c:v>36</c:v>
                </c:pt>
                <c:pt idx="4">
                  <c:v>52</c:v>
                </c:pt>
                <c:pt idx="5">
                  <c:v>25</c:v>
                </c:pt>
                <c:pt idx="6">
                  <c:v>18</c:v>
                </c:pt>
                <c:pt idx="7">
                  <c:v>0</c:v>
                </c:pt>
                <c:pt idx="8">
                  <c:v>0</c:v>
                </c:pt>
                <c:pt idx="9">
                  <c:v>245</c:v>
                </c:pt>
                <c:pt idx="10">
                  <c:v>207</c:v>
                </c:pt>
                <c:pt idx="11">
                  <c:v>221</c:v>
                </c:pt>
                <c:pt idx="12">
                  <c:v>30</c:v>
                </c:pt>
                <c:pt idx="13">
                  <c:v>36</c:v>
                </c:pt>
                <c:pt idx="14">
                  <c:v>10</c:v>
                </c:pt>
                <c:pt idx="15">
                  <c:v>6</c:v>
                </c:pt>
                <c:pt idx="16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2860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F5597"/>
                </a:solidFill>
                <a:latin typeface="Calibri"/>
              </a:rPr>
              <a:t>Yearly Wellness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74151"/>
                </a:solidFill>
                <a:latin typeface="Calibri"/>
              </a:rPr>
              <a:t>Comparative Analysis: FY 2024-25 vs. FY 2025-26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IIT Madras Wellness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3756" y="731520"/>
            <a:ext cx="2708910" cy="7772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3756" y="804672"/>
            <a:ext cx="27089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" y="1188720"/>
            <a:ext cx="2708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Total (FY 2024-25)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71266" y="731520"/>
            <a:ext cx="270891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1266" y="804672"/>
            <a:ext cx="27089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4476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1266" y="1188720"/>
            <a:ext cx="2708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Total (FY 2025-26)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8776" y="731520"/>
            <a:ext cx="2708910" cy="7772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8776" y="804672"/>
            <a:ext cx="27089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-1680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776" y="1188720"/>
            <a:ext cx="2708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Difference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6286" y="731520"/>
            <a:ext cx="2708910" cy="7772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6286" y="804672"/>
            <a:ext cx="27089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780 → 828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6286" y="1188720"/>
            <a:ext cx="2708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New Cases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1480" y="1691640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2024-25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2025-26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Change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Total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New Cases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+6.2%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Follow-up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-32.1%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11480" y="3657600"/>
          <a:ext cx="11338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2024-25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2025-26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" y="1234440"/>
          <a:ext cx="640080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0" y="146304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Follow-up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2436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868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597"/>
                </a:solidFill>
                <a:latin typeface="Calibri"/>
              </a:rPr>
              <a:t>VERTICALS  |  FY 2024-25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" y="1234440"/>
          <a:ext cx="640080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0" y="146304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Follow-up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868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597"/>
                </a:solidFill>
                <a:latin typeface="Calibri"/>
              </a:rPr>
              <a:t>VERTICALS  |  FY 2025-26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STAKEHOLDER  |  FY 2024-25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STAKEHOLDER  |  FY 2025-26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RANGE OF CONCERN  |  FY 2024-25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RANGE OF CONCERN  |  FY 2025-26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6634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597"/>
                </a:solidFill>
                <a:latin typeface="Calibri"/>
              </a:rPr>
              <a:t>VERTICALS COMPARISON  |  FY 2024-25 vs FY 2025-26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" y="1097280"/>
          <a:ext cx="1188720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6634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597"/>
                </a:solidFill>
                <a:latin typeface="Calibri"/>
              </a:rPr>
              <a:t>STAKEHOLDER COMPARISON  |  FY 2024-25 vs FY 2025-26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" y="1097280"/>
          <a:ext cx="1188720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6634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597"/>
                </a:solidFill>
                <a:latin typeface="Calibri"/>
              </a:rPr>
              <a:t>CONCERN COMPARISON  |  FY 2024-25 vs FY 2025-26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" y="1097280"/>
          <a:ext cx="1188720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GENDER DISTRIBUTION OF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FY 2024-25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FY 2025-26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0" y="132588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RANGE OF CONCERN ADDRESSED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FY 2024-25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FY 2025-26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0" y="132588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STAKE 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FY 2024-25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FY 2025-26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0" y="132588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YEARLY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1. Grand total cases changed from 6156 to 4476 (-1680 (-27.3%)).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2. New cases: 780 to 828 (+48).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3. Follow-up cases: 5376 to 3648 (-1728).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4. Largest vertical increase: Myndwell (972 to 756).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5. Largest vertical decrease: WLN Ctr (3312 to 1476).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377440"/>
            <a:ext cx="1196949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F5597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" y="3063240"/>
            <a:ext cx="11969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74151"/>
                </a:solidFill>
                <a:latin typeface="Calibri"/>
              </a:rPr>
              <a:t>Wellness Annual Report -- FY 2024-25 vs FY 2025-26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