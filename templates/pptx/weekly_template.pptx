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88" r:id="rId3"/>
    <p:sldId id="291" r:id="rId4"/>
    <p:sldId id="280" r:id="rId5"/>
    <p:sldId id="281" r:id="rId6"/>
    <p:sldId id="290" r:id="rId7"/>
    <p:sldId id="287" r:id="rId8"/>
    <p:sldId id="292" r:id="rId9"/>
    <p:sldId id="293" r:id="rId10"/>
    <p:sldId id="3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PORT\2026%20JULY\Detailed%20Report\Overall%20report%20for%20the%20month%20of%20July%202026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5D6-43E4-8577-5A93D9C521E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5D6-43E4-8577-5A93D9C521E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5D6-43E4-8577-5A93D9C521E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Sheet8!$M$30:$M$32</c:f>
              <c:strCache>
                <c:ptCount val="3"/>
                <c:pt idx="0">
                  <c:v>WC</c:v>
                </c:pt>
                <c:pt idx="1">
                  <c:v>YD</c:v>
                </c:pt>
                <c:pt idx="2">
                  <c:v>MW</c:v>
                </c:pt>
              </c:strCache>
            </c:strRef>
          </c:cat>
          <c:val>
            <c:numRef>
              <c:f>Sheet8!$N$30:$N$32</c:f>
              <c:numCache>
                <c:formatCode>General</c:formatCode>
                <c:ptCount val="3"/>
                <c:pt idx="0">
                  <c:v>27</c:v>
                </c:pt>
                <c:pt idx="1">
                  <c:v>52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5D6-43E4-8577-5A93D9C521EA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428-4B9C-8E2E-D353C2A9D98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428-4B9C-8E2E-D353C2A9D98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428-4B9C-8E2E-D353C2A9D9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Sheet2!$E$125:$E$127</c:f>
              <c:strCache>
                <c:ptCount val="3"/>
                <c:pt idx="0">
                  <c:v>WC</c:v>
                </c:pt>
                <c:pt idx="1">
                  <c:v>YD</c:v>
                </c:pt>
                <c:pt idx="2">
                  <c:v>MW</c:v>
                </c:pt>
              </c:strCache>
            </c:strRef>
          </c:cat>
          <c:val>
            <c:numRef>
              <c:f>Sheet2!$F$125:$F$127</c:f>
              <c:numCache>
                <c:formatCode>General</c:formatCode>
                <c:ptCount val="3"/>
                <c:pt idx="0">
                  <c:v>41</c:v>
                </c:pt>
                <c:pt idx="1">
                  <c:v>41</c:v>
                </c:pt>
                <c:pt idx="2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428-4B9C-8E2E-D353C2A9D98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30D-4403-A643-190FDFBBF24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30D-4403-A643-190FDFBBF24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30D-4403-A643-190FDFBBF24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30D-4403-A643-190FDFBBF24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30D-4403-A643-190FDFBBF24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30D-4403-A643-190FDFBBF24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E30D-4403-A643-190FDFBBF24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30D-4403-A643-190FDFBBF24B}"/>
              </c:ext>
            </c:extLst>
          </c:dPt>
          <c:dLbls>
            <c:dLbl>
              <c:idx val="6"/>
              <c:layout>
                <c:manualLayout>
                  <c:x val="3.8645021204973824E-2"/>
                  <c:y val="5.6217007920135377E-4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D-E30D-4403-A643-190FDFBBF2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Sheet2!$E$130:$L$130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Sheet2!$E$131:$L$131</c:f>
              <c:numCache>
                <c:formatCode>General</c:formatCode>
                <c:ptCount val="8"/>
                <c:pt idx="0">
                  <c:v>34</c:v>
                </c:pt>
                <c:pt idx="1">
                  <c:v>20</c:v>
                </c:pt>
                <c:pt idx="2">
                  <c:v>24</c:v>
                </c:pt>
                <c:pt idx="3">
                  <c:v>7</c:v>
                </c:pt>
                <c:pt idx="4">
                  <c:v>9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E30D-4403-A643-190FDFBBF24B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4F3-49F2-A4BE-9D39B86FA77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4F3-49F2-A4BE-9D39B86FA77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4F3-49F2-A4BE-9D39B86FA77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4F3-49F2-A4BE-9D39B86FA773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4F3-49F2-A4BE-9D39B86FA773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4F3-49F2-A4BE-9D39B86FA773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4F3-49F2-A4BE-9D39B86FA773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4F3-49F2-A4BE-9D39B86FA7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Sheet2!$E$133:$L$133</c:f>
              <c:strCache>
                <c:ptCount val="8"/>
                <c:pt idx="0">
                  <c:v>UG</c:v>
                </c:pt>
                <c:pt idx="1">
                  <c:v>PG</c:v>
                </c:pt>
                <c:pt idx="2">
                  <c:v>Ph.D</c:v>
                </c:pt>
                <c:pt idx="3">
                  <c:v>Dual Degree</c:v>
                </c:pt>
                <c:pt idx="4">
                  <c:v>IIT Faculty / Staff</c:v>
                </c:pt>
                <c:pt idx="5">
                  <c:v>Employee Family</c:v>
                </c:pt>
                <c:pt idx="6">
                  <c:v>Post Doc
Proj Asso</c:v>
                </c:pt>
                <c:pt idx="7">
                  <c:v>Not Able to Identify</c:v>
                </c:pt>
              </c:strCache>
            </c:strRef>
          </c:cat>
          <c:val>
            <c:numRef>
              <c:f>Sheet2!$E$134:$L$134</c:f>
              <c:numCache>
                <c:formatCode>General</c:formatCode>
                <c:ptCount val="8"/>
                <c:pt idx="0">
                  <c:v>36</c:v>
                </c:pt>
                <c:pt idx="1">
                  <c:v>16</c:v>
                </c:pt>
                <c:pt idx="2">
                  <c:v>21</c:v>
                </c:pt>
                <c:pt idx="3">
                  <c:v>8</c:v>
                </c:pt>
                <c:pt idx="4">
                  <c:v>13</c:v>
                </c:pt>
                <c:pt idx="5">
                  <c:v>2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4F3-49F2-A4BE-9D39B86FA773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462-4872-ACEB-761701211C1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462-4872-ACEB-761701211C1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462-4872-ACEB-761701211C1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462-4872-ACEB-761701211C1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462-4872-ACEB-761701211C1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462-4872-ACEB-761701211C1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462-4872-ACEB-761701211C11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C462-4872-ACEB-761701211C11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C462-4872-ACEB-761701211C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Sheet4!$K$24:$S$24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Sheet4!$K$25:$S$25</c:f>
              <c:numCache>
                <c:formatCode>General</c:formatCode>
                <c:ptCount val="9"/>
                <c:pt idx="0">
                  <c:v>16</c:v>
                </c:pt>
                <c:pt idx="1">
                  <c:v>3</c:v>
                </c:pt>
                <c:pt idx="2">
                  <c:v>15</c:v>
                </c:pt>
                <c:pt idx="3">
                  <c:v>29</c:v>
                </c:pt>
                <c:pt idx="4">
                  <c:v>31</c:v>
                </c:pt>
                <c:pt idx="5">
                  <c:v>5</c:v>
                </c:pt>
                <c:pt idx="6">
                  <c:v>2</c:v>
                </c:pt>
                <c:pt idx="7">
                  <c:v>3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462-4872-ACEB-761701211C11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EA3-4CC5-9864-9E7A068EAB6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EA3-4CC5-9864-9E7A068EAB6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EA3-4CC5-9864-9E7A068EAB6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EA3-4CC5-9864-9E7A068EAB6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EA3-4CC5-9864-9E7A068EAB6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EA3-4CC5-9864-9E7A068EAB6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5EA3-4CC5-9864-9E7A068EAB6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5EA3-4CC5-9864-9E7A068EAB6B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5EA3-4CC5-9864-9E7A068EAB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Sheet2!$C$136:$K$136</c:f>
              <c:strCache>
                <c:ptCount val="9"/>
                <c:pt idx="0">
                  <c:v>Anxiety/
Depresn/
Panic / OCD</c:v>
                </c:pt>
                <c:pt idx="1">
                  <c:v>Acute
 Stress / Trauma</c:v>
                </c:pt>
                <c:pt idx="2">
                  <c:v>Career /
 Acad,</c:v>
                </c:pt>
                <c:pt idx="3">
                  <c:v>Inter-
personal</c:v>
                </c:pt>
                <c:pt idx="4">
                  <c:v>Self-
Devlp</c:v>
                </c:pt>
                <c:pt idx="5">
                  <c:v>Clinical</c:v>
                </c:pt>
                <c:pt idx="6">
                  <c:v>Addiction</c:v>
                </c:pt>
                <c:pt idx="7">
                  <c:v>Medical /
 Health issues</c:v>
                </c:pt>
                <c:pt idx="8">
                  <c:v>Suicidal Ideation
 / Self-harm</c:v>
                </c:pt>
              </c:strCache>
            </c:strRef>
          </c:cat>
          <c:val>
            <c:numRef>
              <c:f>Sheet2!$C$137:$K$137</c:f>
              <c:numCache>
                <c:formatCode>General</c:formatCode>
                <c:ptCount val="9"/>
                <c:pt idx="0">
                  <c:v>20</c:v>
                </c:pt>
                <c:pt idx="1">
                  <c:v>3</c:v>
                </c:pt>
                <c:pt idx="2">
                  <c:v>16</c:v>
                </c:pt>
                <c:pt idx="3">
                  <c:v>20</c:v>
                </c:pt>
                <c:pt idx="4">
                  <c:v>25</c:v>
                </c:pt>
                <c:pt idx="5">
                  <c:v>8</c:v>
                </c:pt>
                <c:pt idx="6">
                  <c:v>3</c:v>
                </c:pt>
                <c:pt idx="7">
                  <c:v>2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5EA3-4CC5-9864-9E7A068EAB6B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Sheet3!$AG$1</c:f>
              <c:strCache>
                <c:ptCount val="1"/>
                <c:pt idx="0">
                  <c:v>15th to 21th July 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Sheet3!$AE$2:$AF$7</c:f>
              <c:multiLvlStrCache>
                <c:ptCount val="6"/>
                <c:lvl>
                  <c:pt idx="0">
                    <c:v>WC</c:v>
                  </c:pt>
                  <c:pt idx="1">
                    <c:v>YD</c:v>
                  </c:pt>
                  <c:pt idx="2">
                    <c:v>MW</c:v>
                  </c:pt>
                  <c:pt idx="3">
                    <c:v>WC</c:v>
                  </c:pt>
                  <c:pt idx="4">
                    <c:v>YD</c:v>
                  </c:pt>
                  <c:pt idx="5">
                    <c:v>MW</c:v>
                  </c:pt>
                </c:lvl>
                <c:lvl>
                  <c:pt idx="0">
                    <c:v>No. of New Cases</c:v>
                  </c:pt>
                  <c:pt idx="3">
                    <c:v>No. of Follow-up cases</c:v>
                  </c:pt>
                </c:lvl>
              </c:multiLvlStrCache>
            </c:multiLvlStrRef>
          </c:cat>
          <c:val>
            <c:numRef>
              <c:f>Sheet3!$AG$2:$AG$7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8</c:v>
                </c:pt>
                <c:pt idx="3">
                  <c:v>33</c:v>
                </c:pt>
                <c:pt idx="4">
                  <c:v>48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46-46A9-A561-712A6B6F5B25}"/>
            </c:ext>
          </c:extLst>
        </c:ser>
        <c:ser>
          <c:idx val="1"/>
          <c:order val="1"/>
          <c:tx>
            <c:strRef>
              <c:f>Sheet3!$AH$1</c:f>
              <c:strCache>
                <c:ptCount val="1"/>
                <c:pt idx="0">
                  <c:v>22nd to 28th July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Sheet3!$AE$2:$AF$7</c:f>
              <c:multiLvlStrCache>
                <c:ptCount val="6"/>
                <c:lvl>
                  <c:pt idx="0">
                    <c:v>WC</c:v>
                  </c:pt>
                  <c:pt idx="1">
                    <c:v>YD</c:v>
                  </c:pt>
                  <c:pt idx="2">
                    <c:v>MW</c:v>
                  </c:pt>
                  <c:pt idx="3">
                    <c:v>WC</c:v>
                  </c:pt>
                  <c:pt idx="4">
                    <c:v>YD</c:v>
                  </c:pt>
                  <c:pt idx="5">
                    <c:v>MW</c:v>
                  </c:pt>
                </c:lvl>
                <c:lvl>
                  <c:pt idx="0">
                    <c:v>No. of New Cases</c:v>
                  </c:pt>
                  <c:pt idx="3">
                    <c:v>No. of Follow-up cases</c:v>
                  </c:pt>
                </c:lvl>
              </c:multiLvlStrCache>
            </c:multiLvlStrRef>
          </c:cat>
          <c:val>
            <c:numRef>
              <c:f>Sheet3!$AH$2:$AH$7</c:f>
              <c:numCache>
                <c:formatCode>General</c:formatCode>
                <c:ptCount val="6"/>
                <c:pt idx="0">
                  <c:v>9</c:v>
                </c:pt>
                <c:pt idx="1">
                  <c:v>3</c:v>
                </c:pt>
                <c:pt idx="2">
                  <c:v>7</c:v>
                </c:pt>
                <c:pt idx="3">
                  <c:v>32</c:v>
                </c:pt>
                <c:pt idx="4">
                  <c:v>38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46-46A9-A561-712A6B6F5B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-25"/>
        <c:axId val="372369055"/>
        <c:axId val="372376959"/>
      </c:barChart>
      <c:catAx>
        <c:axId val="372369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376959"/>
        <c:crosses val="autoZero"/>
        <c:auto val="1"/>
        <c:lblAlgn val="ctr"/>
        <c:lblOffset val="100"/>
        <c:noMultiLvlLbl val="0"/>
      </c:catAx>
      <c:valAx>
        <c:axId val="372376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369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Sheet8!$A$145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Sheet8!$B$143:$S$144</c:f>
              <c:multiLvlStrCache>
                <c:ptCount val="18"/>
                <c:lvl>
                  <c:pt idx="0">
                    <c:v>Anxiety/
Depresn/
Panic / OCD</c:v>
                  </c:pt>
                  <c:pt idx="1">
                    <c:v>Acute
 Stress / Trauma</c:v>
                  </c:pt>
                  <c:pt idx="2">
                    <c:v>Career /
 Acad,</c:v>
                  </c:pt>
                  <c:pt idx="3">
                    <c:v>Inter-
personal</c:v>
                  </c:pt>
                  <c:pt idx="4">
                    <c:v>Self-
Devlp</c:v>
                  </c:pt>
                  <c:pt idx="5">
                    <c:v>Clinical</c:v>
                  </c:pt>
                  <c:pt idx="6">
                    <c:v>Addiction</c:v>
                  </c:pt>
                  <c:pt idx="7">
                    <c:v>Medical /
 Health issues</c:v>
                  </c:pt>
                  <c:pt idx="8">
                    <c:v>Suicidal Ideation
 / Self-harm</c:v>
                  </c:pt>
                  <c:pt idx="9">
                    <c:v>Anxiety/
Depresn/
Panic / OCD</c:v>
                  </c:pt>
                  <c:pt idx="10">
                    <c:v>Acute
 Stress / Trauma</c:v>
                  </c:pt>
                  <c:pt idx="11">
                    <c:v>Career /
 Acad,</c:v>
                  </c:pt>
                  <c:pt idx="12">
                    <c:v>Inter-
personal</c:v>
                  </c:pt>
                  <c:pt idx="13">
                    <c:v>Self-
Devlp</c:v>
                  </c:pt>
                  <c:pt idx="14">
                    <c:v>Clinical</c:v>
                  </c:pt>
                  <c:pt idx="15">
                    <c:v>Addiction</c:v>
                  </c:pt>
                  <c:pt idx="16">
                    <c:v>Medical /
 Health issues</c:v>
                  </c:pt>
                  <c:pt idx="17">
                    <c:v>Suicidal Ideation
 / Self-harm</c:v>
                  </c:pt>
                </c:lvl>
                <c:lvl>
                  <c:pt idx="0">
                    <c:v>15th to 21st July</c:v>
                  </c:pt>
                  <c:pt idx="9">
                    <c:v>22nd to 28th July</c:v>
                  </c:pt>
                </c:lvl>
              </c:multiLvlStrCache>
            </c:multiLvlStrRef>
          </c:cat>
          <c:val>
            <c:numRef>
              <c:f>Sheet8!$B$145:$S$145</c:f>
              <c:numCache>
                <c:formatCode>General</c:formatCode>
                <c:ptCount val="18"/>
                <c:pt idx="0">
                  <c:v>14</c:v>
                </c:pt>
                <c:pt idx="1">
                  <c:v>1</c:v>
                </c:pt>
                <c:pt idx="2">
                  <c:v>5</c:v>
                </c:pt>
                <c:pt idx="3">
                  <c:v>14</c:v>
                </c:pt>
                <c:pt idx="4">
                  <c:v>2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13</c:v>
                </c:pt>
                <c:pt idx="9">
                  <c:v>5</c:v>
                </c:pt>
                <c:pt idx="10">
                  <c:v>5</c:v>
                </c:pt>
                <c:pt idx="11">
                  <c:v>7</c:v>
                </c:pt>
                <c:pt idx="12">
                  <c:v>3</c:v>
                </c:pt>
                <c:pt idx="13">
                  <c:v>5</c:v>
                </c:pt>
                <c:pt idx="14">
                  <c:v>3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27-4953-85F2-04D30E8C48A1}"/>
            </c:ext>
          </c:extLst>
        </c:ser>
        <c:ser>
          <c:idx val="1"/>
          <c:order val="1"/>
          <c:tx>
            <c:strRef>
              <c:f>Sheet8!$A$146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Sheet8!$B$143:$S$144</c:f>
              <c:multiLvlStrCache>
                <c:ptCount val="18"/>
                <c:lvl>
                  <c:pt idx="0">
                    <c:v>Anxiety/
Depresn/
Panic / OCD</c:v>
                  </c:pt>
                  <c:pt idx="1">
                    <c:v>Acute
 Stress / Trauma</c:v>
                  </c:pt>
                  <c:pt idx="2">
                    <c:v>Career /
 Acad,</c:v>
                  </c:pt>
                  <c:pt idx="3">
                    <c:v>Inter-
personal</c:v>
                  </c:pt>
                  <c:pt idx="4">
                    <c:v>Self-
Devlp</c:v>
                  </c:pt>
                  <c:pt idx="5">
                    <c:v>Clinical</c:v>
                  </c:pt>
                  <c:pt idx="6">
                    <c:v>Addiction</c:v>
                  </c:pt>
                  <c:pt idx="7">
                    <c:v>Medical /
 Health issues</c:v>
                  </c:pt>
                  <c:pt idx="8">
                    <c:v>Suicidal Ideation
 / Self-harm</c:v>
                  </c:pt>
                  <c:pt idx="9">
                    <c:v>Anxiety/
Depresn/
Panic / OCD</c:v>
                  </c:pt>
                  <c:pt idx="10">
                    <c:v>Acute
 Stress / Trauma</c:v>
                  </c:pt>
                  <c:pt idx="11">
                    <c:v>Career /
 Acad,</c:v>
                  </c:pt>
                  <c:pt idx="12">
                    <c:v>Inter-
personal</c:v>
                  </c:pt>
                  <c:pt idx="13">
                    <c:v>Self-
Devlp</c:v>
                  </c:pt>
                  <c:pt idx="14">
                    <c:v>Clinical</c:v>
                  </c:pt>
                  <c:pt idx="15">
                    <c:v>Addiction</c:v>
                  </c:pt>
                  <c:pt idx="16">
                    <c:v>Medical /
 Health issues</c:v>
                  </c:pt>
                  <c:pt idx="17">
                    <c:v>Suicidal Ideation
 / Self-harm</c:v>
                  </c:pt>
                </c:lvl>
                <c:lvl>
                  <c:pt idx="0">
                    <c:v>15th to 21st July</c:v>
                  </c:pt>
                  <c:pt idx="9">
                    <c:v>22nd to 28th July</c:v>
                  </c:pt>
                </c:lvl>
              </c:multiLvlStrCache>
            </c:multiLvlStrRef>
          </c:cat>
          <c:val>
            <c:numRef>
              <c:f>Sheet8!$B$146:$S$146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7</c:v>
                </c:pt>
                <c:pt idx="3">
                  <c:v>13</c:v>
                </c:pt>
                <c:pt idx="4">
                  <c:v>26</c:v>
                </c:pt>
                <c:pt idx="5">
                  <c:v>5</c:v>
                </c:pt>
                <c:pt idx="6">
                  <c:v>0</c:v>
                </c:pt>
                <c:pt idx="7">
                  <c:v>2</c:v>
                </c:pt>
                <c:pt idx="8">
                  <c:v>0</c:v>
                </c:pt>
                <c:pt idx="9">
                  <c:v>8</c:v>
                </c:pt>
                <c:pt idx="10">
                  <c:v>7</c:v>
                </c:pt>
                <c:pt idx="11">
                  <c:v>13</c:v>
                </c:pt>
                <c:pt idx="12">
                  <c:v>4</c:v>
                </c:pt>
                <c:pt idx="13">
                  <c:v>3</c:v>
                </c:pt>
                <c:pt idx="14">
                  <c:v>0</c:v>
                </c:pt>
                <c:pt idx="15">
                  <c:v>6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27-4953-85F2-04D30E8C48A1}"/>
            </c:ext>
          </c:extLst>
        </c:ser>
        <c:ser>
          <c:idx val="2"/>
          <c:order val="2"/>
          <c:tx>
            <c:strRef>
              <c:f>Sheet8!$A$147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Sheet8!$B$143:$S$144</c:f>
              <c:multiLvlStrCache>
                <c:ptCount val="18"/>
                <c:lvl>
                  <c:pt idx="0">
                    <c:v>Anxiety/
Depresn/
Panic / OCD</c:v>
                  </c:pt>
                  <c:pt idx="1">
                    <c:v>Acute
 Stress / Trauma</c:v>
                  </c:pt>
                  <c:pt idx="2">
                    <c:v>Career /
 Acad,</c:v>
                  </c:pt>
                  <c:pt idx="3">
                    <c:v>Inter-
personal</c:v>
                  </c:pt>
                  <c:pt idx="4">
                    <c:v>Self-
Devlp</c:v>
                  </c:pt>
                  <c:pt idx="5">
                    <c:v>Clinical</c:v>
                  </c:pt>
                  <c:pt idx="6">
                    <c:v>Addiction</c:v>
                  </c:pt>
                  <c:pt idx="7">
                    <c:v>Medical /
 Health issues</c:v>
                  </c:pt>
                  <c:pt idx="8">
                    <c:v>Suicidal Ideation
 / Self-harm</c:v>
                  </c:pt>
                  <c:pt idx="9">
                    <c:v>Anxiety/
Depresn/
Panic / OCD</c:v>
                  </c:pt>
                  <c:pt idx="10">
                    <c:v>Acute
 Stress / Trauma</c:v>
                  </c:pt>
                  <c:pt idx="11">
                    <c:v>Career /
 Acad,</c:v>
                  </c:pt>
                  <c:pt idx="12">
                    <c:v>Inter-
personal</c:v>
                  </c:pt>
                  <c:pt idx="13">
                    <c:v>Self-
Devlp</c:v>
                  </c:pt>
                  <c:pt idx="14">
                    <c:v>Clinical</c:v>
                  </c:pt>
                  <c:pt idx="15">
                    <c:v>Addiction</c:v>
                  </c:pt>
                  <c:pt idx="16">
                    <c:v>Medical /
 Health issues</c:v>
                  </c:pt>
                  <c:pt idx="17">
                    <c:v>Suicidal Ideation
 / Self-harm</c:v>
                  </c:pt>
                </c:lvl>
                <c:lvl>
                  <c:pt idx="0">
                    <c:v>15th to 21st July</c:v>
                  </c:pt>
                  <c:pt idx="9">
                    <c:v>22nd to 28th July</c:v>
                  </c:pt>
                </c:lvl>
              </c:multiLvlStrCache>
            </c:multiLvlStrRef>
          </c:cat>
          <c:val>
            <c:numRef>
              <c:f>Sheet8!$B$147:$S$147</c:f>
              <c:numCache>
                <c:formatCode>General</c:formatCode>
                <c:ptCount val="18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4</c:v>
                </c:pt>
                <c:pt idx="10">
                  <c:v>1</c:v>
                </c:pt>
                <c:pt idx="11">
                  <c:v>3</c:v>
                </c:pt>
                <c:pt idx="12">
                  <c:v>4</c:v>
                </c:pt>
                <c:pt idx="13">
                  <c:v>5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27-4953-85F2-04D30E8C4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0119343"/>
        <c:axId val="490117263"/>
      </c:barChart>
      <c:catAx>
        <c:axId val="49011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117263"/>
        <c:crosses val="autoZero"/>
        <c:auto val="1"/>
        <c:lblAlgn val="ctr"/>
        <c:lblOffset val="100"/>
        <c:noMultiLvlLbl val="0"/>
      </c:catAx>
      <c:valAx>
        <c:axId val="490117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11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137426481811106E-2"/>
          <c:y val="1.5520963678529122E-2"/>
          <c:w val="0.91782967710812269"/>
          <c:h val="0.86607204231109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Sheet8!$A$152</c:f>
              <c:strCache>
                <c:ptCount val="1"/>
                <c:pt idx="0">
                  <c:v>WC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Sheet8!$B$150:$Q$151</c:f>
              <c:multiLvlStrCache>
                <c:ptCount val="16"/>
                <c:lvl>
                  <c:pt idx="0">
                    <c:v>UG</c:v>
                  </c:pt>
                  <c:pt idx="1">
                    <c:v>PG</c:v>
                  </c:pt>
                  <c:pt idx="2">
                    <c:v>Ph.D</c:v>
                  </c:pt>
                  <c:pt idx="3">
                    <c:v>Dual Degree</c:v>
                  </c:pt>
                  <c:pt idx="4">
                    <c:v>IIT Faculty / Staff</c:v>
                  </c:pt>
                  <c:pt idx="5">
                    <c:v>Employee Family</c:v>
                  </c:pt>
                  <c:pt idx="6">
                    <c:v>Post Doc
Proj Asso</c:v>
                  </c:pt>
                  <c:pt idx="7">
                    <c:v>Not Able to Identify</c:v>
                  </c:pt>
                  <c:pt idx="8">
                    <c:v>UG</c:v>
                  </c:pt>
                  <c:pt idx="9">
                    <c:v>PG</c:v>
                  </c:pt>
                  <c:pt idx="10">
                    <c:v>Ph.D</c:v>
                  </c:pt>
                  <c:pt idx="11">
                    <c:v>Dual Degree</c:v>
                  </c:pt>
                  <c:pt idx="12">
                    <c:v>IIT Faculty / Staff</c:v>
                  </c:pt>
                  <c:pt idx="13">
                    <c:v>Employee Family</c:v>
                  </c:pt>
                  <c:pt idx="14">
                    <c:v>Post Doc
Proj Asso</c:v>
                  </c:pt>
                  <c:pt idx="15">
                    <c:v>Not Able to Identify</c:v>
                  </c:pt>
                </c:lvl>
                <c:lvl>
                  <c:pt idx="0">
                    <c:v>15th to 21st July</c:v>
                  </c:pt>
                  <c:pt idx="8">
                    <c:v>22nd to 28th July</c:v>
                  </c:pt>
                </c:lvl>
              </c:multiLvlStrCache>
            </c:multiLvlStrRef>
          </c:cat>
          <c:val>
            <c:numRef>
              <c:f>Sheet8!$B$152:$Q$152</c:f>
              <c:numCache>
                <c:formatCode>General</c:formatCode>
                <c:ptCount val="16"/>
                <c:pt idx="0">
                  <c:v>11</c:v>
                </c:pt>
                <c:pt idx="1">
                  <c:v>9</c:v>
                </c:pt>
                <c:pt idx="2">
                  <c:v>8</c:v>
                </c:pt>
                <c:pt idx="3">
                  <c:v>5</c:v>
                </c:pt>
                <c:pt idx="4">
                  <c:v>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14</c:v>
                </c:pt>
                <c:pt idx="9">
                  <c:v>16</c:v>
                </c:pt>
                <c:pt idx="10">
                  <c:v>5</c:v>
                </c:pt>
                <c:pt idx="11">
                  <c:v>2</c:v>
                </c:pt>
                <c:pt idx="12">
                  <c:v>3</c:v>
                </c:pt>
                <c:pt idx="13">
                  <c:v>0</c:v>
                </c:pt>
                <c:pt idx="14">
                  <c:v>1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4-4BAB-B1BC-DB516C0F5DA0}"/>
            </c:ext>
          </c:extLst>
        </c:ser>
        <c:ser>
          <c:idx val="1"/>
          <c:order val="1"/>
          <c:tx>
            <c:strRef>
              <c:f>Sheet8!$A$153</c:f>
              <c:strCache>
                <c:ptCount val="1"/>
                <c:pt idx="0">
                  <c:v>YD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Sheet8!$B$150:$Q$151</c:f>
              <c:multiLvlStrCache>
                <c:ptCount val="16"/>
                <c:lvl>
                  <c:pt idx="0">
                    <c:v>UG</c:v>
                  </c:pt>
                  <c:pt idx="1">
                    <c:v>PG</c:v>
                  </c:pt>
                  <c:pt idx="2">
                    <c:v>Ph.D</c:v>
                  </c:pt>
                  <c:pt idx="3">
                    <c:v>Dual Degree</c:v>
                  </c:pt>
                  <c:pt idx="4">
                    <c:v>IIT Faculty / Staff</c:v>
                  </c:pt>
                  <c:pt idx="5">
                    <c:v>Employee Family</c:v>
                  </c:pt>
                  <c:pt idx="6">
                    <c:v>Post Doc
Proj Asso</c:v>
                  </c:pt>
                  <c:pt idx="7">
                    <c:v>Not Able to Identify</c:v>
                  </c:pt>
                  <c:pt idx="8">
                    <c:v>UG</c:v>
                  </c:pt>
                  <c:pt idx="9">
                    <c:v>PG</c:v>
                  </c:pt>
                  <c:pt idx="10">
                    <c:v>Ph.D</c:v>
                  </c:pt>
                  <c:pt idx="11">
                    <c:v>Dual Degree</c:v>
                  </c:pt>
                  <c:pt idx="12">
                    <c:v>IIT Faculty / Staff</c:v>
                  </c:pt>
                  <c:pt idx="13">
                    <c:v>Employee Family</c:v>
                  </c:pt>
                  <c:pt idx="14">
                    <c:v>Post Doc
Proj Asso</c:v>
                  </c:pt>
                  <c:pt idx="15">
                    <c:v>Not Able to Identify</c:v>
                  </c:pt>
                </c:lvl>
                <c:lvl>
                  <c:pt idx="0">
                    <c:v>15th to 21st July</c:v>
                  </c:pt>
                  <c:pt idx="8">
                    <c:v>22nd to 28th July</c:v>
                  </c:pt>
                </c:lvl>
              </c:multiLvlStrCache>
            </c:multiLvlStrRef>
          </c:cat>
          <c:val>
            <c:numRef>
              <c:f>Sheet8!$B$153:$Q$153</c:f>
              <c:numCache>
                <c:formatCode>General</c:formatCode>
                <c:ptCount val="16"/>
                <c:pt idx="0">
                  <c:v>22</c:v>
                </c:pt>
                <c:pt idx="1">
                  <c:v>4</c:v>
                </c:pt>
                <c:pt idx="2">
                  <c:v>11</c:v>
                </c:pt>
                <c:pt idx="3">
                  <c:v>3</c:v>
                </c:pt>
                <c:pt idx="4">
                  <c:v>8</c:v>
                </c:pt>
                <c:pt idx="5">
                  <c:v>0</c:v>
                </c:pt>
                <c:pt idx="6">
                  <c:v>1</c:v>
                </c:pt>
                <c:pt idx="7">
                  <c:v>4</c:v>
                </c:pt>
                <c:pt idx="8">
                  <c:v>16</c:v>
                </c:pt>
                <c:pt idx="9">
                  <c:v>0</c:v>
                </c:pt>
                <c:pt idx="10">
                  <c:v>12</c:v>
                </c:pt>
                <c:pt idx="11">
                  <c:v>3</c:v>
                </c:pt>
                <c:pt idx="12">
                  <c:v>5</c:v>
                </c:pt>
                <c:pt idx="13">
                  <c:v>0</c:v>
                </c:pt>
                <c:pt idx="14">
                  <c:v>1</c:v>
                </c:pt>
                <c:pt idx="1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A4-4BAB-B1BC-DB516C0F5DA0}"/>
            </c:ext>
          </c:extLst>
        </c:ser>
        <c:ser>
          <c:idx val="2"/>
          <c:order val="2"/>
          <c:tx>
            <c:strRef>
              <c:f>Sheet8!$A$154</c:f>
              <c:strCache>
                <c:ptCount val="1"/>
                <c:pt idx="0">
                  <c:v>MW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Sheet8!$B$150:$Q$151</c:f>
              <c:multiLvlStrCache>
                <c:ptCount val="16"/>
                <c:lvl>
                  <c:pt idx="0">
                    <c:v>UG</c:v>
                  </c:pt>
                  <c:pt idx="1">
                    <c:v>PG</c:v>
                  </c:pt>
                  <c:pt idx="2">
                    <c:v>Ph.D</c:v>
                  </c:pt>
                  <c:pt idx="3">
                    <c:v>Dual Degree</c:v>
                  </c:pt>
                  <c:pt idx="4">
                    <c:v>IIT Faculty / Staff</c:v>
                  </c:pt>
                  <c:pt idx="5">
                    <c:v>Employee Family</c:v>
                  </c:pt>
                  <c:pt idx="6">
                    <c:v>Post Doc
Proj Asso</c:v>
                  </c:pt>
                  <c:pt idx="7">
                    <c:v>Not Able to Identify</c:v>
                  </c:pt>
                  <c:pt idx="8">
                    <c:v>UG</c:v>
                  </c:pt>
                  <c:pt idx="9">
                    <c:v>PG</c:v>
                  </c:pt>
                  <c:pt idx="10">
                    <c:v>Ph.D</c:v>
                  </c:pt>
                  <c:pt idx="11">
                    <c:v>Dual Degree</c:v>
                  </c:pt>
                  <c:pt idx="12">
                    <c:v>IIT Faculty / Staff</c:v>
                  </c:pt>
                  <c:pt idx="13">
                    <c:v>Employee Family</c:v>
                  </c:pt>
                  <c:pt idx="14">
                    <c:v>Post Doc
Proj Asso</c:v>
                  </c:pt>
                  <c:pt idx="15">
                    <c:v>Not Able to Identify</c:v>
                  </c:pt>
                </c:lvl>
                <c:lvl>
                  <c:pt idx="0">
                    <c:v>15th to 21st July</c:v>
                  </c:pt>
                  <c:pt idx="8">
                    <c:v>22nd to 28th July</c:v>
                  </c:pt>
                </c:lvl>
              </c:multiLvlStrCache>
            </c:multiLvlStrRef>
          </c:cat>
          <c:val>
            <c:numRef>
              <c:f>Sheet8!$B$154:$Q$154</c:f>
              <c:numCache>
                <c:formatCode>General</c:formatCode>
                <c:ptCount val="16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  <c:pt idx="7">
                  <c:v>0</c:v>
                </c:pt>
                <c:pt idx="8">
                  <c:v>4</c:v>
                </c:pt>
                <c:pt idx="9">
                  <c:v>4</c:v>
                </c:pt>
                <c:pt idx="10">
                  <c:v>7</c:v>
                </c:pt>
                <c:pt idx="11">
                  <c:v>2</c:v>
                </c:pt>
                <c:pt idx="12">
                  <c:v>1</c:v>
                </c:pt>
                <c:pt idx="13">
                  <c:v>2</c:v>
                </c:pt>
                <c:pt idx="14">
                  <c:v>1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A4-4BAB-B1BC-DB516C0F5DA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72372799"/>
        <c:axId val="372376543"/>
      </c:barChart>
      <c:catAx>
        <c:axId val="372372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376543"/>
        <c:crosses val="autoZero"/>
        <c:auto val="1"/>
        <c:lblAlgn val="ctr"/>
        <c:lblOffset val="100"/>
        <c:noMultiLvlLbl val="0"/>
      </c:catAx>
      <c:valAx>
        <c:axId val="372376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372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635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66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731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09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8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39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1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007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78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75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115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31D14-1295-4313-A9F6-CF281DB353FD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32006-4B9E-41F0-8D99-EB020BD981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8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188" y="75609"/>
            <a:ext cx="3182388" cy="640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53925" y="2705793"/>
            <a:ext cx="8718915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en-IN" sz="2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Comparative Weekly Wellness Data</a:t>
            </a:r>
          </a:p>
          <a:p>
            <a:pPr lvl="0" algn="ctr">
              <a:lnSpc>
                <a:spcPct val="90000"/>
              </a:lnSpc>
            </a:pPr>
            <a:r>
              <a:rPr lang="en-US" sz="2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15</a:t>
            </a:r>
            <a:r>
              <a:rPr lang="en-US" sz="24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2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– 21</a:t>
            </a:r>
            <a:r>
              <a:rPr lang="en-US" sz="24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st</a:t>
            </a:r>
            <a:r>
              <a:rPr lang="en-US" sz="2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July to 22</a:t>
            </a:r>
            <a:r>
              <a:rPr lang="en-US" sz="24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nd</a:t>
            </a:r>
            <a:r>
              <a:rPr lang="en-US" sz="2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– 28</a:t>
            </a:r>
            <a:r>
              <a:rPr lang="en-US" sz="24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2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July</a:t>
            </a:r>
            <a:endParaRPr lang="en-IN" sz="2400" b="1" dirty="0" smtClean="0">
              <a:solidFill>
                <a:srgbClr val="FF0000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423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719" y="0"/>
            <a:ext cx="3182388" cy="64013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0742"/>
            <a:ext cx="12187827" cy="478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6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102" y="92233"/>
            <a:ext cx="3182388" cy="64013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1" y="1367567"/>
            <a:ext cx="12001391" cy="400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3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514" y="17141"/>
            <a:ext cx="3182388" cy="64013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7443" y="613818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>
                <a:solidFill>
                  <a:srgbClr val="FF0000"/>
                </a:solidFill>
              </a:rPr>
              <a:t>VERTICALS </a:t>
            </a:r>
          </a:p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>
                <a:solidFill>
                  <a:srgbClr val="FF0000"/>
                </a:solidFill>
              </a:rPr>
              <a:t>NEW / FOLLOW UP </a:t>
            </a:r>
          </a:p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>
                <a:solidFill>
                  <a:srgbClr val="FF0000"/>
                </a:solidFill>
              </a:rPr>
              <a:t>15</a:t>
            </a:r>
            <a:r>
              <a:rPr lang="en-US" sz="1400" b="1" baseline="30000" dirty="0">
                <a:solidFill>
                  <a:srgbClr val="FF0000"/>
                </a:solidFill>
              </a:rPr>
              <a:t>th</a:t>
            </a:r>
            <a:r>
              <a:rPr lang="en-US" sz="1400" b="1" dirty="0">
                <a:solidFill>
                  <a:srgbClr val="FF0000"/>
                </a:solidFill>
              </a:rPr>
              <a:t> to 21</a:t>
            </a:r>
            <a:r>
              <a:rPr lang="en-US" sz="1400" b="1" baseline="30000" dirty="0">
                <a:solidFill>
                  <a:srgbClr val="FF0000"/>
                </a:solidFill>
              </a:rPr>
              <a:t>st</a:t>
            </a:r>
            <a:r>
              <a:rPr lang="en-US" sz="1400" b="1" dirty="0">
                <a:solidFill>
                  <a:srgbClr val="FF0000"/>
                </a:solidFill>
              </a:rPr>
              <a:t> July 2026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28826" y="657277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>
                <a:solidFill>
                  <a:srgbClr val="FF0000"/>
                </a:solidFill>
              </a:rPr>
              <a:t>VERTICALS </a:t>
            </a:r>
          </a:p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IN" sz="1400" b="1" dirty="0">
                <a:solidFill>
                  <a:srgbClr val="FF0000"/>
                </a:solidFill>
              </a:rPr>
              <a:t>NEW / FOLLOW UP </a:t>
            </a:r>
          </a:p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smtClean="0">
                <a:solidFill>
                  <a:srgbClr val="FF0000"/>
                </a:solidFill>
              </a:rPr>
              <a:t>22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nd</a:t>
            </a:r>
            <a:r>
              <a:rPr lang="en-US" sz="1400" b="1" dirty="0" smtClean="0">
                <a:solidFill>
                  <a:srgbClr val="FF0000"/>
                </a:solidFill>
              </a:rPr>
              <a:t> to 28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th</a:t>
            </a:r>
            <a:r>
              <a:rPr lang="en-US" sz="1400" b="1" dirty="0" smtClean="0">
                <a:solidFill>
                  <a:srgbClr val="FF0000"/>
                </a:solidFill>
              </a:rPr>
              <a:t> July </a:t>
            </a:r>
            <a:r>
              <a:rPr lang="en-US" sz="1400" b="1" dirty="0">
                <a:solidFill>
                  <a:srgbClr val="FF0000"/>
                </a:solidFill>
              </a:rPr>
              <a:t>2026</a:t>
            </a:r>
            <a:endParaRPr lang="en-IN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97280"/>
              </p:ext>
            </p:extLst>
          </p:nvPr>
        </p:nvGraphicFramePr>
        <p:xfrm>
          <a:off x="41243" y="1439400"/>
          <a:ext cx="6248400" cy="5505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8704507"/>
              </p:ext>
            </p:extLst>
          </p:nvPr>
        </p:nvGraphicFramePr>
        <p:xfrm>
          <a:off x="5865779" y="1395940"/>
          <a:ext cx="6326221" cy="5462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1131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6219" y="-30888"/>
            <a:ext cx="3182388" cy="6401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09247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FF0000"/>
                </a:solidFill>
              </a:rPr>
              <a:t>STAKEHOLDER </a:t>
            </a:r>
          </a:p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smtClean="0">
                <a:solidFill>
                  <a:srgbClr val="FF0000"/>
                </a:solidFill>
              </a:rPr>
              <a:t>15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th</a:t>
            </a:r>
            <a:r>
              <a:rPr lang="en-US" sz="1400" b="1" dirty="0" smtClean="0">
                <a:solidFill>
                  <a:srgbClr val="FF0000"/>
                </a:solidFill>
              </a:rPr>
              <a:t> </a:t>
            </a:r>
            <a:r>
              <a:rPr lang="en-US" sz="1400" b="1" dirty="0">
                <a:solidFill>
                  <a:srgbClr val="FF0000"/>
                </a:solidFill>
              </a:rPr>
              <a:t>to </a:t>
            </a:r>
            <a:r>
              <a:rPr lang="en-US" sz="1400" b="1" dirty="0" smtClean="0">
                <a:solidFill>
                  <a:srgbClr val="FF0000"/>
                </a:solidFill>
              </a:rPr>
              <a:t>21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st</a:t>
            </a:r>
            <a:r>
              <a:rPr lang="en-US" sz="1400" b="1" dirty="0" smtClean="0">
                <a:solidFill>
                  <a:srgbClr val="FF0000"/>
                </a:solidFill>
              </a:rPr>
              <a:t> July </a:t>
            </a:r>
            <a:r>
              <a:rPr lang="en-US" sz="1400" b="1" dirty="0">
                <a:solidFill>
                  <a:srgbClr val="FF0000"/>
                </a:solidFill>
              </a:rPr>
              <a:t>2026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70913" y="57035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FF0000"/>
                </a:solidFill>
              </a:rPr>
              <a:t>STAKEHOLDER </a:t>
            </a:r>
            <a:endParaRPr lang="en-IN" b="1" dirty="0" smtClean="0">
              <a:solidFill>
                <a:srgbClr val="FF0000"/>
              </a:solidFill>
            </a:endParaRPr>
          </a:p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smtClean="0">
                <a:solidFill>
                  <a:srgbClr val="FF0000"/>
                </a:solidFill>
              </a:rPr>
              <a:t>22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nd</a:t>
            </a:r>
            <a:r>
              <a:rPr lang="en-US" sz="1400" b="1" dirty="0" smtClean="0">
                <a:solidFill>
                  <a:srgbClr val="FF0000"/>
                </a:solidFill>
              </a:rPr>
              <a:t> to 28</a:t>
            </a:r>
            <a:r>
              <a:rPr lang="en-US" sz="1400" b="1" baseline="30000" dirty="0" smtClean="0">
                <a:solidFill>
                  <a:srgbClr val="FF0000"/>
                </a:solidFill>
              </a:rPr>
              <a:t>th</a:t>
            </a:r>
            <a:r>
              <a:rPr lang="en-US" sz="1400" b="1" dirty="0" smtClean="0">
                <a:solidFill>
                  <a:srgbClr val="FF0000"/>
                </a:solidFill>
              </a:rPr>
              <a:t> July 2026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2524320"/>
              </p:ext>
            </p:extLst>
          </p:nvPr>
        </p:nvGraphicFramePr>
        <p:xfrm>
          <a:off x="5807413" y="1210243"/>
          <a:ext cx="6384587" cy="5647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4487277"/>
              </p:ext>
            </p:extLst>
          </p:nvPr>
        </p:nvGraphicFramePr>
        <p:xfrm>
          <a:off x="0" y="1210243"/>
          <a:ext cx="6536987" cy="57644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1575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E421C3-2780-4774-9E05-31A8A25F33CA}"/>
              </a:ext>
            </a:extLst>
          </p:cNvPr>
          <p:cNvSpPr/>
          <p:nvPr/>
        </p:nvSpPr>
        <p:spPr>
          <a:xfrm>
            <a:off x="4594082" y="31769"/>
            <a:ext cx="3602267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90000"/>
              </a:lnSpc>
            </a:pPr>
            <a:r>
              <a:rPr lang="en-IN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Wellness Data-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186294" y="668867"/>
            <a:ext cx="41334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IN" b="1" cap="all" dirty="0" smtClean="0">
                <a:solidFill>
                  <a:srgbClr val="FF0000"/>
                </a:solidFill>
              </a:rPr>
              <a:t>RANGE </a:t>
            </a:r>
            <a:r>
              <a:rPr lang="en-IN" b="1" cap="all" dirty="0">
                <a:solidFill>
                  <a:srgbClr val="FF0000"/>
                </a:solidFill>
              </a:rPr>
              <a:t>OF CONCERN </a:t>
            </a:r>
            <a:r>
              <a:rPr lang="en-IN" b="1" cap="all" dirty="0" smtClean="0">
                <a:solidFill>
                  <a:srgbClr val="FF0000"/>
                </a:solidFill>
              </a:rPr>
              <a:t>ADDRESSED</a:t>
            </a:r>
          </a:p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22</a:t>
            </a:r>
            <a:r>
              <a:rPr lang="en-US" sz="14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nd</a:t>
            </a:r>
            <a:r>
              <a:rPr lang="en-US" sz="1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to 28</a:t>
            </a:r>
            <a:r>
              <a:rPr lang="en-US" sz="14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1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4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June 2026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0646" y="668867"/>
            <a:ext cx="41334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IN" b="1" cap="all" dirty="0" smtClean="0">
                <a:solidFill>
                  <a:srgbClr val="FF0000"/>
                </a:solidFill>
              </a:rPr>
              <a:t>RANGE </a:t>
            </a:r>
            <a:r>
              <a:rPr lang="en-IN" b="1" cap="all" dirty="0">
                <a:solidFill>
                  <a:srgbClr val="FF0000"/>
                </a:solidFill>
              </a:rPr>
              <a:t>OF CONCERN </a:t>
            </a:r>
            <a:r>
              <a:rPr lang="en-IN" b="1" cap="all" dirty="0" smtClean="0">
                <a:solidFill>
                  <a:srgbClr val="FF0000"/>
                </a:solidFill>
              </a:rPr>
              <a:t>ADDRESSED</a:t>
            </a:r>
          </a:p>
          <a:p>
            <a:pPr algn="ctr">
              <a:defRPr sz="1400" b="0" i="0" u="none" strike="noStrike" kern="1200" spc="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1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15</a:t>
            </a:r>
            <a:r>
              <a:rPr lang="en-US" sz="14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1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to 21</a:t>
            </a:r>
            <a:r>
              <a:rPr lang="en-US" sz="14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st</a:t>
            </a:r>
            <a:r>
              <a:rPr lang="en-US" sz="14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July </a:t>
            </a:r>
            <a:r>
              <a:rPr lang="en-US" sz="14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2026</a:t>
            </a:r>
            <a:endParaRPr lang="en-IN" dirty="0">
              <a:solidFill>
                <a:srgbClr val="FF0000"/>
              </a:solidFill>
            </a:endParaRPr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5792917"/>
              </p:ext>
            </p:extLst>
          </p:nvPr>
        </p:nvGraphicFramePr>
        <p:xfrm>
          <a:off x="88011" y="1192087"/>
          <a:ext cx="5907932" cy="5665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7831394"/>
              </p:ext>
            </p:extLst>
          </p:nvPr>
        </p:nvGraphicFramePr>
        <p:xfrm>
          <a:off x="5995943" y="1192088"/>
          <a:ext cx="6196057" cy="5665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7301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31272" y="464005"/>
            <a:ext cx="102745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IN" b="1" dirty="0">
                <a:solidFill>
                  <a:srgbClr val="FF0000"/>
                </a:solidFill>
              </a:rPr>
              <a:t>Comparative data of </a:t>
            </a:r>
            <a:r>
              <a:rPr lang="en-IN" b="1" dirty="0" smtClean="0">
                <a:solidFill>
                  <a:srgbClr val="FF0000"/>
                </a:solidFill>
              </a:rPr>
              <a:t>cases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15</a:t>
            </a:r>
            <a:r>
              <a:rPr lang="en-US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to </a:t>
            </a:r>
            <a:r>
              <a:rPr lang="en-US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21</a:t>
            </a:r>
            <a:r>
              <a:rPr lang="en-US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st</a:t>
            </a:r>
            <a:r>
              <a:rPr lang="en-IN" b="1" dirty="0" smtClean="0">
                <a:solidFill>
                  <a:srgbClr val="FF0000"/>
                </a:solidFill>
                <a:sym typeface="Calibri"/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and 22</a:t>
            </a:r>
            <a:r>
              <a:rPr lang="en-US" b="1" baseline="30000" dirty="0" smtClean="0">
                <a:solidFill>
                  <a:srgbClr val="FF0000"/>
                </a:solidFill>
              </a:rPr>
              <a:t>nd</a:t>
            </a:r>
            <a:r>
              <a:rPr lang="en-US" b="1" dirty="0" smtClean="0">
                <a:solidFill>
                  <a:srgbClr val="FF0000"/>
                </a:solidFill>
              </a:rPr>
              <a:t> to 28</a:t>
            </a:r>
            <a:r>
              <a:rPr lang="en-US" b="1" baseline="30000" dirty="0" smtClean="0">
                <a:solidFill>
                  <a:srgbClr val="FF0000"/>
                </a:solidFill>
              </a:rPr>
              <a:t>th</a:t>
            </a:r>
            <a:r>
              <a:rPr lang="en-US" b="1" dirty="0" smtClean="0">
                <a:solidFill>
                  <a:srgbClr val="FF0000"/>
                </a:solidFill>
              </a:rPr>
              <a:t> July 2026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4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74" y="-29816"/>
            <a:ext cx="2693250" cy="541745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994854"/>
              </p:ext>
            </p:extLst>
          </p:nvPr>
        </p:nvGraphicFramePr>
        <p:xfrm>
          <a:off x="0" y="723857"/>
          <a:ext cx="12192000" cy="6134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0699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030" y="-94829"/>
            <a:ext cx="3182388" cy="6401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11184" y="468163"/>
            <a:ext cx="89706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IN" sz="1600" b="1" dirty="0">
                <a:solidFill>
                  <a:srgbClr val="FF0000"/>
                </a:solidFill>
              </a:rPr>
              <a:t>Comparative data towards Range of Concern addressed </a:t>
            </a:r>
            <a:r>
              <a:rPr lang="en-IN" sz="1600" b="1" dirty="0" smtClean="0">
                <a:solidFill>
                  <a:srgbClr val="FF0000"/>
                </a:solidFill>
              </a:rPr>
              <a:t> </a:t>
            </a:r>
            <a:r>
              <a:rPr lang="en-US" sz="16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15</a:t>
            </a:r>
            <a:r>
              <a:rPr lang="en-US" sz="16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16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16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to 21</a:t>
            </a:r>
            <a:r>
              <a:rPr lang="en-US" sz="1600" b="1" baseline="30000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st</a:t>
            </a:r>
            <a:r>
              <a:rPr lang="en-IN" sz="1600" b="1" dirty="0">
                <a:solidFill>
                  <a:srgbClr val="FF0000"/>
                </a:solidFill>
                <a:sym typeface="Calibri"/>
              </a:rPr>
              <a:t> </a:t>
            </a:r>
            <a:r>
              <a:rPr lang="en-US" sz="1600" b="1" dirty="0">
                <a:solidFill>
                  <a:srgbClr val="FF0000"/>
                </a:solidFill>
              </a:rPr>
              <a:t>and 22</a:t>
            </a:r>
            <a:r>
              <a:rPr lang="en-US" sz="1600" b="1" baseline="30000" dirty="0">
                <a:solidFill>
                  <a:srgbClr val="FF0000"/>
                </a:solidFill>
              </a:rPr>
              <a:t>nd</a:t>
            </a:r>
            <a:r>
              <a:rPr lang="en-US" sz="1600" b="1" dirty="0">
                <a:solidFill>
                  <a:srgbClr val="FF0000"/>
                </a:solidFill>
              </a:rPr>
              <a:t> to 28</a:t>
            </a:r>
            <a:r>
              <a:rPr lang="en-US" sz="1600" b="1" baseline="30000" dirty="0">
                <a:solidFill>
                  <a:srgbClr val="FF0000"/>
                </a:solidFill>
              </a:rPr>
              <a:t>th</a:t>
            </a:r>
            <a:r>
              <a:rPr lang="en-US" sz="1600" b="1" dirty="0">
                <a:solidFill>
                  <a:srgbClr val="FF0000"/>
                </a:solidFill>
              </a:rPr>
              <a:t> July 2026</a:t>
            </a:r>
            <a:endParaRPr lang="en-IN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0544786"/>
              </p:ext>
            </p:extLst>
          </p:nvPr>
        </p:nvGraphicFramePr>
        <p:xfrm>
          <a:off x="1" y="729574"/>
          <a:ext cx="12192000" cy="61284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5434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6503" y="502683"/>
            <a:ext cx="100389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1400" b="1" i="0" u="none" strike="noStrike" kern="1200" spc="0" baseline="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>
                <a:solidFill>
                  <a:srgbClr val="FF0000"/>
                </a:solidFill>
              </a:rPr>
              <a:t>Comparative data of Stakeholders 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15</a:t>
            </a:r>
            <a:r>
              <a:rPr lang="en-US" sz="2000" b="1" baseline="30000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th</a:t>
            </a:r>
            <a:r>
              <a:rPr lang="en-US" sz="2000" b="1" dirty="0" smtClean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2000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to 21</a:t>
            </a:r>
            <a:r>
              <a:rPr lang="en-US" sz="2000" b="1" baseline="30000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st</a:t>
            </a:r>
            <a:r>
              <a:rPr lang="en-IN" sz="2000" b="1" dirty="0">
                <a:solidFill>
                  <a:srgbClr val="FF0000"/>
                </a:solidFill>
                <a:sym typeface="Calibri"/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and 22</a:t>
            </a:r>
            <a:r>
              <a:rPr lang="en-US" sz="2000" b="1" baseline="30000" dirty="0">
                <a:solidFill>
                  <a:srgbClr val="FF0000"/>
                </a:solidFill>
              </a:rPr>
              <a:t>nd</a:t>
            </a:r>
            <a:r>
              <a:rPr lang="en-US" sz="2000" b="1" dirty="0">
                <a:solidFill>
                  <a:srgbClr val="FF0000"/>
                </a:solidFill>
              </a:rPr>
              <a:t> to 28</a:t>
            </a:r>
            <a:r>
              <a:rPr lang="en-US" sz="2000" b="1" baseline="30000" dirty="0">
                <a:solidFill>
                  <a:srgbClr val="FF0000"/>
                </a:solidFill>
              </a:rPr>
              <a:t>th</a:t>
            </a:r>
            <a:r>
              <a:rPr lang="en-US" sz="2000" b="1" dirty="0">
                <a:solidFill>
                  <a:srgbClr val="FF0000"/>
                </a:solidFill>
              </a:rPr>
              <a:t> July </a:t>
            </a:r>
            <a:r>
              <a:rPr lang="en-US" sz="2000" b="1" dirty="0" smtClean="0">
                <a:solidFill>
                  <a:srgbClr val="FF0000"/>
                </a:solidFill>
              </a:rPr>
              <a:t>2026</a:t>
            </a:r>
            <a:endParaRPr lang="en-IN" sz="2000" b="1" dirty="0">
              <a:solidFill>
                <a:srgbClr val="FF0000"/>
              </a:solidFill>
            </a:endParaRPr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81" y="0"/>
            <a:ext cx="3182388" cy="640135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2639410"/>
              </p:ext>
            </p:extLst>
          </p:nvPr>
        </p:nvGraphicFramePr>
        <p:xfrm>
          <a:off x="77821" y="864300"/>
          <a:ext cx="12114179" cy="5769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558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24690" y="108065"/>
            <a:ext cx="11970327" cy="57357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PROPOSED POINTS FORM WELLNESS CENTRE: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66005" y="885217"/>
            <a:ext cx="11687695" cy="569421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28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115</Words>
  <Application>Microsoft Office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Wellness</dc:creator>
  <cp:lastModifiedBy>Wellness</cp:lastModifiedBy>
  <cp:revision>253</cp:revision>
  <dcterms:created xsi:type="dcterms:W3CDTF">2026-06-17T07:07:37Z</dcterms:created>
  <dcterms:modified xsi:type="dcterms:W3CDTF">2026-07-29T11:03:16Z</dcterms:modified>
</cp:coreProperties>
</file>