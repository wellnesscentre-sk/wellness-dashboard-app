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2.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4" r:id="rId3"/>
    <p:sldId id="265" r:id="rId4"/>
    <p:sldId id="295" r:id="rId5"/>
    <p:sldId id="297" r:id="rId6"/>
    <p:sldId id="298" r:id="rId7"/>
    <p:sldId id="266" r:id="rId8"/>
    <p:sldId id="300" r:id="rId9"/>
    <p:sldId id="267" r:id="rId10"/>
    <p:sldId id="257" r:id="rId11"/>
    <p:sldId id="269" r:id="rId12"/>
    <p:sldId id="271" r:id="rId13"/>
    <p:sldId id="301" r:id="rId14"/>
    <p:sldId id="302" r:id="rId15"/>
    <p:sldId id="303" r:id="rId16"/>
    <p:sldId id="304" r:id="rId17"/>
    <p:sldId id="30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9" autoAdjust="0"/>
    <p:restoredTop sz="94660"/>
  </p:normalViewPr>
  <p:slideViewPr>
    <p:cSldViewPr snapToGrid="0">
      <p:cViewPr varScale="1">
        <p:scale>
          <a:sx n="115" d="100"/>
          <a:sy n="115" d="100"/>
        </p:scale>
        <p:origin x="14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REPORT\2026%20June\Overall%20Wellness%20monthly%20report_June%202026.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Wellness\Desktop\July%20report.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oleObject" Target="file:///C:\Users\Wellness\Desktop\July%20repor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Wellness\Desktop\July%20report.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8495436159441465"/>
          <c:y val="1.4257574113673607E-2"/>
          <c:w val="0.38520678052434154"/>
          <c:h val="0.80866731543606629"/>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b="1">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sz="1200" b="1">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61D-45E1-842C-A5902E4B9DC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61D-45E1-842C-A5902E4B9DC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561D-45E1-842C-A5902E4B9DC3}"/>
              </c:ext>
            </c:extLst>
          </c:dPt>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Sheet2!$B$11:$B$13</c:f>
              <c:strCache>
                <c:ptCount val="3"/>
                <c:pt idx="0">
                  <c:v>WC</c:v>
                </c:pt>
                <c:pt idx="1">
                  <c:v>YD</c:v>
                </c:pt>
                <c:pt idx="2">
                  <c:v>MW</c:v>
                </c:pt>
              </c:strCache>
            </c:strRef>
          </c:cat>
          <c:val>
            <c:numRef>
              <c:f>Sheet2!$C$11:$C$13</c:f>
              <c:numCache>
                <c:formatCode>General</c:formatCode>
                <c:ptCount val="3"/>
                <c:pt idx="0">
                  <c:v>128</c:v>
                </c:pt>
                <c:pt idx="1">
                  <c:v>192</c:v>
                </c:pt>
                <c:pt idx="2">
                  <c:v>64</c:v>
                </c:pt>
              </c:numCache>
            </c:numRef>
          </c:val>
          <c:extLst>
            <c:ext xmlns:c16="http://schemas.microsoft.com/office/drawing/2014/chart" uri="{C3380CC4-5D6E-409C-BE32-E72D297353CC}">
              <c16:uniqueId val="{00000006-561D-45E1-842C-A5902E4B9DC3}"/>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2953579985352416E-2"/>
          <c:y val="0.12629251485165821"/>
          <c:w val="0.81356931297270185"/>
          <c:h val="0.8084604745976014"/>
        </c:manualLayout>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FEE-45E1-9AF4-CBA65171504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FEE-45E1-9AF4-CBA65171504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FEE-45E1-9AF4-CBA651715045}"/>
              </c:ext>
            </c:extLst>
          </c:dPt>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Sheet2!$B$27:$B$29</c:f>
              <c:strCache>
                <c:ptCount val="3"/>
                <c:pt idx="0">
                  <c:v>WC</c:v>
                </c:pt>
                <c:pt idx="1">
                  <c:v>YD</c:v>
                </c:pt>
                <c:pt idx="2">
                  <c:v>MW</c:v>
                </c:pt>
              </c:strCache>
            </c:strRef>
          </c:cat>
          <c:val>
            <c:numRef>
              <c:f>Sheet2!$C$27:$C$29</c:f>
              <c:numCache>
                <c:formatCode>General</c:formatCode>
                <c:ptCount val="3"/>
                <c:pt idx="0">
                  <c:v>27</c:v>
                </c:pt>
                <c:pt idx="1">
                  <c:v>22</c:v>
                </c:pt>
                <c:pt idx="2">
                  <c:v>23</c:v>
                </c:pt>
              </c:numCache>
            </c:numRef>
          </c:val>
          <c:extLst>
            <c:ext xmlns:c16="http://schemas.microsoft.com/office/drawing/2014/chart" uri="{C3380CC4-5D6E-409C-BE32-E72D297353CC}">
              <c16:uniqueId val="{00000006-1FEE-45E1-9AF4-CBA651715045}"/>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8049698398629813"/>
          <c:y val="0.11505240511349173"/>
          <c:w val="0.42188449100192454"/>
          <c:h val="0.82875390667285043"/>
        </c:manualLayout>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0AD-447C-A2C3-238155BC386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0AD-447C-A2C3-238155BC386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30AD-447C-A2C3-238155BC3862}"/>
              </c:ext>
            </c:extLst>
          </c:dPt>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Sheet2!$B$38:$B$40</c:f>
              <c:strCache>
                <c:ptCount val="3"/>
                <c:pt idx="0">
                  <c:v>WC</c:v>
                </c:pt>
                <c:pt idx="1">
                  <c:v>YD</c:v>
                </c:pt>
                <c:pt idx="2">
                  <c:v>MW</c:v>
                </c:pt>
              </c:strCache>
            </c:strRef>
          </c:cat>
          <c:val>
            <c:numRef>
              <c:f>Sheet2!$C$38:$C$40</c:f>
              <c:numCache>
                <c:formatCode>General</c:formatCode>
                <c:ptCount val="3"/>
                <c:pt idx="0">
                  <c:v>101</c:v>
                </c:pt>
                <c:pt idx="1">
                  <c:v>170</c:v>
                </c:pt>
                <c:pt idx="2">
                  <c:v>41</c:v>
                </c:pt>
              </c:numCache>
            </c:numRef>
          </c:val>
          <c:extLst>
            <c:ext xmlns:c16="http://schemas.microsoft.com/office/drawing/2014/chart" uri="{C3380CC4-5D6E-409C-BE32-E72D297353CC}">
              <c16:uniqueId val="{00000006-30AD-447C-A2C3-238155BC3862}"/>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3.png"/></Relationships>
</file>

<file path=ppt/drawings/_rels/drawing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4.png"/></Relationships>
</file>

<file path=ppt/drawings/drawing1.xml><?xml version="1.0" encoding="utf-8"?>
<c:userShapes xmlns:c="http://schemas.openxmlformats.org/drawingml/2006/chart">
  <cdr:relSizeAnchor xmlns:cdr="http://schemas.openxmlformats.org/drawingml/2006/chartDrawing">
    <cdr:from>
      <cdr:x>0.82092</cdr:x>
      <cdr:y>0.42279</cdr:y>
    </cdr:from>
    <cdr:to>
      <cdr:x>0.96873</cdr:x>
      <cdr:y>0.66288</cdr:y>
    </cdr:to>
    <cdr:pic>
      <cdr:nvPicPr>
        <cdr:cNvPr id="2" name="chart"/>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9867899" y="2290292"/>
          <a:ext cx="1776749" cy="1300626"/>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0.37686</cdr:x>
      <cdr:y>0</cdr:y>
    </cdr:from>
    <cdr:to>
      <cdr:x>0.64902</cdr:x>
      <cdr:y>0.11058</cdr:y>
    </cdr:to>
    <cdr:pic>
      <cdr:nvPicPr>
        <cdr:cNvPr id="2" name="chart"/>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3438801" y="-894583"/>
          <a:ext cx="2483430" cy="659419"/>
        </a:xfrm>
        <a:prstGeom xmlns:a="http://schemas.openxmlformats.org/drawingml/2006/main" prst="rect">
          <a:avLst/>
        </a:prstGeom>
      </cdr:spPr>
    </cdr:pic>
  </cdr:relSizeAnchor>
  <cdr:relSizeAnchor xmlns:cdr="http://schemas.openxmlformats.org/drawingml/2006/chartDrawing">
    <cdr:from>
      <cdr:x>0.69624</cdr:x>
      <cdr:y>0.77117</cdr:y>
    </cdr:from>
    <cdr:to>
      <cdr:x>0.86952</cdr:x>
      <cdr:y>0.96526</cdr:y>
    </cdr:to>
    <cdr:pic>
      <cdr:nvPicPr>
        <cdr:cNvPr id="3" name="chart"/>
        <cdr:cNvPicPr>
          <a:picLocks xmlns:a="http://schemas.openxmlformats.org/drawingml/2006/main" noChangeAspect="1"/>
        </cdr:cNvPicPr>
      </cdr:nvPicPr>
      <cdr:blipFill>
        <a:blip xmlns:a="http://schemas.openxmlformats.org/drawingml/2006/main" xmlns:r="http://schemas.openxmlformats.org/officeDocument/2006/relationships" r:embed="rId2"/>
        <a:stretch xmlns:a="http://schemas.openxmlformats.org/drawingml/2006/main">
          <a:fillRect/>
        </a:stretch>
      </cdr:blipFill>
      <cdr:spPr>
        <a:xfrm xmlns:a="http://schemas.openxmlformats.org/drawingml/2006/main">
          <a:off x="6353174" y="4598824"/>
          <a:ext cx="1581151" cy="1157443"/>
        </a:xfrm>
        <a:prstGeom xmlns:a="http://schemas.openxmlformats.org/drawingml/2006/main" prst="rect">
          <a:avLst/>
        </a:prstGeom>
      </cdr:spPr>
    </cdr:pic>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6E31D14-1295-4313-A9F6-CF281DB353FD}"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32006-4B9E-41F0-8D99-EB020BD98110}" type="slidenum">
              <a:rPr lang="en-IN" smtClean="0"/>
              <a:t>‹#›</a:t>
            </a:fld>
            <a:endParaRPr lang="en-IN"/>
          </a:p>
        </p:txBody>
      </p:sp>
    </p:spTree>
    <p:extLst>
      <p:ext uri="{BB962C8B-B14F-4D97-AF65-F5344CB8AC3E}">
        <p14:creationId xmlns:p14="http://schemas.microsoft.com/office/powerpoint/2010/main" val="3035635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6E31D14-1295-4313-A9F6-CF281DB353FD}"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32006-4B9E-41F0-8D99-EB020BD98110}" type="slidenum">
              <a:rPr lang="en-IN" smtClean="0"/>
              <a:t>‹#›</a:t>
            </a:fld>
            <a:endParaRPr lang="en-IN"/>
          </a:p>
        </p:txBody>
      </p:sp>
    </p:spTree>
    <p:extLst>
      <p:ext uri="{BB962C8B-B14F-4D97-AF65-F5344CB8AC3E}">
        <p14:creationId xmlns:p14="http://schemas.microsoft.com/office/powerpoint/2010/main" val="1373660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6E31D14-1295-4313-A9F6-CF281DB353FD}"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32006-4B9E-41F0-8D99-EB020BD98110}" type="slidenum">
              <a:rPr lang="en-IN" smtClean="0"/>
              <a:t>‹#›</a:t>
            </a:fld>
            <a:endParaRPr lang="en-IN"/>
          </a:p>
        </p:txBody>
      </p:sp>
    </p:spTree>
    <p:extLst>
      <p:ext uri="{BB962C8B-B14F-4D97-AF65-F5344CB8AC3E}">
        <p14:creationId xmlns:p14="http://schemas.microsoft.com/office/powerpoint/2010/main" val="1251731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6E31D14-1295-4313-A9F6-CF281DB353FD}"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32006-4B9E-41F0-8D99-EB020BD98110}" type="slidenum">
              <a:rPr lang="en-IN" smtClean="0"/>
              <a:t>‹#›</a:t>
            </a:fld>
            <a:endParaRPr lang="en-IN"/>
          </a:p>
        </p:txBody>
      </p:sp>
    </p:spTree>
    <p:extLst>
      <p:ext uri="{BB962C8B-B14F-4D97-AF65-F5344CB8AC3E}">
        <p14:creationId xmlns:p14="http://schemas.microsoft.com/office/powerpoint/2010/main" val="4167096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6E31D14-1295-4313-A9F6-CF281DB353FD}" type="datetimeFigureOut">
              <a:rPr lang="en-IN" smtClean="0"/>
              <a:t>03-08-2026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32006-4B9E-41F0-8D99-EB020BD98110}" type="slidenum">
              <a:rPr lang="en-IN" smtClean="0"/>
              <a:t>‹#›</a:t>
            </a:fld>
            <a:endParaRPr lang="en-IN"/>
          </a:p>
        </p:txBody>
      </p:sp>
    </p:spTree>
    <p:extLst>
      <p:ext uri="{BB962C8B-B14F-4D97-AF65-F5344CB8AC3E}">
        <p14:creationId xmlns:p14="http://schemas.microsoft.com/office/powerpoint/2010/main" val="1252682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6E31D14-1295-4313-A9F6-CF281DB353FD}" type="datetimeFigureOut">
              <a:rPr lang="en-IN" smtClean="0"/>
              <a:t>03-08-2026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32006-4B9E-41F0-8D99-EB020BD98110}" type="slidenum">
              <a:rPr lang="en-IN" smtClean="0"/>
              <a:t>‹#›</a:t>
            </a:fld>
            <a:endParaRPr lang="en-IN"/>
          </a:p>
        </p:txBody>
      </p:sp>
    </p:spTree>
    <p:extLst>
      <p:ext uri="{BB962C8B-B14F-4D97-AF65-F5344CB8AC3E}">
        <p14:creationId xmlns:p14="http://schemas.microsoft.com/office/powerpoint/2010/main" val="752397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E31D14-1295-4313-A9F6-CF281DB353FD}" type="datetimeFigureOut">
              <a:rPr lang="en-IN" smtClean="0"/>
              <a:t>03-08-2026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32006-4B9E-41F0-8D99-EB020BD98110}" type="slidenum">
              <a:rPr lang="en-IN" smtClean="0"/>
              <a:t>‹#›</a:t>
            </a:fld>
            <a:endParaRPr lang="en-IN"/>
          </a:p>
        </p:txBody>
      </p:sp>
    </p:spTree>
    <p:extLst>
      <p:ext uri="{BB962C8B-B14F-4D97-AF65-F5344CB8AC3E}">
        <p14:creationId xmlns:p14="http://schemas.microsoft.com/office/powerpoint/2010/main" val="4171519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6E31D14-1295-4313-A9F6-CF281DB353FD}"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32006-4B9E-41F0-8D99-EB020BD98110}" type="slidenum">
              <a:rPr lang="en-IN" smtClean="0"/>
              <a:t>‹#›</a:t>
            </a:fld>
            <a:endParaRPr lang="en-IN"/>
          </a:p>
        </p:txBody>
      </p:sp>
    </p:spTree>
    <p:extLst>
      <p:ext uri="{BB962C8B-B14F-4D97-AF65-F5344CB8AC3E}">
        <p14:creationId xmlns:p14="http://schemas.microsoft.com/office/powerpoint/2010/main" val="3275007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6E31D14-1295-4313-A9F6-CF281DB353FD}"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32006-4B9E-41F0-8D99-EB020BD98110}" type="slidenum">
              <a:rPr lang="en-IN" smtClean="0"/>
              <a:t>‹#›</a:t>
            </a:fld>
            <a:endParaRPr lang="en-IN"/>
          </a:p>
        </p:txBody>
      </p:sp>
    </p:spTree>
    <p:extLst>
      <p:ext uri="{BB962C8B-B14F-4D97-AF65-F5344CB8AC3E}">
        <p14:creationId xmlns:p14="http://schemas.microsoft.com/office/powerpoint/2010/main" val="1435785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6E31D14-1295-4313-A9F6-CF281DB353FD}"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32006-4B9E-41F0-8D99-EB020BD98110}" type="slidenum">
              <a:rPr lang="en-IN" smtClean="0"/>
              <a:t>‹#›</a:t>
            </a:fld>
            <a:endParaRPr lang="en-IN"/>
          </a:p>
        </p:txBody>
      </p:sp>
    </p:spTree>
    <p:extLst>
      <p:ext uri="{BB962C8B-B14F-4D97-AF65-F5344CB8AC3E}">
        <p14:creationId xmlns:p14="http://schemas.microsoft.com/office/powerpoint/2010/main" val="1342757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6E31D14-1295-4313-A9F6-CF281DB353FD}"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32006-4B9E-41F0-8D99-EB020BD98110}" type="slidenum">
              <a:rPr lang="en-IN" smtClean="0"/>
              <a:t>‹#›</a:t>
            </a:fld>
            <a:endParaRPr lang="en-IN"/>
          </a:p>
        </p:txBody>
      </p:sp>
    </p:spTree>
    <p:extLst>
      <p:ext uri="{BB962C8B-B14F-4D97-AF65-F5344CB8AC3E}">
        <p14:creationId xmlns:p14="http://schemas.microsoft.com/office/powerpoint/2010/main" val="2307115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E31D14-1295-4313-A9F6-CF281DB353FD}" type="datetimeFigureOut">
              <a:rPr lang="en-IN" smtClean="0"/>
              <a:t>03-08-2026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32006-4B9E-41F0-8D99-EB020BD98110}" type="slidenum">
              <a:rPr lang="en-IN" smtClean="0"/>
              <a:t>‹#›</a:t>
            </a:fld>
            <a:endParaRPr lang="en-IN"/>
          </a:p>
        </p:txBody>
      </p:sp>
    </p:spTree>
    <p:extLst>
      <p:ext uri="{BB962C8B-B14F-4D97-AF65-F5344CB8AC3E}">
        <p14:creationId xmlns:p14="http://schemas.microsoft.com/office/powerpoint/2010/main" val="102689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wellness-centre-project.vercel.app/"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ellness-centre-project.vercel.app/" TargetMode="External"/><Relationship Id="rId2" Type="http://schemas.openxmlformats.org/officeDocument/2006/relationships/hyperlink" Target="https://psychology-symantec-bulletin-envelope.trycloudflare.com/"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hart"/>
          <p:cNvPicPr>
            <a:picLocks noChangeAspect="1"/>
          </p:cNvPicPr>
          <p:nvPr/>
        </p:nvPicPr>
        <p:blipFill>
          <a:blip r:embed="rId2"/>
          <a:stretch>
            <a:fillRect/>
          </a:stretch>
        </p:blipFill>
        <p:spPr>
          <a:xfrm>
            <a:off x="4422188" y="-90492"/>
            <a:ext cx="3182388" cy="640135"/>
          </a:xfrm>
          <a:prstGeom prst="rect">
            <a:avLst/>
          </a:prstGeom>
        </p:spPr>
      </p:pic>
      <p:sp>
        <p:nvSpPr>
          <p:cNvPr id="5" name="Rectangle 4"/>
          <p:cNvSpPr/>
          <p:nvPr/>
        </p:nvSpPr>
        <p:spPr>
          <a:xfrm>
            <a:off x="1653925" y="2705793"/>
            <a:ext cx="8718915" cy="1200329"/>
          </a:xfrm>
          <a:prstGeom prst="rect">
            <a:avLst/>
          </a:prstGeom>
        </p:spPr>
        <p:txBody>
          <a:bodyPr wrap="square">
            <a:spAutoFit/>
          </a:bodyPr>
          <a:lstStyle/>
          <a:p>
            <a:pPr lvl="0" algn="ctr">
              <a:lnSpc>
                <a:spcPct val="90000"/>
              </a:lnSpc>
            </a:pPr>
            <a:r>
              <a:rPr lang="en-IN" sz="4000" b="1" dirty="0" smtClean="0">
                <a:solidFill>
                  <a:srgbClr val="FF0000"/>
                </a:solidFill>
                <a:ea typeface="Calibri"/>
                <a:cs typeface="Calibri"/>
                <a:sym typeface="Calibri"/>
              </a:rPr>
              <a:t>Monthly  Wellness Data</a:t>
            </a:r>
          </a:p>
          <a:p>
            <a:pPr lvl="0" algn="ctr">
              <a:lnSpc>
                <a:spcPct val="90000"/>
              </a:lnSpc>
            </a:pPr>
            <a:r>
              <a:rPr lang="en-US" sz="4000" b="1" dirty="0" smtClean="0">
                <a:solidFill>
                  <a:srgbClr val="FF0000"/>
                </a:solidFill>
                <a:ea typeface="Calibri"/>
                <a:cs typeface="Calibri"/>
                <a:sym typeface="Calibri"/>
              </a:rPr>
              <a:t>JULY 2026</a:t>
            </a:r>
          </a:p>
        </p:txBody>
      </p:sp>
    </p:spTree>
    <p:extLst>
      <p:ext uri="{BB962C8B-B14F-4D97-AF65-F5344CB8AC3E}">
        <p14:creationId xmlns:p14="http://schemas.microsoft.com/office/powerpoint/2010/main" val="31434726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hart"/>
          <p:cNvPicPr>
            <a:picLocks noChangeAspect="1"/>
          </p:cNvPicPr>
          <p:nvPr/>
        </p:nvPicPr>
        <p:blipFill>
          <a:blip r:embed="rId2"/>
          <a:stretch>
            <a:fillRect/>
          </a:stretch>
        </p:blipFill>
        <p:spPr>
          <a:xfrm>
            <a:off x="4504806" y="-98959"/>
            <a:ext cx="3182388" cy="640135"/>
          </a:xfrm>
          <a:prstGeom prst="rect">
            <a:avLst/>
          </a:prstGeom>
        </p:spPr>
      </p:pic>
      <p:pic>
        <p:nvPicPr>
          <p:cNvPr id="2" name="Picture 1"/>
          <p:cNvPicPr>
            <a:picLocks noChangeAspect="1"/>
          </p:cNvPicPr>
          <p:nvPr/>
        </p:nvPicPr>
        <p:blipFill>
          <a:blip r:embed="rId3"/>
          <a:stretch>
            <a:fillRect/>
          </a:stretch>
        </p:blipFill>
        <p:spPr>
          <a:xfrm>
            <a:off x="0" y="541176"/>
            <a:ext cx="12192000" cy="5314006"/>
          </a:xfrm>
          <a:prstGeom prst="rect">
            <a:avLst/>
          </a:prstGeom>
        </p:spPr>
      </p:pic>
    </p:spTree>
    <p:extLst>
      <p:ext uri="{BB962C8B-B14F-4D97-AF65-F5344CB8AC3E}">
        <p14:creationId xmlns:p14="http://schemas.microsoft.com/office/powerpoint/2010/main" val="3097352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56030" y="897844"/>
            <a:ext cx="6096000" cy="738664"/>
          </a:xfrm>
          <a:prstGeom prst="rect">
            <a:avLst/>
          </a:prstGeom>
        </p:spPr>
        <p:txBody>
          <a:bodyPr>
            <a:spAutoFit/>
          </a:bodyPr>
          <a:lstStyle/>
          <a:p>
            <a:pPr algn="ctr">
              <a:defRPr sz="1400" b="1" i="0" u="none" strike="noStrike" kern="1200" spc="0" baseline="0">
                <a:solidFill>
                  <a:prstClr val="black"/>
                </a:solidFill>
                <a:latin typeface="+mn-lt"/>
                <a:ea typeface="+mn-ea"/>
                <a:cs typeface="+mn-cs"/>
              </a:defRPr>
            </a:pPr>
            <a:r>
              <a:rPr lang="en-IN" dirty="0" smtClean="0">
                <a:solidFill>
                  <a:srgbClr val="FF0000"/>
                </a:solidFill>
              </a:rPr>
              <a:t>VERTICALS </a:t>
            </a:r>
            <a:endParaRPr lang="en-IN" dirty="0">
              <a:solidFill>
                <a:srgbClr val="FF0000"/>
              </a:solidFill>
            </a:endParaRPr>
          </a:p>
          <a:p>
            <a:pPr algn="ctr">
              <a:defRPr sz="1400" b="1" i="0" u="none" strike="noStrike" kern="1200" spc="0" baseline="0">
                <a:solidFill>
                  <a:prstClr val="black"/>
                </a:solidFill>
                <a:latin typeface="+mn-lt"/>
                <a:ea typeface="+mn-ea"/>
                <a:cs typeface="+mn-cs"/>
              </a:defRPr>
            </a:pPr>
            <a:r>
              <a:rPr lang="en-IN" dirty="0" smtClean="0">
                <a:solidFill>
                  <a:srgbClr val="FF0000"/>
                </a:solidFill>
              </a:rPr>
              <a:t>TOTAL</a:t>
            </a:r>
          </a:p>
          <a:p>
            <a:pPr algn="ctr">
              <a:defRPr sz="1400" b="1" i="0" u="none" strike="noStrike" kern="1200" spc="0" baseline="0">
                <a:solidFill>
                  <a:prstClr val="black"/>
                </a:solidFill>
                <a:latin typeface="+mn-lt"/>
                <a:ea typeface="+mn-ea"/>
                <a:cs typeface="+mn-cs"/>
              </a:defRPr>
            </a:pPr>
            <a:r>
              <a:rPr lang="en-IN" dirty="0" smtClean="0">
                <a:solidFill>
                  <a:srgbClr val="FF0000"/>
                </a:solidFill>
              </a:rPr>
              <a:t>JULY 2026</a:t>
            </a:r>
            <a:endParaRPr lang="en-IN" dirty="0">
              <a:solidFill>
                <a:srgbClr val="FF0000"/>
              </a:solidFill>
            </a:endParaRPr>
          </a:p>
        </p:txBody>
      </p:sp>
      <p:sp>
        <p:nvSpPr>
          <p:cNvPr id="4" name="Rectangle 3">
            <a:extLst>
              <a:ext uri="{FF2B5EF4-FFF2-40B4-BE49-F238E27FC236}">
                <a16:creationId xmlns:a16="http://schemas.microsoft.com/office/drawing/2014/main" id="{FFE421C3-2780-4774-9E05-31A8A25F33CA}"/>
              </a:ext>
            </a:extLst>
          </p:cNvPr>
          <p:cNvSpPr/>
          <p:nvPr/>
        </p:nvSpPr>
        <p:spPr>
          <a:xfrm>
            <a:off x="3187700" y="0"/>
            <a:ext cx="5978330" cy="6463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4000" b="1" dirty="0">
                <a:solidFill>
                  <a:srgbClr val="FF0000"/>
                </a:solidFill>
                <a:latin typeface="Calibri"/>
                <a:ea typeface="Calibri"/>
                <a:cs typeface="Calibri"/>
                <a:sym typeface="Calibri"/>
              </a:rPr>
              <a:t>Wellness Data- Report</a:t>
            </a:r>
          </a:p>
        </p:txBody>
      </p:sp>
      <p:graphicFrame>
        <p:nvGraphicFramePr>
          <p:cNvPr id="6" name="Chart 5"/>
          <p:cNvGraphicFramePr>
            <a:graphicFrameLocks/>
          </p:cNvGraphicFramePr>
          <p:nvPr>
            <p:extLst>
              <p:ext uri="{D42A27DB-BD31-4B8C-83A1-F6EECF244321}">
                <p14:modId xmlns:p14="http://schemas.microsoft.com/office/powerpoint/2010/main" val="38660204"/>
              </p:ext>
            </p:extLst>
          </p:nvPr>
        </p:nvGraphicFramePr>
        <p:xfrm>
          <a:off x="-2581275" y="1514474"/>
          <a:ext cx="9867899" cy="573405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a:graphicFrameLocks/>
          </p:cNvGraphicFramePr>
          <p:nvPr>
            <p:extLst>
              <p:ext uri="{D42A27DB-BD31-4B8C-83A1-F6EECF244321}">
                <p14:modId xmlns:p14="http://schemas.microsoft.com/office/powerpoint/2010/main" val="4494526"/>
              </p:ext>
            </p:extLst>
          </p:nvPr>
        </p:nvGraphicFramePr>
        <p:xfrm>
          <a:off x="4454737" y="1525716"/>
          <a:ext cx="8508787" cy="48369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p:cNvGraphicFramePr>
            <a:graphicFrameLocks/>
          </p:cNvGraphicFramePr>
          <p:nvPr>
            <p:extLst>
              <p:ext uri="{D42A27DB-BD31-4B8C-83A1-F6EECF244321}">
                <p14:modId xmlns:p14="http://schemas.microsoft.com/office/powerpoint/2010/main" val="1512035473"/>
              </p:ext>
            </p:extLst>
          </p:nvPr>
        </p:nvGraphicFramePr>
        <p:xfrm>
          <a:off x="166590" y="1440894"/>
          <a:ext cx="12020550" cy="541710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8168306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421C3-2780-4774-9E05-31A8A25F33CA}"/>
              </a:ext>
            </a:extLst>
          </p:cNvPr>
          <p:cNvSpPr/>
          <p:nvPr/>
        </p:nvSpPr>
        <p:spPr>
          <a:xfrm>
            <a:off x="3507580" y="132818"/>
            <a:ext cx="5978330" cy="6463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4000" b="1" dirty="0">
                <a:solidFill>
                  <a:srgbClr val="FF0000"/>
                </a:solidFill>
                <a:latin typeface="Calibri"/>
                <a:ea typeface="Calibri"/>
                <a:cs typeface="Calibri"/>
                <a:sym typeface="Calibri"/>
              </a:rPr>
              <a:t>Wellness Data- Report</a:t>
            </a:r>
          </a:p>
        </p:txBody>
      </p:sp>
      <p:sp>
        <p:nvSpPr>
          <p:cNvPr id="4" name="Rectangle 3"/>
          <p:cNvSpPr/>
          <p:nvPr/>
        </p:nvSpPr>
        <p:spPr>
          <a:xfrm>
            <a:off x="304799" y="928455"/>
            <a:ext cx="6096000" cy="523220"/>
          </a:xfrm>
          <a:prstGeom prst="rect">
            <a:avLst/>
          </a:prstGeom>
        </p:spPr>
        <p:txBody>
          <a:bodyPr>
            <a:spAutoFit/>
          </a:bodyPr>
          <a:lstStyle/>
          <a:p>
            <a:pPr algn="ctr">
              <a:defRPr sz="1400" b="1" i="0" u="none" strike="noStrike" kern="1200" spc="0" baseline="0">
                <a:solidFill>
                  <a:prstClr val="black"/>
                </a:solidFill>
                <a:latin typeface="+mn-lt"/>
                <a:ea typeface="+mn-ea"/>
                <a:cs typeface="+mn-cs"/>
              </a:defRPr>
            </a:pPr>
            <a:r>
              <a:rPr lang="en-IN" dirty="0" smtClean="0">
                <a:solidFill>
                  <a:srgbClr val="FF0000"/>
                </a:solidFill>
              </a:rPr>
              <a:t>VERTICALS NEW CASES </a:t>
            </a:r>
            <a:endParaRPr lang="en-IN" dirty="0">
              <a:solidFill>
                <a:srgbClr val="FF0000"/>
              </a:solidFill>
            </a:endParaRPr>
          </a:p>
          <a:p>
            <a:pPr algn="ctr">
              <a:defRPr sz="1400" b="1" i="0" u="none" strike="noStrike" kern="1200" spc="0" baseline="0">
                <a:solidFill>
                  <a:prstClr val="black"/>
                </a:solidFill>
                <a:latin typeface="+mn-lt"/>
                <a:ea typeface="+mn-ea"/>
                <a:cs typeface="+mn-cs"/>
              </a:defRPr>
            </a:pPr>
            <a:r>
              <a:rPr lang="en-IN" dirty="0" smtClean="0">
                <a:solidFill>
                  <a:srgbClr val="FF0000"/>
                </a:solidFill>
              </a:rPr>
              <a:t>JULY 2026</a:t>
            </a:r>
            <a:endParaRPr lang="en-IN" dirty="0">
              <a:solidFill>
                <a:srgbClr val="FF0000"/>
              </a:solidFill>
            </a:endParaRPr>
          </a:p>
        </p:txBody>
      </p:sp>
      <p:graphicFrame>
        <p:nvGraphicFramePr>
          <p:cNvPr id="6" name="Chart 5"/>
          <p:cNvGraphicFramePr>
            <a:graphicFrameLocks/>
          </p:cNvGraphicFramePr>
          <p:nvPr>
            <p:extLst>
              <p:ext uri="{D42A27DB-BD31-4B8C-83A1-F6EECF244321}">
                <p14:modId xmlns:p14="http://schemas.microsoft.com/office/powerpoint/2010/main" val="152414254"/>
              </p:ext>
            </p:extLst>
          </p:nvPr>
        </p:nvGraphicFramePr>
        <p:xfrm>
          <a:off x="1233486" y="1567109"/>
          <a:ext cx="4548189" cy="457693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a:graphicFrameLocks/>
          </p:cNvGraphicFramePr>
          <p:nvPr>
            <p:extLst>
              <p:ext uri="{D42A27DB-BD31-4B8C-83A1-F6EECF244321}">
                <p14:modId xmlns:p14="http://schemas.microsoft.com/office/powerpoint/2010/main" val="2933539577"/>
              </p:ext>
            </p:extLst>
          </p:nvPr>
        </p:nvGraphicFramePr>
        <p:xfrm>
          <a:off x="4133851" y="894583"/>
          <a:ext cx="9124950" cy="596341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812229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E421C3-2780-4774-9E05-31A8A25F33CA}"/>
              </a:ext>
            </a:extLst>
          </p:cNvPr>
          <p:cNvSpPr/>
          <p:nvPr/>
        </p:nvSpPr>
        <p:spPr>
          <a:xfrm>
            <a:off x="3667319" y="115421"/>
            <a:ext cx="5978330" cy="6463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4000" b="1" dirty="0">
                <a:solidFill>
                  <a:srgbClr val="FF0000"/>
                </a:solidFill>
                <a:latin typeface="Calibri"/>
                <a:ea typeface="Calibri"/>
                <a:cs typeface="Calibri"/>
                <a:sym typeface="Calibri"/>
              </a:rPr>
              <a:t>Wellness Data- Report</a:t>
            </a:r>
          </a:p>
        </p:txBody>
      </p:sp>
      <p:sp>
        <p:nvSpPr>
          <p:cNvPr id="3" name="Rectangle 2"/>
          <p:cNvSpPr/>
          <p:nvPr/>
        </p:nvSpPr>
        <p:spPr>
          <a:xfrm>
            <a:off x="560484" y="1216464"/>
            <a:ext cx="6096000" cy="523220"/>
          </a:xfrm>
          <a:prstGeom prst="rect">
            <a:avLst/>
          </a:prstGeom>
        </p:spPr>
        <p:txBody>
          <a:bodyPr>
            <a:spAutoFit/>
          </a:bodyPr>
          <a:lstStyle/>
          <a:p>
            <a:pPr algn="ctr">
              <a:defRPr sz="1400" b="1" i="0" u="none" strike="noStrike" kern="1200" spc="0" baseline="0">
                <a:solidFill>
                  <a:prstClr val="black"/>
                </a:solidFill>
                <a:latin typeface="+mn-lt"/>
                <a:ea typeface="+mn-ea"/>
                <a:cs typeface="+mn-cs"/>
              </a:defRPr>
            </a:pPr>
            <a:r>
              <a:rPr lang="en-IN" dirty="0" smtClean="0">
                <a:solidFill>
                  <a:srgbClr val="FF0000"/>
                </a:solidFill>
              </a:rPr>
              <a:t>VERTICALS NEW CASES – GENDER DISTRIBUTION </a:t>
            </a:r>
            <a:endParaRPr lang="en-IN" dirty="0">
              <a:solidFill>
                <a:srgbClr val="FF0000"/>
              </a:solidFill>
            </a:endParaRPr>
          </a:p>
          <a:p>
            <a:pPr algn="ctr">
              <a:defRPr sz="1400" b="1" i="0" u="none" strike="noStrike" kern="1200" spc="0" baseline="0">
                <a:solidFill>
                  <a:prstClr val="black"/>
                </a:solidFill>
                <a:latin typeface="+mn-lt"/>
                <a:ea typeface="+mn-ea"/>
                <a:cs typeface="+mn-cs"/>
              </a:defRPr>
            </a:pPr>
            <a:r>
              <a:rPr lang="en-IN" dirty="0" smtClean="0">
                <a:solidFill>
                  <a:srgbClr val="FF0000"/>
                </a:solidFill>
              </a:rPr>
              <a:t>JULY 2026</a:t>
            </a:r>
            <a:endParaRPr lang="en-IN" dirty="0">
              <a:solidFill>
                <a:srgbClr val="FF0000"/>
              </a:solidFill>
            </a:endParaRPr>
          </a:p>
        </p:txBody>
      </p:sp>
      <p:sp>
        <p:nvSpPr>
          <p:cNvPr id="4" name="AutoShape 2" descr="Generated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12389"/>
          <a:stretch/>
        </p:blipFill>
        <p:spPr>
          <a:xfrm>
            <a:off x="198535" y="2505075"/>
            <a:ext cx="6457949" cy="3771899"/>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12376"/>
          <a:stretch/>
        </p:blipFill>
        <p:spPr>
          <a:xfrm>
            <a:off x="5295899" y="2435224"/>
            <a:ext cx="6696075" cy="3911600"/>
          </a:xfrm>
          <a:prstGeom prst="rect">
            <a:avLst/>
          </a:prstGeom>
        </p:spPr>
      </p:pic>
      <p:sp>
        <p:nvSpPr>
          <p:cNvPr id="7" name="Rectangle 6"/>
          <p:cNvSpPr/>
          <p:nvPr/>
        </p:nvSpPr>
        <p:spPr>
          <a:xfrm>
            <a:off x="5595937" y="1203978"/>
            <a:ext cx="6096000" cy="523220"/>
          </a:xfrm>
          <a:prstGeom prst="rect">
            <a:avLst/>
          </a:prstGeom>
        </p:spPr>
        <p:txBody>
          <a:bodyPr>
            <a:spAutoFit/>
          </a:bodyPr>
          <a:lstStyle/>
          <a:p>
            <a:pPr algn="ctr">
              <a:defRPr sz="1400" b="1" i="0" u="none" strike="noStrike" kern="1200" spc="0" baseline="0">
                <a:solidFill>
                  <a:prstClr val="black"/>
                </a:solidFill>
                <a:latin typeface="+mn-lt"/>
                <a:ea typeface="+mn-ea"/>
                <a:cs typeface="+mn-cs"/>
              </a:defRPr>
            </a:pPr>
            <a:r>
              <a:rPr lang="en-IN" dirty="0" smtClean="0">
                <a:solidFill>
                  <a:srgbClr val="FF0000"/>
                </a:solidFill>
              </a:rPr>
              <a:t>VERTICALS FOLLOWUP </a:t>
            </a:r>
            <a:r>
              <a:rPr lang="en-IN" dirty="0">
                <a:solidFill>
                  <a:srgbClr val="FF0000"/>
                </a:solidFill>
              </a:rPr>
              <a:t>CASES </a:t>
            </a:r>
          </a:p>
          <a:p>
            <a:pPr algn="ctr">
              <a:defRPr sz="1400" b="1" i="0" u="none" strike="noStrike" kern="1200" spc="0" baseline="0">
                <a:solidFill>
                  <a:prstClr val="black"/>
                </a:solidFill>
                <a:latin typeface="+mn-lt"/>
                <a:ea typeface="+mn-ea"/>
                <a:cs typeface="+mn-cs"/>
              </a:defRPr>
            </a:pPr>
            <a:r>
              <a:rPr lang="en-IN" dirty="0" smtClean="0">
                <a:solidFill>
                  <a:srgbClr val="FF0000"/>
                </a:solidFill>
              </a:rPr>
              <a:t>JULY 2026</a:t>
            </a:r>
            <a:endParaRPr lang="en-IN" dirty="0">
              <a:solidFill>
                <a:srgbClr val="FF0000"/>
              </a:solidFill>
            </a:endParaRPr>
          </a:p>
        </p:txBody>
      </p:sp>
      <p:pic>
        <p:nvPicPr>
          <p:cNvPr id="9" name="chart"/>
          <p:cNvPicPr>
            <a:picLocks noChangeAspect="1"/>
          </p:cNvPicPr>
          <p:nvPr/>
        </p:nvPicPr>
        <p:blipFill>
          <a:blip r:embed="rId4"/>
          <a:stretch>
            <a:fillRect/>
          </a:stretch>
        </p:blipFill>
        <p:spPr>
          <a:xfrm>
            <a:off x="10502672" y="5305425"/>
            <a:ext cx="1422627" cy="1041399"/>
          </a:xfrm>
          <a:prstGeom prst="rect">
            <a:avLst/>
          </a:prstGeom>
        </p:spPr>
      </p:pic>
    </p:spTree>
    <p:extLst>
      <p:ext uri="{BB962C8B-B14F-4D97-AF65-F5344CB8AC3E}">
        <p14:creationId xmlns:p14="http://schemas.microsoft.com/office/powerpoint/2010/main" val="29317427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E421C3-2780-4774-9E05-31A8A25F33CA}"/>
              </a:ext>
            </a:extLst>
          </p:cNvPr>
          <p:cNvSpPr/>
          <p:nvPr/>
        </p:nvSpPr>
        <p:spPr>
          <a:xfrm>
            <a:off x="198535" y="166691"/>
            <a:ext cx="5978330" cy="6463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4000" b="1" dirty="0">
                <a:solidFill>
                  <a:srgbClr val="FF0000"/>
                </a:solidFill>
                <a:latin typeface="Calibri"/>
                <a:ea typeface="Calibri"/>
                <a:cs typeface="Calibri"/>
                <a:sym typeface="Calibri"/>
              </a:rPr>
              <a:t>Wellness Data- Report</a:t>
            </a:r>
          </a:p>
        </p:txBody>
      </p:sp>
      <p:sp>
        <p:nvSpPr>
          <p:cNvPr id="3" name="Rectangle 2"/>
          <p:cNvSpPr/>
          <p:nvPr/>
        </p:nvSpPr>
        <p:spPr>
          <a:xfrm>
            <a:off x="-266700" y="813022"/>
            <a:ext cx="6096000" cy="523220"/>
          </a:xfrm>
          <a:prstGeom prst="rect">
            <a:avLst/>
          </a:prstGeom>
        </p:spPr>
        <p:txBody>
          <a:bodyPr>
            <a:spAutoFit/>
          </a:bodyPr>
          <a:lstStyle/>
          <a:p>
            <a:pPr algn="ctr">
              <a:defRPr sz="1400" b="1" i="0" u="none" strike="noStrike" kern="1200" spc="0" baseline="0">
                <a:solidFill>
                  <a:prstClr val="black"/>
                </a:solidFill>
                <a:latin typeface="+mn-lt"/>
                <a:ea typeface="+mn-ea"/>
                <a:cs typeface="+mn-cs"/>
              </a:defRPr>
            </a:pPr>
            <a:r>
              <a:rPr lang="en-IN" dirty="0" smtClean="0">
                <a:solidFill>
                  <a:srgbClr val="FF0000"/>
                </a:solidFill>
              </a:rPr>
              <a:t>MODE OF SESSION – NEW CASES</a:t>
            </a:r>
            <a:endParaRPr lang="en-IN" dirty="0">
              <a:solidFill>
                <a:srgbClr val="FF0000"/>
              </a:solidFill>
            </a:endParaRPr>
          </a:p>
          <a:p>
            <a:pPr algn="ctr">
              <a:defRPr sz="1400" b="1" i="0" u="none" strike="noStrike" kern="1200" spc="0" baseline="0">
                <a:solidFill>
                  <a:prstClr val="black"/>
                </a:solidFill>
                <a:latin typeface="+mn-lt"/>
                <a:ea typeface="+mn-ea"/>
                <a:cs typeface="+mn-cs"/>
              </a:defRPr>
            </a:pPr>
            <a:r>
              <a:rPr lang="en-IN" dirty="0" smtClean="0">
                <a:solidFill>
                  <a:srgbClr val="FF0000"/>
                </a:solidFill>
              </a:rPr>
              <a:t>JULY 2026</a:t>
            </a:r>
            <a:endParaRPr lang="en-IN" dirty="0">
              <a:solidFill>
                <a:srgbClr val="FF0000"/>
              </a:solidFill>
            </a:endParaRPr>
          </a:p>
        </p:txBody>
      </p:sp>
      <p:sp>
        <p:nvSpPr>
          <p:cNvPr id="4" name="Rectangle 3"/>
          <p:cNvSpPr/>
          <p:nvPr/>
        </p:nvSpPr>
        <p:spPr>
          <a:xfrm>
            <a:off x="5686425" y="813022"/>
            <a:ext cx="6096000" cy="523220"/>
          </a:xfrm>
          <a:prstGeom prst="rect">
            <a:avLst/>
          </a:prstGeom>
        </p:spPr>
        <p:txBody>
          <a:bodyPr>
            <a:spAutoFit/>
          </a:bodyPr>
          <a:lstStyle/>
          <a:p>
            <a:pPr algn="ctr">
              <a:defRPr sz="1400" b="1" i="0" u="none" strike="noStrike" kern="1200" spc="0" baseline="0">
                <a:solidFill>
                  <a:prstClr val="black"/>
                </a:solidFill>
                <a:latin typeface="+mn-lt"/>
                <a:ea typeface="+mn-ea"/>
                <a:cs typeface="+mn-cs"/>
              </a:defRPr>
            </a:pPr>
            <a:r>
              <a:rPr lang="en-IN" dirty="0" smtClean="0">
                <a:solidFill>
                  <a:srgbClr val="FF0000"/>
                </a:solidFill>
              </a:rPr>
              <a:t>MODE OF SESSION – FOLLOW UP CASES</a:t>
            </a:r>
            <a:endParaRPr lang="en-IN" dirty="0">
              <a:solidFill>
                <a:srgbClr val="FF0000"/>
              </a:solidFill>
            </a:endParaRPr>
          </a:p>
          <a:p>
            <a:pPr algn="ctr">
              <a:defRPr sz="1400" b="1" i="0" u="none" strike="noStrike" kern="1200" spc="0" baseline="0">
                <a:solidFill>
                  <a:prstClr val="black"/>
                </a:solidFill>
                <a:latin typeface="+mn-lt"/>
                <a:ea typeface="+mn-ea"/>
                <a:cs typeface="+mn-cs"/>
              </a:defRPr>
            </a:pPr>
            <a:r>
              <a:rPr lang="en-IN" dirty="0" smtClean="0">
                <a:solidFill>
                  <a:srgbClr val="FF0000"/>
                </a:solidFill>
              </a:rPr>
              <a:t>JULY 2026</a:t>
            </a:r>
            <a:endParaRPr lang="en-IN" dirty="0">
              <a:solidFill>
                <a:srgbClr val="FF0000"/>
              </a:solidFill>
            </a:endParaRP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22963" t="12084" r="22685" b="5138"/>
          <a:stretch/>
        </p:blipFill>
        <p:spPr>
          <a:xfrm>
            <a:off x="428625" y="1714500"/>
            <a:ext cx="4762500" cy="4835520"/>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12500"/>
          <a:stretch/>
        </p:blipFill>
        <p:spPr>
          <a:xfrm>
            <a:off x="5591175" y="1714500"/>
            <a:ext cx="5876925" cy="5142309"/>
          </a:xfrm>
          <a:prstGeom prst="rect">
            <a:avLst/>
          </a:prstGeom>
        </p:spPr>
      </p:pic>
      <p:pic>
        <p:nvPicPr>
          <p:cNvPr id="7" name="chart"/>
          <p:cNvPicPr>
            <a:picLocks noChangeAspect="1"/>
          </p:cNvPicPr>
          <p:nvPr/>
        </p:nvPicPr>
        <p:blipFill>
          <a:blip r:embed="rId4"/>
          <a:stretch>
            <a:fillRect/>
          </a:stretch>
        </p:blipFill>
        <p:spPr>
          <a:xfrm>
            <a:off x="10563225" y="5400925"/>
            <a:ext cx="1466851" cy="1073772"/>
          </a:xfrm>
          <a:prstGeom prst="rect">
            <a:avLst/>
          </a:prstGeom>
        </p:spPr>
      </p:pic>
    </p:spTree>
    <p:extLst>
      <p:ext uri="{BB962C8B-B14F-4D97-AF65-F5344CB8AC3E}">
        <p14:creationId xmlns:p14="http://schemas.microsoft.com/office/powerpoint/2010/main" val="1940649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FE421C3-2780-4774-9E05-31A8A25F33CA}"/>
              </a:ext>
            </a:extLst>
          </p:cNvPr>
          <p:cNvSpPr/>
          <p:nvPr/>
        </p:nvSpPr>
        <p:spPr>
          <a:xfrm>
            <a:off x="77236" y="0"/>
            <a:ext cx="11133689" cy="6463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4000" b="1" dirty="0">
                <a:solidFill>
                  <a:srgbClr val="FF0000"/>
                </a:solidFill>
                <a:latin typeface="Calibri"/>
                <a:ea typeface="Calibri"/>
                <a:cs typeface="Calibri"/>
                <a:sym typeface="Calibri"/>
              </a:rPr>
              <a:t>Wellness Data- </a:t>
            </a:r>
            <a:r>
              <a:rPr lang="en-IN" sz="4000" b="1" dirty="0" smtClean="0">
                <a:solidFill>
                  <a:srgbClr val="FF0000"/>
                </a:solidFill>
                <a:latin typeface="Calibri"/>
                <a:ea typeface="Calibri"/>
                <a:cs typeface="Calibri"/>
                <a:sym typeface="Calibri"/>
              </a:rPr>
              <a:t>Report – REFERALS – JULY 2026</a:t>
            </a:r>
            <a:endParaRPr lang="en-IN" sz="4000" b="1" dirty="0">
              <a:solidFill>
                <a:srgbClr val="FF0000"/>
              </a:solidFill>
              <a:latin typeface="Calibri"/>
              <a:ea typeface="Calibri"/>
              <a:cs typeface="Calibri"/>
              <a:sym typeface="Calibri"/>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1528"/>
          <a:stretch/>
        </p:blipFill>
        <p:spPr>
          <a:xfrm>
            <a:off x="2667000" y="790574"/>
            <a:ext cx="6858000" cy="6067425"/>
          </a:xfrm>
          <a:prstGeom prst="rect">
            <a:avLst/>
          </a:prstGeom>
        </p:spPr>
      </p:pic>
    </p:spTree>
    <p:extLst>
      <p:ext uri="{BB962C8B-B14F-4D97-AF65-F5344CB8AC3E}">
        <p14:creationId xmlns:p14="http://schemas.microsoft.com/office/powerpoint/2010/main" val="20770711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12361" b="30556"/>
          <a:stretch/>
        </p:blipFill>
        <p:spPr>
          <a:xfrm>
            <a:off x="221163" y="1409700"/>
            <a:ext cx="11713662" cy="4457699"/>
          </a:xfrm>
          <a:prstGeom prst="rect">
            <a:avLst/>
          </a:prstGeom>
        </p:spPr>
      </p:pic>
      <p:sp>
        <p:nvSpPr>
          <p:cNvPr id="3" name="Rectangle 2">
            <a:extLst>
              <a:ext uri="{FF2B5EF4-FFF2-40B4-BE49-F238E27FC236}">
                <a16:creationId xmlns:a16="http://schemas.microsoft.com/office/drawing/2014/main" id="{FFE421C3-2780-4774-9E05-31A8A25F33CA}"/>
              </a:ext>
            </a:extLst>
          </p:cNvPr>
          <p:cNvSpPr/>
          <p:nvPr/>
        </p:nvSpPr>
        <p:spPr>
          <a:xfrm>
            <a:off x="77236" y="0"/>
            <a:ext cx="11133689" cy="6463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4000" b="1" dirty="0">
                <a:solidFill>
                  <a:srgbClr val="FF0000"/>
                </a:solidFill>
                <a:latin typeface="Calibri"/>
                <a:ea typeface="Calibri"/>
                <a:cs typeface="Calibri"/>
                <a:sym typeface="Calibri"/>
              </a:rPr>
              <a:t>Wellness Data- </a:t>
            </a:r>
            <a:r>
              <a:rPr lang="en-IN" sz="4000" b="1" dirty="0" smtClean="0">
                <a:solidFill>
                  <a:srgbClr val="FF0000"/>
                </a:solidFill>
                <a:latin typeface="Calibri"/>
                <a:ea typeface="Calibri"/>
                <a:cs typeface="Calibri"/>
                <a:sym typeface="Calibri"/>
              </a:rPr>
              <a:t>Report – STAKE HOLDER – JULY 2026</a:t>
            </a:r>
            <a:endParaRPr lang="en-IN" sz="4000" b="1" dirty="0">
              <a:solidFill>
                <a:srgbClr val="FF0000"/>
              </a:solidFill>
              <a:latin typeface="Calibri"/>
              <a:ea typeface="Calibri"/>
              <a:cs typeface="Calibri"/>
              <a:sym typeface="Calibri"/>
            </a:endParaRPr>
          </a:p>
        </p:txBody>
      </p:sp>
    </p:spTree>
    <p:extLst>
      <p:ext uri="{BB962C8B-B14F-4D97-AF65-F5344CB8AC3E}">
        <p14:creationId xmlns:p14="http://schemas.microsoft.com/office/powerpoint/2010/main" val="36270717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FE421C3-2780-4774-9E05-31A8A25F33CA}"/>
              </a:ext>
            </a:extLst>
          </p:cNvPr>
          <p:cNvSpPr/>
          <p:nvPr/>
        </p:nvSpPr>
        <p:spPr>
          <a:xfrm>
            <a:off x="-1" y="0"/>
            <a:ext cx="12124267" cy="5355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3200" b="1" dirty="0">
                <a:solidFill>
                  <a:srgbClr val="FF0000"/>
                </a:solidFill>
                <a:latin typeface="Calibri"/>
                <a:ea typeface="Calibri"/>
                <a:cs typeface="Calibri"/>
                <a:sym typeface="Calibri"/>
              </a:rPr>
              <a:t>Wellness Data- </a:t>
            </a:r>
            <a:r>
              <a:rPr lang="en-IN" sz="3200" b="1" dirty="0" smtClean="0">
                <a:solidFill>
                  <a:srgbClr val="FF0000"/>
                </a:solidFill>
                <a:latin typeface="Calibri"/>
                <a:ea typeface="Calibri"/>
                <a:cs typeface="Calibri"/>
                <a:sym typeface="Calibri"/>
              </a:rPr>
              <a:t>Report – RANGE OF CONCERN ADDRESSED – JULY 2026</a:t>
            </a:r>
            <a:endParaRPr lang="en-IN" sz="3200" b="1" dirty="0">
              <a:solidFill>
                <a:srgbClr val="FF0000"/>
              </a:solidFill>
              <a:latin typeface="Calibri"/>
              <a:ea typeface="Calibri"/>
              <a:cs typeface="Calibri"/>
              <a:sym typeface="Calibri"/>
            </a:endParaRP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11667"/>
          <a:stretch/>
        </p:blipFill>
        <p:spPr>
          <a:xfrm>
            <a:off x="828675" y="800100"/>
            <a:ext cx="10287000" cy="6057900"/>
          </a:xfrm>
          <a:prstGeom prst="rect">
            <a:avLst/>
          </a:prstGeom>
        </p:spPr>
      </p:pic>
    </p:spTree>
    <p:extLst>
      <p:ext uri="{BB962C8B-B14F-4D97-AF65-F5344CB8AC3E}">
        <p14:creationId xmlns:p14="http://schemas.microsoft.com/office/powerpoint/2010/main" val="1552496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hart"/>
          <p:cNvPicPr>
            <a:picLocks noChangeAspect="1"/>
          </p:cNvPicPr>
          <p:nvPr/>
        </p:nvPicPr>
        <p:blipFill>
          <a:blip r:embed="rId2"/>
          <a:stretch>
            <a:fillRect/>
          </a:stretch>
        </p:blipFill>
        <p:spPr>
          <a:xfrm>
            <a:off x="4400031" y="0"/>
            <a:ext cx="3182388" cy="640135"/>
          </a:xfrm>
          <a:prstGeom prst="rect">
            <a:avLst/>
          </a:prstGeom>
        </p:spPr>
      </p:pic>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3385" t="6520" b="-1"/>
          <a:stretch/>
        </p:blipFill>
        <p:spPr>
          <a:xfrm>
            <a:off x="752475" y="590551"/>
            <a:ext cx="10477500" cy="6267450"/>
          </a:xfrm>
          <a:prstGeom prst="rect">
            <a:avLst/>
          </a:prstGeom>
        </p:spPr>
      </p:pic>
    </p:spTree>
    <p:extLst>
      <p:ext uri="{BB962C8B-B14F-4D97-AF65-F5344CB8AC3E}">
        <p14:creationId xmlns:p14="http://schemas.microsoft.com/office/powerpoint/2010/main" val="16567513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hart"/>
          <p:cNvPicPr>
            <a:picLocks noChangeAspect="1"/>
          </p:cNvPicPr>
          <p:nvPr/>
        </p:nvPicPr>
        <p:blipFill>
          <a:blip r:embed="rId2"/>
          <a:stretch>
            <a:fillRect/>
          </a:stretch>
        </p:blipFill>
        <p:spPr>
          <a:xfrm>
            <a:off x="4280532" y="-140523"/>
            <a:ext cx="3182388" cy="640135"/>
          </a:xfrm>
          <a:prstGeom prst="rect">
            <a:avLst/>
          </a:prstGeom>
        </p:spPr>
      </p:pic>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4167" t="8194" b="7084"/>
          <a:stretch/>
        </p:blipFill>
        <p:spPr>
          <a:xfrm>
            <a:off x="651897" y="399027"/>
            <a:ext cx="10959078" cy="6458973"/>
          </a:xfrm>
          <a:prstGeom prst="rect">
            <a:avLst/>
          </a:prstGeom>
        </p:spPr>
      </p:pic>
      <p:sp>
        <p:nvSpPr>
          <p:cNvPr id="10" name="Rounded Rectangle 9"/>
          <p:cNvSpPr/>
          <p:nvPr/>
        </p:nvSpPr>
        <p:spPr>
          <a:xfrm>
            <a:off x="1765848" y="6067425"/>
            <a:ext cx="794818" cy="29765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t>WC</a:t>
            </a:r>
            <a:endParaRPr lang="en-IN" b="1" dirty="0"/>
          </a:p>
        </p:txBody>
      </p:sp>
      <p:sp>
        <p:nvSpPr>
          <p:cNvPr id="12" name="Rounded Rectangle 11"/>
          <p:cNvSpPr/>
          <p:nvPr/>
        </p:nvSpPr>
        <p:spPr>
          <a:xfrm>
            <a:off x="3277208" y="6067425"/>
            <a:ext cx="794818" cy="29765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t>YD</a:t>
            </a:r>
            <a:endParaRPr lang="en-IN" b="1" dirty="0"/>
          </a:p>
        </p:txBody>
      </p:sp>
      <p:sp>
        <p:nvSpPr>
          <p:cNvPr id="13" name="Rounded Rectangle 12"/>
          <p:cNvSpPr/>
          <p:nvPr/>
        </p:nvSpPr>
        <p:spPr>
          <a:xfrm>
            <a:off x="4657250" y="6088834"/>
            <a:ext cx="794818" cy="29765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t>MW</a:t>
            </a:r>
            <a:endParaRPr lang="en-IN" b="1" dirty="0"/>
          </a:p>
        </p:txBody>
      </p:sp>
      <p:sp>
        <p:nvSpPr>
          <p:cNvPr id="14" name="Rounded Rectangle 13"/>
          <p:cNvSpPr/>
          <p:nvPr/>
        </p:nvSpPr>
        <p:spPr>
          <a:xfrm>
            <a:off x="6853142" y="6150767"/>
            <a:ext cx="794818" cy="29765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t>WC</a:t>
            </a:r>
            <a:endParaRPr lang="en-IN" b="1" dirty="0"/>
          </a:p>
        </p:txBody>
      </p:sp>
      <p:sp>
        <p:nvSpPr>
          <p:cNvPr id="16" name="Rounded Rectangle 15"/>
          <p:cNvSpPr/>
          <p:nvPr/>
        </p:nvSpPr>
        <p:spPr>
          <a:xfrm>
            <a:off x="8437240" y="6107818"/>
            <a:ext cx="794818" cy="29765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t>YD</a:t>
            </a:r>
            <a:endParaRPr lang="en-IN" b="1" dirty="0"/>
          </a:p>
        </p:txBody>
      </p:sp>
      <p:sp>
        <p:nvSpPr>
          <p:cNvPr id="17" name="Rounded Rectangle 16"/>
          <p:cNvSpPr/>
          <p:nvPr/>
        </p:nvSpPr>
        <p:spPr>
          <a:xfrm>
            <a:off x="10021338" y="6088834"/>
            <a:ext cx="794818" cy="29765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t>MW</a:t>
            </a:r>
            <a:endParaRPr lang="en-IN" b="1" dirty="0"/>
          </a:p>
        </p:txBody>
      </p:sp>
      <p:pic>
        <p:nvPicPr>
          <p:cNvPr id="18" name="Picture 2" descr="1,084,824 Plain White Backgrounds Royalty-Free Images, Stock ..."/>
          <p:cNvPicPr>
            <a:picLocks noChangeAspect="1" noChangeArrowheads="1"/>
          </p:cNvPicPr>
          <p:nvPr/>
        </p:nvPicPr>
        <p:blipFill rotWithShape="1">
          <a:blip r:embed="rId4">
            <a:extLst>
              <a:ext uri="{28A0092B-C50C-407E-A947-70E740481C1C}">
                <a14:useLocalDpi xmlns:a14="http://schemas.microsoft.com/office/drawing/2010/main" val="0"/>
              </a:ext>
            </a:extLst>
          </a:blip>
          <a:srcRect b="64881"/>
          <a:stretch/>
        </p:blipFill>
        <p:spPr bwMode="auto">
          <a:xfrm>
            <a:off x="211105" y="399027"/>
            <a:ext cx="2476500" cy="32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89317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FE421C3-2780-4774-9E05-31A8A25F33CA}"/>
              </a:ext>
            </a:extLst>
          </p:cNvPr>
          <p:cNvSpPr/>
          <p:nvPr/>
        </p:nvSpPr>
        <p:spPr>
          <a:xfrm>
            <a:off x="500591" y="198084"/>
            <a:ext cx="12124267" cy="4801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2800" b="1" dirty="0">
                <a:solidFill>
                  <a:srgbClr val="FF0000"/>
                </a:solidFill>
                <a:latin typeface="Calibri"/>
                <a:ea typeface="Calibri"/>
                <a:cs typeface="Calibri"/>
                <a:sym typeface="Calibri"/>
              </a:rPr>
              <a:t>Wellness Data- </a:t>
            </a:r>
            <a:r>
              <a:rPr lang="en-IN" sz="2800" b="1" dirty="0" smtClean="0">
                <a:solidFill>
                  <a:srgbClr val="FF0000"/>
                </a:solidFill>
                <a:latin typeface="Calibri"/>
                <a:ea typeface="Calibri"/>
                <a:cs typeface="Calibri"/>
                <a:sym typeface="Calibri"/>
              </a:rPr>
              <a:t>Report – RANGE OF CONCERN ADDRESSED – JULY 2026</a:t>
            </a:r>
            <a:endParaRPr lang="en-IN" sz="2800" b="1" dirty="0">
              <a:solidFill>
                <a:srgbClr val="FF0000"/>
              </a:solidFill>
              <a:latin typeface="Calibri"/>
              <a:ea typeface="Calibri"/>
              <a:cs typeface="Calibri"/>
              <a:sym typeface="Calibri"/>
            </a:endParaRP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14861" b="7361"/>
          <a:stretch/>
        </p:blipFill>
        <p:spPr>
          <a:xfrm>
            <a:off x="0" y="819151"/>
            <a:ext cx="12279006" cy="5705474"/>
          </a:xfrm>
          <a:prstGeom prst="rect">
            <a:avLst/>
          </a:prstGeom>
        </p:spPr>
      </p:pic>
      <p:pic>
        <p:nvPicPr>
          <p:cNvPr id="3" name="Picture 2"/>
          <p:cNvPicPr>
            <a:picLocks noChangeAspect="1"/>
          </p:cNvPicPr>
          <p:nvPr/>
        </p:nvPicPr>
        <p:blipFill>
          <a:blip r:embed="rId3"/>
          <a:stretch>
            <a:fillRect/>
          </a:stretch>
        </p:blipFill>
        <p:spPr>
          <a:xfrm>
            <a:off x="3359661" y="1320255"/>
            <a:ext cx="221739" cy="205314"/>
          </a:xfrm>
          <a:prstGeom prst="rect">
            <a:avLst/>
          </a:prstGeom>
        </p:spPr>
      </p:pic>
    </p:spTree>
    <p:extLst>
      <p:ext uri="{BB962C8B-B14F-4D97-AF65-F5344CB8AC3E}">
        <p14:creationId xmlns:p14="http://schemas.microsoft.com/office/powerpoint/2010/main" val="19600041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7500" b="7361"/>
          <a:stretch/>
        </p:blipFill>
        <p:spPr>
          <a:xfrm>
            <a:off x="400246" y="514350"/>
            <a:ext cx="11467707" cy="5838825"/>
          </a:xfrm>
          <a:prstGeom prst="rect">
            <a:avLst/>
          </a:prstGeom>
        </p:spPr>
      </p:pic>
      <p:sp>
        <p:nvSpPr>
          <p:cNvPr id="3" name="Rectangle 2">
            <a:extLst>
              <a:ext uri="{FF2B5EF4-FFF2-40B4-BE49-F238E27FC236}">
                <a16:creationId xmlns:a16="http://schemas.microsoft.com/office/drawing/2014/main" id="{FFE421C3-2780-4774-9E05-31A8A25F33CA}"/>
              </a:ext>
            </a:extLst>
          </p:cNvPr>
          <p:cNvSpPr/>
          <p:nvPr/>
        </p:nvSpPr>
        <p:spPr>
          <a:xfrm>
            <a:off x="4337606" y="-41981"/>
            <a:ext cx="5595409" cy="4801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2800" b="1" dirty="0">
                <a:solidFill>
                  <a:srgbClr val="FF0000"/>
                </a:solidFill>
                <a:latin typeface="Calibri"/>
                <a:ea typeface="Calibri"/>
                <a:cs typeface="Calibri"/>
                <a:sym typeface="Calibri"/>
              </a:rPr>
              <a:t>Wellness Data- </a:t>
            </a:r>
            <a:r>
              <a:rPr lang="en-IN" sz="2800" b="1" dirty="0" smtClean="0">
                <a:solidFill>
                  <a:srgbClr val="FF0000"/>
                </a:solidFill>
                <a:latin typeface="Calibri"/>
                <a:ea typeface="Calibri"/>
                <a:cs typeface="Calibri"/>
                <a:sym typeface="Calibri"/>
              </a:rPr>
              <a:t>Report</a:t>
            </a:r>
            <a:endParaRPr lang="en-IN" sz="2800" b="1" dirty="0">
              <a:solidFill>
                <a:srgbClr val="FF0000"/>
              </a:solidFill>
              <a:latin typeface="Calibri"/>
              <a:ea typeface="Calibri"/>
              <a:cs typeface="Calibri"/>
              <a:sym typeface="Calibri"/>
            </a:endParaRPr>
          </a:p>
        </p:txBody>
      </p:sp>
      <p:pic>
        <p:nvPicPr>
          <p:cNvPr id="2050" name="Picture 2" descr="1,084,824 Plain White Backgrounds Royalty-Free Images, Stock ..."/>
          <p:cNvPicPr>
            <a:picLocks noChangeAspect="1" noChangeArrowheads="1"/>
          </p:cNvPicPr>
          <p:nvPr/>
        </p:nvPicPr>
        <p:blipFill rotWithShape="1">
          <a:blip r:embed="rId3">
            <a:extLst>
              <a:ext uri="{28A0092B-C50C-407E-A947-70E740481C1C}">
                <a14:useLocalDpi xmlns:a14="http://schemas.microsoft.com/office/drawing/2010/main" val="0"/>
              </a:ext>
            </a:extLst>
          </a:blip>
          <a:srcRect b="64881"/>
          <a:stretch/>
        </p:blipFill>
        <p:spPr bwMode="auto">
          <a:xfrm>
            <a:off x="165100" y="438150"/>
            <a:ext cx="2476500" cy="32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5149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E421C3-2780-4774-9E05-31A8A25F33CA}"/>
              </a:ext>
            </a:extLst>
          </p:cNvPr>
          <p:cNvSpPr/>
          <p:nvPr/>
        </p:nvSpPr>
        <p:spPr>
          <a:xfrm>
            <a:off x="4337606" y="-41981"/>
            <a:ext cx="5595409" cy="4801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2800" b="1" dirty="0">
                <a:solidFill>
                  <a:srgbClr val="FF0000"/>
                </a:solidFill>
                <a:latin typeface="Calibri"/>
                <a:ea typeface="Calibri"/>
                <a:cs typeface="Calibri"/>
                <a:sym typeface="Calibri"/>
              </a:rPr>
              <a:t>Wellness Data- </a:t>
            </a:r>
            <a:r>
              <a:rPr lang="en-IN" sz="2800" b="1" dirty="0" smtClean="0">
                <a:solidFill>
                  <a:srgbClr val="FF0000"/>
                </a:solidFill>
                <a:latin typeface="Calibri"/>
                <a:ea typeface="Calibri"/>
                <a:cs typeface="Calibri"/>
                <a:sym typeface="Calibri"/>
              </a:rPr>
              <a:t>Report</a:t>
            </a:r>
            <a:endParaRPr lang="en-IN" sz="2800" b="1" dirty="0">
              <a:solidFill>
                <a:srgbClr val="FF0000"/>
              </a:solidFill>
              <a:latin typeface="Calibri"/>
              <a:ea typeface="Calibri"/>
              <a:cs typeface="Calibri"/>
              <a:sym typeface="Calibri"/>
            </a:endParaRPr>
          </a:p>
        </p:txBody>
      </p:sp>
      <p:sp>
        <p:nvSpPr>
          <p:cNvPr id="4" name="Rounded Rectangle 3"/>
          <p:cNvSpPr/>
          <p:nvPr/>
        </p:nvSpPr>
        <p:spPr>
          <a:xfrm>
            <a:off x="296333" y="982133"/>
            <a:ext cx="3115734" cy="570653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u="sng" dirty="0" err="1" smtClean="0">
                <a:solidFill>
                  <a:schemeClr val="tx1"/>
                </a:solidFill>
              </a:rPr>
              <a:t>Kauvery</a:t>
            </a:r>
            <a:r>
              <a:rPr lang="en-US" sz="1400" b="1" u="sng" dirty="0" smtClean="0">
                <a:solidFill>
                  <a:schemeClr val="tx1"/>
                </a:solidFill>
              </a:rPr>
              <a:t>: </a:t>
            </a:r>
          </a:p>
          <a:p>
            <a:pPr algn="ctr"/>
            <a:endParaRPr lang="en-US" sz="1400" dirty="0" smtClean="0">
              <a:solidFill>
                <a:schemeClr val="tx1"/>
              </a:solidFill>
            </a:endParaRPr>
          </a:p>
          <a:p>
            <a:r>
              <a:rPr lang="en-IN" sz="1400" dirty="0" smtClean="0">
                <a:solidFill>
                  <a:schemeClr val="tx1"/>
                </a:solidFill>
              </a:rPr>
              <a:t>1. Video </a:t>
            </a:r>
            <a:r>
              <a:rPr lang="en-IN" sz="1400" dirty="0">
                <a:solidFill>
                  <a:schemeClr val="tx1"/>
                </a:solidFill>
              </a:rPr>
              <a:t>for Parent Orientation </a:t>
            </a:r>
            <a:r>
              <a:rPr lang="en-IN" sz="1400" dirty="0" smtClean="0">
                <a:solidFill>
                  <a:schemeClr val="tx1"/>
                </a:solidFill>
              </a:rPr>
              <a:t>Programme:</a:t>
            </a:r>
          </a:p>
          <a:p>
            <a:r>
              <a:rPr lang="en-US" sz="1400" dirty="0">
                <a:solidFill>
                  <a:schemeClr val="tx1"/>
                </a:solidFill>
              </a:rPr>
              <a:t>Video for </a:t>
            </a:r>
            <a:r>
              <a:rPr lang="en-US" sz="1400" dirty="0" err="1">
                <a:solidFill>
                  <a:schemeClr val="tx1"/>
                </a:solidFill>
              </a:rPr>
              <a:t>PoP</a:t>
            </a:r>
            <a:r>
              <a:rPr lang="en-US" sz="1400" dirty="0">
                <a:solidFill>
                  <a:schemeClr val="tx1"/>
                </a:solidFill>
              </a:rPr>
              <a:t>, to orient parents towards their child’s </a:t>
            </a:r>
            <a:r>
              <a:rPr lang="en-US" sz="1400" dirty="0" smtClean="0">
                <a:solidFill>
                  <a:schemeClr val="tx1"/>
                </a:solidFill>
              </a:rPr>
              <a:t>mental well-being.</a:t>
            </a:r>
          </a:p>
          <a:p>
            <a:r>
              <a:rPr lang="en-US" sz="1400" dirty="0">
                <a:solidFill>
                  <a:schemeClr val="tx1"/>
                </a:solidFill>
              </a:rPr>
              <a:t>2. Website Support</a:t>
            </a:r>
          </a:p>
          <a:p>
            <a:r>
              <a:rPr lang="en-US" sz="1400" dirty="0">
                <a:solidFill>
                  <a:schemeClr val="tx1"/>
                </a:solidFill>
              </a:rPr>
              <a:t>Assisted the tech team with website structure and guidelines.</a:t>
            </a:r>
            <a:br>
              <a:rPr lang="en-US" sz="1400" dirty="0">
                <a:solidFill>
                  <a:schemeClr val="tx1"/>
                </a:solidFill>
              </a:rPr>
            </a:br>
            <a:r>
              <a:rPr lang="en-US" sz="1400" dirty="0" smtClean="0">
                <a:solidFill>
                  <a:schemeClr val="tx1"/>
                </a:solidFill>
              </a:rPr>
              <a:t>https</a:t>
            </a:r>
            <a:r>
              <a:rPr lang="en-US" sz="1400" dirty="0">
                <a:solidFill>
                  <a:schemeClr val="tx1"/>
                </a:solidFill>
              </a:rPr>
              <a:t>://dost.iitm.ac.in/</a:t>
            </a:r>
            <a:br>
              <a:rPr lang="en-US" sz="1400" dirty="0">
                <a:solidFill>
                  <a:schemeClr val="tx1"/>
                </a:solidFill>
              </a:rPr>
            </a:br>
            <a:r>
              <a:rPr lang="en-US" sz="1400" dirty="0">
                <a:solidFill>
                  <a:schemeClr val="tx1"/>
                </a:solidFill>
                <a:hlinkClick r:id="rId2"/>
              </a:rPr>
              <a:t>https://</a:t>
            </a:r>
            <a:r>
              <a:rPr lang="en-US" sz="1400" dirty="0" smtClean="0">
                <a:solidFill>
                  <a:schemeClr val="tx1"/>
                </a:solidFill>
                <a:hlinkClick r:id="rId2"/>
              </a:rPr>
              <a:t>wellness-centre-project.vercel.app</a:t>
            </a:r>
            <a:r>
              <a:rPr lang="en-US" sz="1400" dirty="0" smtClean="0">
                <a:solidFill>
                  <a:schemeClr val="tx1"/>
                </a:solidFill>
              </a:rPr>
              <a:t> </a:t>
            </a:r>
            <a:endParaRPr lang="en-US" sz="1400" dirty="0">
              <a:solidFill>
                <a:schemeClr val="tx1"/>
              </a:solidFill>
            </a:endParaRPr>
          </a:p>
          <a:p>
            <a:r>
              <a:rPr lang="en-US" sz="1400" dirty="0" smtClean="0">
                <a:solidFill>
                  <a:schemeClr val="tx1"/>
                </a:solidFill>
              </a:rPr>
              <a:t>3. </a:t>
            </a:r>
            <a:r>
              <a:rPr lang="en-US" sz="1400" dirty="0" err="1" smtClean="0">
                <a:solidFill>
                  <a:schemeClr val="tx1"/>
                </a:solidFill>
              </a:rPr>
              <a:t>Mitr</a:t>
            </a:r>
            <a:r>
              <a:rPr lang="en-US" sz="1400" dirty="0" smtClean="0">
                <a:solidFill>
                  <a:schemeClr val="tx1"/>
                </a:solidFill>
              </a:rPr>
              <a:t> </a:t>
            </a:r>
            <a:r>
              <a:rPr lang="en-US" sz="1400" dirty="0">
                <a:solidFill>
                  <a:schemeClr val="tx1"/>
                </a:solidFill>
              </a:rPr>
              <a:t>and </a:t>
            </a:r>
            <a:r>
              <a:rPr lang="en-US" sz="1400" dirty="0" err="1">
                <a:solidFill>
                  <a:schemeClr val="tx1"/>
                </a:solidFill>
              </a:rPr>
              <a:t>Saathi</a:t>
            </a:r>
            <a:r>
              <a:rPr lang="en-US" sz="1400" dirty="0">
                <a:solidFill>
                  <a:schemeClr val="tx1"/>
                </a:solidFill>
              </a:rPr>
              <a:t> orientation </a:t>
            </a:r>
            <a:r>
              <a:rPr lang="en-US" sz="1400" dirty="0" smtClean="0">
                <a:solidFill>
                  <a:schemeClr val="tx1"/>
                </a:solidFill>
              </a:rPr>
              <a:t>events</a:t>
            </a:r>
          </a:p>
          <a:p>
            <a:r>
              <a:rPr lang="en-US" sz="1400" dirty="0">
                <a:solidFill>
                  <a:schemeClr val="tx1"/>
                </a:solidFill>
              </a:rPr>
              <a:t>Conducted games to orient students towards </a:t>
            </a:r>
            <a:r>
              <a:rPr lang="en-US" sz="1400" dirty="0" smtClean="0">
                <a:solidFill>
                  <a:schemeClr val="tx1"/>
                </a:solidFill>
              </a:rPr>
              <a:t>therapy</a:t>
            </a:r>
          </a:p>
          <a:p>
            <a:r>
              <a:rPr lang="en-US" sz="1400" dirty="0" smtClean="0">
                <a:solidFill>
                  <a:schemeClr val="tx1"/>
                </a:solidFill>
              </a:rPr>
              <a:t>4. Parental </a:t>
            </a:r>
            <a:r>
              <a:rPr lang="en-US" sz="1400" dirty="0">
                <a:solidFill>
                  <a:schemeClr val="tx1"/>
                </a:solidFill>
              </a:rPr>
              <a:t>Orientation </a:t>
            </a:r>
            <a:r>
              <a:rPr lang="en-US" sz="1400" dirty="0" smtClean="0">
                <a:solidFill>
                  <a:schemeClr val="tx1"/>
                </a:solidFill>
              </a:rPr>
              <a:t>Pamphlets</a:t>
            </a:r>
          </a:p>
          <a:p>
            <a:r>
              <a:rPr lang="en-US" sz="1400" dirty="0">
                <a:solidFill>
                  <a:schemeClr val="tx1"/>
                </a:solidFill>
              </a:rPr>
              <a:t>Distributed informational pamphlets for the parents </a:t>
            </a:r>
            <a:br>
              <a:rPr lang="en-US" sz="1400" dirty="0">
                <a:solidFill>
                  <a:schemeClr val="tx1"/>
                </a:solidFill>
              </a:rPr>
            </a:br>
            <a:r>
              <a:rPr lang="en-US" sz="1400" dirty="0">
                <a:solidFill>
                  <a:schemeClr val="tx1"/>
                </a:solidFill>
              </a:rPr>
              <a:t>(Hindi and English)</a:t>
            </a:r>
          </a:p>
          <a:p>
            <a:endParaRPr lang="en-US" sz="1400" dirty="0" smtClean="0">
              <a:solidFill>
                <a:schemeClr val="tx1"/>
              </a:solidFill>
            </a:endParaRPr>
          </a:p>
          <a:p>
            <a:pPr algn="ctr"/>
            <a:r>
              <a:rPr lang="en-IN" sz="1400" dirty="0" smtClean="0">
                <a:solidFill>
                  <a:schemeClr val="tx1"/>
                </a:solidFill>
              </a:rPr>
              <a:t> </a:t>
            </a:r>
          </a:p>
          <a:p>
            <a:pPr algn="ctr"/>
            <a:endParaRPr lang="en-IN" sz="1400" dirty="0">
              <a:solidFill>
                <a:schemeClr val="tx1"/>
              </a:solidFill>
            </a:endParaRPr>
          </a:p>
        </p:txBody>
      </p:sp>
      <p:sp>
        <p:nvSpPr>
          <p:cNvPr id="3" name="Rectangle 2">
            <a:extLst>
              <a:ext uri="{FF2B5EF4-FFF2-40B4-BE49-F238E27FC236}">
                <a16:creationId xmlns:a16="http://schemas.microsoft.com/office/drawing/2014/main" id="{FFE421C3-2780-4774-9E05-31A8A25F33CA}"/>
              </a:ext>
            </a:extLst>
          </p:cNvPr>
          <p:cNvSpPr/>
          <p:nvPr/>
        </p:nvSpPr>
        <p:spPr>
          <a:xfrm>
            <a:off x="3945293" y="406224"/>
            <a:ext cx="4916074" cy="4801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2800" b="1" dirty="0" smtClean="0">
                <a:solidFill>
                  <a:srgbClr val="FF0000"/>
                </a:solidFill>
                <a:latin typeface="Calibri"/>
                <a:ea typeface="Calibri"/>
                <a:cs typeface="Calibri"/>
                <a:sym typeface="Calibri"/>
              </a:rPr>
              <a:t>Activities completed so far: </a:t>
            </a:r>
            <a:endParaRPr lang="en-IN" sz="2800" b="1" dirty="0">
              <a:solidFill>
                <a:srgbClr val="FF0000"/>
              </a:solidFill>
              <a:latin typeface="Calibri"/>
              <a:ea typeface="Calibri"/>
              <a:cs typeface="Calibri"/>
              <a:sym typeface="Calibri"/>
            </a:endParaRPr>
          </a:p>
        </p:txBody>
      </p:sp>
      <p:sp>
        <p:nvSpPr>
          <p:cNvPr id="5" name="Rounded Rectangle 4"/>
          <p:cNvSpPr/>
          <p:nvPr/>
        </p:nvSpPr>
        <p:spPr>
          <a:xfrm>
            <a:off x="4337606" y="918281"/>
            <a:ext cx="3115734" cy="570653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chemeClr val="tx1"/>
                </a:solidFill>
              </a:rPr>
              <a:t>Myndwell</a:t>
            </a:r>
            <a:r>
              <a:rPr lang="en-US" sz="1400" b="1" dirty="0" smtClean="0">
                <a:solidFill>
                  <a:schemeClr val="tx1"/>
                </a:solidFill>
              </a:rPr>
              <a:t>:</a:t>
            </a:r>
          </a:p>
          <a:p>
            <a:endParaRPr lang="en-US" sz="1400" b="1" dirty="0" smtClean="0">
              <a:solidFill>
                <a:schemeClr val="tx1"/>
              </a:solidFill>
            </a:endParaRPr>
          </a:p>
          <a:p>
            <a:pPr marL="342900" indent="-342900">
              <a:buAutoNum type="arabicPeriod"/>
            </a:pPr>
            <a:r>
              <a:rPr lang="en-US" sz="1400" dirty="0" smtClean="0">
                <a:solidFill>
                  <a:schemeClr val="tx1"/>
                </a:solidFill>
              </a:rPr>
              <a:t>12th </a:t>
            </a:r>
            <a:r>
              <a:rPr lang="en-US" sz="1400" dirty="0">
                <a:solidFill>
                  <a:schemeClr val="tx1"/>
                </a:solidFill>
              </a:rPr>
              <a:t>&amp; 13th July: </a:t>
            </a:r>
            <a:r>
              <a:rPr lang="en-US" sz="1400" dirty="0" err="1">
                <a:solidFill>
                  <a:schemeClr val="tx1"/>
                </a:solidFill>
              </a:rPr>
              <a:t>Myndwell</a:t>
            </a:r>
            <a:r>
              <a:rPr lang="en-US" sz="1400" dirty="0">
                <a:solidFill>
                  <a:schemeClr val="tx1"/>
                </a:solidFill>
              </a:rPr>
              <a:t> participated in the "Celebrating Minds: From Academic Excellence to Wellness" event by setting up interactive wellness stalls. Additionally, on 12th July, Dr. </a:t>
            </a:r>
            <a:r>
              <a:rPr lang="en-US" sz="1400" dirty="0" err="1">
                <a:solidFill>
                  <a:schemeClr val="tx1"/>
                </a:solidFill>
              </a:rPr>
              <a:t>Srividya</a:t>
            </a:r>
            <a:r>
              <a:rPr lang="en-US" sz="1400" dirty="0">
                <a:solidFill>
                  <a:schemeClr val="tx1"/>
                </a:solidFill>
              </a:rPr>
              <a:t> conducted an engaging session on "The Science of Stress," focusing on understanding stress and practical strategies for managing it</a:t>
            </a:r>
            <a:r>
              <a:rPr lang="en-US" sz="1400" dirty="0" smtClean="0">
                <a:solidFill>
                  <a:schemeClr val="tx1"/>
                </a:solidFill>
              </a:rPr>
              <a:t>.</a:t>
            </a:r>
          </a:p>
          <a:p>
            <a:pPr marL="342900" indent="-342900">
              <a:buAutoNum type="arabicPeriod"/>
            </a:pPr>
            <a:r>
              <a:rPr lang="en-US" sz="1400" dirty="0" smtClean="0">
                <a:solidFill>
                  <a:schemeClr val="tx1"/>
                </a:solidFill>
              </a:rPr>
              <a:t>25th </a:t>
            </a:r>
            <a:r>
              <a:rPr lang="en-US" sz="1400" dirty="0">
                <a:solidFill>
                  <a:schemeClr val="tx1"/>
                </a:solidFill>
              </a:rPr>
              <a:t>July: </a:t>
            </a:r>
            <a:r>
              <a:rPr lang="en-US" sz="1400" dirty="0" err="1">
                <a:solidFill>
                  <a:schemeClr val="tx1"/>
                </a:solidFill>
              </a:rPr>
              <a:t>Myndwell</a:t>
            </a:r>
            <a:r>
              <a:rPr lang="en-US" sz="1400" dirty="0">
                <a:solidFill>
                  <a:schemeClr val="tx1"/>
                </a:solidFill>
              </a:rPr>
              <a:t> conducted a Parent Orientation session on "Addiction and Its Impact on College Students," aimed at increasing awareness among parents about substance use, behavioral addictions, early warning signs, and ways to support their children effectively.</a:t>
            </a:r>
            <a:endParaRPr lang="en-IN" sz="1400" dirty="0">
              <a:solidFill>
                <a:schemeClr val="tx1"/>
              </a:solidFill>
            </a:endParaRPr>
          </a:p>
        </p:txBody>
      </p:sp>
      <p:sp>
        <p:nvSpPr>
          <p:cNvPr id="6" name="Rounded Rectangle 5"/>
          <p:cNvSpPr/>
          <p:nvPr/>
        </p:nvSpPr>
        <p:spPr>
          <a:xfrm>
            <a:off x="8544308" y="982133"/>
            <a:ext cx="3115734" cy="570653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solidFill>
                  <a:schemeClr val="tx1"/>
                </a:solidFill>
              </a:rPr>
              <a:t>Yourdost</a:t>
            </a:r>
            <a:r>
              <a:rPr lang="en-US" b="1" dirty="0" smtClean="0">
                <a:solidFill>
                  <a:schemeClr val="tx1"/>
                </a:solidFill>
              </a:rPr>
              <a:t>:</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r>
              <a:rPr lang="en-US" dirty="0" smtClean="0">
                <a:solidFill>
                  <a:schemeClr val="tx1"/>
                </a:solidFill>
              </a:rPr>
              <a:t>1. </a:t>
            </a:r>
            <a:r>
              <a:rPr lang="en-US" dirty="0" err="1" smtClean="0">
                <a:solidFill>
                  <a:schemeClr val="tx1"/>
                </a:solidFill>
              </a:rPr>
              <a:t>YourDOST</a:t>
            </a:r>
            <a:r>
              <a:rPr lang="en-US" dirty="0" smtClean="0">
                <a:solidFill>
                  <a:schemeClr val="tx1"/>
                </a:solidFill>
              </a:rPr>
              <a:t> </a:t>
            </a:r>
            <a:r>
              <a:rPr lang="en-US" dirty="0">
                <a:solidFill>
                  <a:schemeClr val="tx1"/>
                </a:solidFill>
              </a:rPr>
              <a:t>Orientation</a:t>
            </a:r>
          </a:p>
          <a:p>
            <a:r>
              <a:rPr lang="en-US" dirty="0">
                <a:solidFill>
                  <a:schemeClr val="tx1"/>
                </a:solidFill>
              </a:rPr>
              <a:t>Conducted by Ms. </a:t>
            </a:r>
            <a:r>
              <a:rPr lang="en-US" dirty="0" err="1" smtClean="0">
                <a:solidFill>
                  <a:schemeClr val="tx1"/>
                </a:solidFill>
              </a:rPr>
              <a:t>Richa</a:t>
            </a:r>
            <a:endParaRPr lang="en-US" dirty="0" smtClean="0">
              <a:solidFill>
                <a:schemeClr val="tx1"/>
              </a:solidFill>
            </a:endParaRPr>
          </a:p>
          <a:p>
            <a:endParaRPr lang="en-US" dirty="0" smtClean="0">
              <a:solidFill>
                <a:schemeClr val="tx1"/>
              </a:solidFill>
            </a:endParaRPr>
          </a:p>
          <a:p>
            <a:r>
              <a:rPr lang="en-US" dirty="0" smtClean="0">
                <a:solidFill>
                  <a:schemeClr val="tx1"/>
                </a:solidFill>
              </a:rPr>
              <a:t>2. The </a:t>
            </a:r>
            <a:r>
              <a:rPr lang="en-US" dirty="0">
                <a:solidFill>
                  <a:schemeClr val="tx1"/>
                </a:solidFill>
              </a:rPr>
              <a:t>Happiness </a:t>
            </a:r>
            <a:r>
              <a:rPr lang="en-US" dirty="0" err="1">
                <a:solidFill>
                  <a:schemeClr val="tx1"/>
                </a:solidFill>
              </a:rPr>
              <a:t>BootCamp</a:t>
            </a:r>
            <a:r>
              <a:rPr lang="en-US" dirty="0">
                <a:solidFill>
                  <a:schemeClr val="tx1"/>
                </a:solidFill>
              </a:rPr>
              <a:t> &amp; Wellness with Darts</a:t>
            </a:r>
            <a:endParaRPr lang="en-IN" dirty="0">
              <a:solidFill>
                <a:schemeClr val="tx1"/>
              </a:solidFill>
            </a:endParaRPr>
          </a:p>
        </p:txBody>
      </p:sp>
    </p:spTree>
    <p:extLst>
      <p:ext uri="{BB962C8B-B14F-4D97-AF65-F5344CB8AC3E}">
        <p14:creationId xmlns:p14="http://schemas.microsoft.com/office/powerpoint/2010/main" val="1265409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E421C3-2780-4774-9E05-31A8A25F33CA}"/>
              </a:ext>
            </a:extLst>
          </p:cNvPr>
          <p:cNvSpPr/>
          <p:nvPr/>
        </p:nvSpPr>
        <p:spPr>
          <a:xfrm>
            <a:off x="4337606" y="-41981"/>
            <a:ext cx="5595409" cy="4801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2800" b="1" dirty="0">
                <a:solidFill>
                  <a:srgbClr val="FF0000"/>
                </a:solidFill>
                <a:latin typeface="Calibri"/>
                <a:ea typeface="Calibri"/>
                <a:cs typeface="Calibri"/>
                <a:sym typeface="Calibri"/>
              </a:rPr>
              <a:t>Wellness Data- </a:t>
            </a:r>
            <a:r>
              <a:rPr lang="en-IN" sz="2800" b="1" dirty="0" smtClean="0">
                <a:solidFill>
                  <a:srgbClr val="FF0000"/>
                </a:solidFill>
                <a:latin typeface="Calibri"/>
                <a:ea typeface="Calibri"/>
                <a:cs typeface="Calibri"/>
                <a:sym typeface="Calibri"/>
              </a:rPr>
              <a:t>Report</a:t>
            </a:r>
            <a:endParaRPr lang="en-IN" sz="2800" b="1" dirty="0">
              <a:solidFill>
                <a:srgbClr val="FF0000"/>
              </a:solidFill>
              <a:latin typeface="Calibri"/>
              <a:ea typeface="Calibri"/>
              <a:cs typeface="Calibri"/>
              <a:sym typeface="Calibri"/>
            </a:endParaRPr>
          </a:p>
        </p:txBody>
      </p:sp>
      <p:sp>
        <p:nvSpPr>
          <p:cNvPr id="4" name="Rounded Rectangle 3"/>
          <p:cNvSpPr/>
          <p:nvPr/>
        </p:nvSpPr>
        <p:spPr>
          <a:xfrm>
            <a:off x="296333" y="982133"/>
            <a:ext cx="3115734" cy="570653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err="1" smtClean="0">
                <a:solidFill>
                  <a:schemeClr val="tx1"/>
                </a:solidFill>
              </a:rPr>
              <a:t>Kauvery</a:t>
            </a:r>
            <a:r>
              <a:rPr lang="en-US" b="1" u="sng" dirty="0" smtClean="0">
                <a:solidFill>
                  <a:schemeClr val="tx1"/>
                </a:solidFill>
              </a:rPr>
              <a:t>:</a:t>
            </a:r>
          </a:p>
          <a:p>
            <a:pPr algn="ctr"/>
            <a:endParaRPr lang="en-US" sz="1400" b="1" u="sng" dirty="0" smtClean="0">
              <a:solidFill>
                <a:schemeClr val="tx1"/>
              </a:solidFill>
            </a:endParaRPr>
          </a:p>
          <a:p>
            <a:pPr marL="342900" indent="-342900" algn="ctr">
              <a:buAutoNum type="arabicPeriod"/>
            </a:pPr>
            <a:r>
              <a:rPr lang="en-US" sz="1400" dirty="0" smtClean="0">
                <a:solidFill>
                  <a:schemeClr val="tx1"/>
                </a:solidFill>
              </a:rPr>
              <a:t>ADHD </a:t>
            </a:r>
            <a:r>
              <a:rPr lang="en-US" sz="1400" dirty="0">
                <a:solidFill>
                  <a:schemeClr val="tx1"/>
                </a:solidFill>
              </a:rPr>
              <a:t>Awareness </a:t>
            </a:r>
            <a:r>
              <a:rPr lang="en-US" sz="1400" dirty="0" err="1" smtClean="0">
                <a:solidFill>
                  <a:schemeClr val="tx1"/>
                </a:solidFill>
              </a:rPr>
              <a:t>Programme</a:t>
            </a:r>
            <a:endParaRPr lang="en-US" sz="1400" dirty="0" smtClean="0">
              <a:solidFill>
                <a:schemeClr val="tx1"/>
              </a:solidFill>
            </a:endParaRPr>
          </a:p>
          <a:p>
            <a:pPr algn="ctr"/>
            <a:r>
              <a:rPr lang="en-US" sz="1400" dirty="0" smtClean="0">
                <a:solidFill>
                  <a:schemeClr val="tx1"/>
                </a:solidFill>
              </a:rPr>
              <a:t>Update: Final Draft Competed</a:t>
            </a:r>
          </a:p>
          <a:p>
            <a:pPr algn="ctr"/>
            <a:r>
              <a:rPr lang="en-US" sz="1400" dirty="0">
                <a:solidFill>
                  <a:schemeClr val="tx1"/>
                </a:solidFill>
              </a:rPr>
              <a:t>Tentative schedule: to be </a:t>
            </a:r>
            <a:r>
              <a:rPr lang="en-US" sz="1400" dirty="0" smtClean="0">
                <a:solidFill>
                  <a:schemeClr val="tx1"/>
                </a:solidFill>
              </a:rPr>
              <a:t>discussed</a:t>
            </a:r>
          </a:p>
          <a:p>
            <a:pPr algn="ctr"/>
            <a:endParaRPr lang="en-US" sz="1400" dirty="0" smtClean="0">
              <a:solidFill>
                <a:schemeClr val="tx1"/>
              </a:solidFill>
            </a:endParaRPr>
          </a:p>
          <a:p>
            <a:pPr algn="ctr"/>
            <a:r>
              <a:rPr lang="en-US" sz="1400" dirty="0">
                <a:solidFill>
                  <a:schemeClr val="tx1"/>
                </a:solidFill>
              </a:rPr>
              <a:t>2. Focus-Group Discussion</a:t>
            </a:r>
          </a:p>
          <a:p>
            <a:pPr algn="ctr"/>
            <a:r>
              <a:rPr lang="en-US" sz="1400" b="1" u="sng" dirty="0" smtClean="0">
                <a:solidFill>
                  <a:schemeClr val="tx1"/>
                </a:solidFill>
              </a:rPr>
              <a:t> </a:t>
            </a:r>
          </a:p>
          <a:p>
            <a:pPr algn="ctr"/>
            <a:r>
              <a:rPr lang="en-US" sz="1400" dirty="0">
                <a:solidFill>
                  <a:schemeClr val="tx1"/>
                </a:solidFill>
              </a:rPr>
              <a:t>Update: Topics </a:t>
            </a:r>
            <a:r>
              <a:rPr lang="en-US" sz="1400" dirty="0" smtClean="0">
                <a:solidFill>
                  <a:schemeClr val="tx1"/>
                </a:solidFill>
              </a:rPr>
              <a:t>consolidated</a:t>
            </a:r>
          </a:p>
          <a:p>
            <a:pPr algn="ctr"/>
            <a:r>
              <a:rPr lang="en-US" sz="1400" dirty="0">
                <a:solidFill>
                  <a:schemeClr val="tx1"/>
                </a:solidFill>
              </a:rPr>
              <a:t>Tentative schedule: last week of August</a:t>
            </a:r>
          </a:p>
          <a:p>
            <a:pPr algn="ctr"/>
            <a:r>
              <a:rPr lang="en-US" sz="1400" dirty="0" smtClean="0">
                <a:solidFill>
                  <a:schemeClr val="tx1"/>
                </a:solidFill>
              </a:rPr>
              <a:t> </a:t>
            </a:r>
          </a:p>
          <a:p>
            <a:pPr algn="ctr"/>
            <a:endParaRPr lang="en-US" sz="1400" dirty="0" smtClean="0">
              <a:solidFill>
                <a:schemeClr val="tx1"/>
              </a:solidFill>
            </a:endParaRPr>
          </a:p>
          <a:p>
            <a:endParaRPr lang="en-US" sz="1400" dirty="0" smtClean="0">
              <a:solidFill>
                <a:schemeClr val="tx1"/>
              </a:solidFill>
            </a:endParaRPr>
          </a:p>
          <a:p>
            <a:pPr algn="ctr"/>
            <a:r>
              <a:rPr lang="en-IN" sz="1400" dirty="0" smtClean="0">
                <a:solidFill>
                  <a:schemeClr val="tx1"/>
                </a:solidFill>
              </a:rPr>
              <a:t> </a:t>
            </a:r>
          </a:p>
          <a:p>
            <a:pPr algn="ctr"/>
            <a:endParaRPr lang="en-IN" sz="1400" dirty="0">
              <a:solidFill>
                <a:schemeClr val="tx1"/>
              </a:solidFill>
            </a:endParaRPr>
          </a:p>
        </p:txBody>
      </p:sp>
      <p:sp>
        <p:nvSpPr>
          <p:cNvPr id="3" name="Rectangle 2">
            <a:extLst>
              <a:ext uri="{FF2B5EF4-FFF2-40B4-BE49-F238E27FC236}">
                <a16:creationId xmlns:a16="http://schemas.microsoft.com/office/drawing/2014/main" id="{FFE421C3-2780-4774-9E05-31A8A25F33CA}"/>
              </a:ext>
            </a:extLst>
          </p:cNvPr>
          <p:cNvSpPr/>
          <p:nvPr/>
        </p:nvSpPr>
        <p:spPr>
          <a:xfrm>
            <a:off x="4884632" y="371648"/>
            <a:ext cx="2738140" cy="4801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2800" b="1" dirty="0" smtClean="0">
                <a:solidFill>
                  <a:srgbClr val="FF0000"/>
                </a:solidFill>
                <a:latin typeface="Calibri"/>
                <a:ea typeface="Calibri"/>
                <a:cs typeface="Calibri"/>
                <a:sym typeface="Calibri"/>
              </a:rPr>
              <a:t>Proposed Event: </a:t>
            </a:r>
            <a:endParaRPr lang="en-IN" sz="2800" b="1" dirty="0">
              <a:solidFill>
                <a:srgbClr val="FF0000"/>
              </a:solidFill>
              <a:latin typeface="Calibri"/>
              <a:ea typeface="Calibri"/>
              <a:cs typeface="Calibri"/>
              <a:sym typeface="Calibri"/>
            </a:endParaRPr>
          </a:p>
        </p:txBody>
      </p:sp>
      <p:sp>
        <p:nvSpPr>
          <p:cNvPr id="5" name="Rounded Rectangle 4"/>
          <p:cNvSpPr/>
          <p:nvPr/>
        </p:nvSpPr>
        <p:spPr>
          <a:xfrm>
            <a:off x="4279416" y="982133"/>
            <a:ext cx="3115734" cy="570653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Myndwell</a:t>
            </a:r>
            <a:r>
              <a:rPr lang="en-US" b="1" dirty="0" smtClean="0">
                <a:solidFill>
                  <a:schemeClr val="tx1"/>
                </a:solidFill>
              </a:rPr>
              <a:t>:</a:t>
            </a:r>
          </a:p>
          <a:p>
            <a:pPr algn="ctr"/>
            <a:endParaRPr lang="en-US" b="1" dirty="0" smtClean="0">
              <a:solidFill>
                <a:schemeClr val="tx1"/>
              </a:solidFill>
            </a:endParaRPr>
          </a:p>
          <a:p>
            <a:pPr algn="ctr"/>
            <a:r>
              <a:rPr lang="en-US" sz="1600" dirty="0">
                <a:solidFill>
                  <a:schemeClr val="tx1"/>
                </a:solidFill>
              </a:rPr>
              <a:t>17th–21st August: Barefoot Training for MITR Volunteers – A structured capacity-building program designed to equip MITR volunteers with foundational helping skills, including active listening, empathetic communication, psychological first aid, boundary setting, and referral pathways. The training will be modeled on the Buddy Community Training framework to strengthen peer support and promote early identification of students in distress.</a:t>
            </a:r>
            <a:endParaRPr lang="en-IN" sz="1600" dirty="0">
              <a:solidFill>
                <a:schemeClr val="tx1"/>
              </a:solidFill>
            </a:endParaRPr>
          </a:p>
        </p:txBody>
      </p:sp>
      <p:sp>
        <p:nvSpPr>
          <p:cNvPr id="6" name="Rounded Rectangle 5"/>
          <p:cNvSpPr/>
          <p:nvPr/>
        </p:nvSpPr>
        <p:spPr>
          <a:xfrm>
            <a:off x="8477806" y="982133"/>
            <a:ext cx="3115734" cy="570653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Yourdost</a:t>
            </a:r>
            <a:r>
              <a:rPr lang="en-US" b="1" dirty="0" smtClean="0">
                <a:solidFill>
                  <a:schemeClr val="tx1"/>
                </a:solidFill>
              </a:rPr>
              <a:t>:</a:t>
            </a:r>
          </a:p>
          <a:p>
            <a:pPr algn="ctr"/>
            <a:endParaRPr lang="en-US" b="1" dirty="0" smtClean="0">
              <a:solidFill>
                <a:schemeClr val="tx1"/>
              </a:solidFill>
            </a:endParaRPr>
          </a:p>
          <a:p>
            <a:pPr marL="342900" indent="-342900" algn="ctr">
              <a:buAutoNum type="arabicPeriod"/>
            </a:pPr>
            <a:r>
              <a:rPr lang="en-US" dirty="0" smtClean="0">
                <a:solidFill>
                  <a:schemeClr val="tx1"/>
                </a:solidFill>
              </a:rPr>
              <a:t>Hostel </a:t>
            </a:r>
            <a:r>
              <a:rPr lang="en-US" dirty="0">
                <a:solidFill>
                  <a:schemeClr val="tx1"/>
                </a:solidFill>
              </a:rPr>
              <a:t>Wise Orientation for All </a:t>
            </a:r>
            <a:r>
              <a:rPr lang="en-US" dirty="0" err="1" smtClean="0">
                <a:solidFill>
                  <a:schemeClr val="tx1"/>
                </a:solidFill>
              </a:rPr>
              <a:t>Freshers</a:t>
            </a:r>
            <a:endParaRPr lang="en-US" dirty="0" smtClean="0">
              <a:solidFill>
                <a:schemeClr val="tx1"/>
              </a:solidFill>
            </a:endParaRPr>
          </a:p>
          <a:p>
            <a:pPr algn="ctr"/>
            <a:endParaRPr lang="en-US" dirty="0" smtClean="0">
              <a:solidFill>
                <a:schemeClr val="tx1"/>
              </a:solidFill>
            </a:endParaRPr>
          </a:p>
          <a:p>
            <a:pPr marL="342900" indent="-342900" algn="ctr">
              <a:buAutoNum type="arabicPeriod"/>
            </a:pPr>
            <a:r>
              <a:rPr lang="en-US" dirty="0" smtClean="0">
                <a:solidFill>
                  <a:schemeClr val="tx1"/>
                </a:solidFill>
              </a:rPr>
              <a:t>Workshop </a:t>
            </a:r>
            <a:r>
              <a:rPr lang="en-US" dirty="0">
                <a:solidFill>
                  <a:schemeClr val="tx1"/>
                </a:solidFill>
              </a:rPr>
              <a:t>on Mind Hacks For A Happier You for All New students</a:t>
            </a:r>
            <a:endParaRPr lang="en-IN" dirty="0">
              <a:solidFill>
                <a:schemeClr val="tx1"/>
              </a:solidFill>
            </a:endParaRPr>
          </a:p>
        </p:txBody>
      </p:sp>
    </p:spTree>
    <p:extLst>
      <p:ext uri="{BB962C8B-B14F-4D97-AF65-F5344CB8AC3E}">
        <p14:creationId xmlns:p14="http://schemas.microsoft.com/office/powerpoint/2010/main" val="257920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E421C3-2780-4774-9E05-31A8A25F33CA}"/>
              </a:ext>
            </a:extLst>
          </p:cNvPr>
          <p:cNvSpPr/>
          <p:nvPr/>
        </p:nvSpPr>
        <p:spPr>
          <a:xfrm>
            <a:off x="4337606" y="-41981"/>
            <a:ext cx="5595409" cy="4801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2800" b="1" dirty="0">
                <a:solidFill>
                  <a:srgbClr val="FF0000"/>
                </a:solidFill>
                <a:latin typeface="Calibri"/>
                <a:ea typeface="Calibri"/>
                <a:cs typeface="Calibri"/>
                <a:sym typeface="Calibri"/>
              </a:rPr>
              <a:t>Wellness Data- </a:t>
            </a:r>
            <a:r>
              <a:rPr lang="en-IN" sz="2800" b="1" dirty="0" smtClean="0">
                <a:solidFill>
                  <a:srgbClr val="FF0000"/>
                </a:solidFill>
                <a:latin typeface="Calibri"/>
                <a:ea typeface="Calibri"/>
                <a:cs typeface="Calibri"/>
                <a:sym typeface="Calibri"/>
              </a:rPr>
              <a:t>Report</a:t>
            </a:r>
            <a:endParaRPr lang="en-IN" sz="2800" b="1" dirty="0">
              <a:solidFill>
                <a:srgbClr val="FF0000"/>
              </a:solidFill>
              <a:latin typeface="Calibri"/>
              <a:ea typeface="Calibri"/>
              <a:cs typeface="Calibri"/>
              <a:sym typeface="Calibri"/>
            </a:endParaRPr>
          </a:p>
        </p:txBody>
      </p:sp>
      <p:sp>
        <p:nvSpPr>
          <p:cNvPr id="3" name="Rectangle 2">
            <a:extLst>
              <a:ext uri="{FF2B5EF4-FFF2-40B4-BE49-F238E27FC236}">
                <a16:creationId xmlns:a16="http://schemas.microsoft.com/office/drawing/2014/main" id="{FFE421C3-2780-4774-9E05-31A8A25F33CA}"/>
              </a:ext>
            </a:extLst>
          </p:cNvPr>
          <p:cNvSpPr/>
          <p:nvPr/>
        </p:nvSpPr>
        <p:spPr>
          <a:xfrm>
            <a:off x="1897348" y="1556833"/>
            <a:ext cx="8393114" cy="4358116"/>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US" sz="2800" b="1" dirty="0" smtClean="0">
                <a:solidFill>
                  <a:srgbClr val="FF0000"/>
                </a:solidFill>
                <a:latin typeface="Calibri"/>
                <a:ea typeface="Calibri"/>
                <a:cs typeface="Calibri"/>
                <a:sym typeface="Calibri"/>
              </a:rPr>
              <a:t>New Apps Developed: </a:t>
            </a:r>
          </a:p>
          <a:p>
            <a:pPr lvl="0">
              <a:lnSpc>
                <a:spcPct val="90000"/>
              </a:lnSpc>
            </a:pPr>
            <a:endParaRPr lang="en-US" sz="2800" b="1" dirty="0">
              <a:solidFill>
                <a:srgbClr val="FF0000"/>
              </a:solidFill>
              <a:latin typeface="Calibri"/>
              <a:ea typeface="Calibri"/>
              <a:cs typeface="Calibri"/>
              <a:sym typeface="Calibri"/>
            </a:endParaRPr>
          </a:p>
          <a:p>
            <a:pPr lvl="0">
              <a:lnSpc>
                <a:spcPct val="90000"/>
              </a:lnSpc>
            </a:pPr>
            <a:r>
              <a:rPr lang="en-US" sz="2800" b="1" dirty="0" smtClean="0">
                <a:solidFill>
                  <a:srgbClr val="FF0000"/>
                </a:solidFill>
                <a:latin typeface="Calibri"/>
                <a:ea typeface="Calibri"/>
                <a:cs typeface="Calibri"/>
                <a:sym typeface="Calibri"/>
              </a:rPr>
              <a:t>Counselling case management system.</a:t>
            </a:r>
          </a:p>
          <a:p>
            <a:pPr lvl="0">
              <a:lnSpc>
                <a:spcPct val="90000"/>
              </a:lnSpc>
            </a:pPr>
            <a:r>
              <a:rPr lang="en-US" sz="2800" b="1" dirty="0">
                <a:solidFill>
                  <a:srgbClr val="FF0000"/>
                </a:solidFill>
                <a:ea typeface="Calibri"/>
                <a:cs typeface="Calibri"/>
                <a:sym typeface="Calibri"/>
                <a:hlinkClick r:id="rId2"/>
              </a:rPr>
              <a:t>https://</a:t>
            </a:r>
            <a:r>
              <a:rPr lang="en-US" sz="2800" b="1" dirty="0" smtClean="0">
                <a:solidFill>
                  <a:srgbClr val="FF0000"/>
                </a:solidFill>
                <a:ea typeface="Calibri"/>
                <a:cs typeface="Calibri"/>
                <a:sym typeface="Calibri"/>
                <a:hlinkClick r:id="rId2"/>
              </a:rPr>
              <a:t>psychology-symantec-bulletin-envelope.trycloudflare.com</a:t>
            </a:r>
            <a:r>
              <a:rPr lang="en-US" sz="2800" b="1" dirty="0" smtClean="0">
                <a:solidFill>
                  <a:srgbClr val="FF0000"/>
                </a:solidFill>
                <a:ea typeface="Calibri"/>
                <a:cs typeface="Calibri"/>
                <a:sym typeface="Calibri"/>
              </a:rPr>
              <a:t> </a:t>
            </a:r>
            <a:endParaRPr lang="en-US" sz="2800" b="1" dirty="0" smtClean="0">
              <a:solidFill>
                <a:srgbClr val="FF0000"/>
              </a:solidFill>
              <a:latin typeface="Calibri"/>
              <a:ea typeface="Calibri"/>
              <a:cs typeface="Calibri"/>
              <a:sym typeface="Calibri"/>
            </a:endParaRPr>
          </a:p>
          <a:p>
            <a:pPr lvl="0">
              <a:lnSpc>
                <a:spcPct val="90000"/>
              </a:lnSpc>
            </a:pPr>
            <a:endParaRPr lang="en-US" sz="2800" b="1" dirty="0" smtClean="0">
              <a:solidFill>
                <a:srgbClr val="FF0000"/>
              </a:solidFill>
              <a:latin typeface="Calibri"/>
              <a:ea typeface="Calibri"/>
              <a:cs typeface="Calibri"/>
              <a:sym typeface="Calibri"/>
            </a:endParaRPr>
          </a:p>
          <a:p>
            <a:pPr lvl="0">
              <a:lnSpc>
                <a:spcPct val="90000"/>
              </a:lnSpc>
            </a:pPr>
            <a:r>
              <a:rPr lang="en-US" sz="2800" b="1" dirty="0" smtClean="0">
                <a:solidFill>
                  <a:srgbClr val="FF0000"/>
                </a:solidFill>
                <a:latin typeface="Calibri"/>
                <a:ea typeface="Calibri"/>
                <a:cs typeface="Calibri"/>
                <a:sym typeface="Calibri"/>
              </a:rPr>
              <a:t>Feedback web app</a:t>
            </a:r>
          </a:p>
          <a:p>
            <a:pPr lvl="0">
              <a:lnSpc>
                <a:spcPct val="90000"/>
              </a:lnSpc>
            </a:pPr>
            <a:endParaRPr lang="en-US" sz="2800" b="1" dirty="0">
              <a:solidFill>
                <a:srgbClr val="FF0000"/>
              </a:solidFill>
              <a:latin typeface="Calibri"/>
              <a:ea typeface="Calibri"/>
              <a:cs typeface="Calibri"/>
              <a:sym typeface="Calibri"/>
            </a:endParaRPr>
          </a:p>
          <a:p>
            <a:pPr lvl="0">
              <a:lnSpc>
                <a:spcPct val="90000"/>
              </a:lnSpc>
            </a:pPr>
            <a:r>
              <a:rPr lang="en-US" sz="2800" b="1" dirty="0">
                <a:solidFill>
                  <a:srgbClr val="FF0000"/>
                </a:solidFill>
                <a:ea typeface="Calibri"/>
                <a:cs typeface="Calibri"/>
                <a:sym typeface="Calibri"/>
                <a:hlinkClick r:id="rId3"/>
              </a:rPr>
              <a:t>https://</a:t>
            </a:r>
            <a:r>
              <a:rPr lang="en-US" sz="2800" b="1" dirty="0" smtClean="0">
                <a:solidFill>
                  <a:srgbClr val="FF0000"/>
                </a:solidFill>
                <a:ea typeface="Calibri"/>
                <a:cs typeface="Calibri"/>
                <a:sym typeface="Calibri"/>
                <a:hlinkClick r:id="rId3"/>
              </a:rPr>
              <a:t>wellness-centre-project.vercel.app</a:t>
            </a:r>
            <a:r>
              <a:rPr lang="en-US" sz="2800" b="1" dirty="0" smtClean="0">
                <a:solidFill>
                  <a:srgbClr val="FF0000"/>
                </a:solidFill>
                <a:ea typeface="Calibri"/>
                <a:cs typeface="Calibri"/>
                <a:sym typeface="Calibri"/>
              </a:rPr>
              <a:t> </a:t>
            </a:r>
            <a:endParaRPr lang="en-US" sz="2800" b="1" dirty="0" smtClean="0">
              <a:solidFill>
                <a:srgbClr val="FF0000"/>
              </a:solidFill>
              <a:latin typeface="Calibri"/>
              <a:ea typeface="Calibri"/>
              <a:cs typeface="Calibri"/>
              <a:sym typeface="Calibri"/>
            </a:endParaRPr>
          </a:p>
          <a:p>
            <a:pPr lvl="0">
              <a:lnSpc>
                <a:spcPct val="90000"/>
              </a:lnSpc>
            </a:pPr>
            <a:endParaRPr lang="en-US" sz="2800" b="1" dirty="0" smtClean="0">
              <a:solidFill>
                <a:srgbClr val="FF0000"/>
              </a:solidFill>
              <a:latin typeface="Calibri"/>
              <a:ea typeface="Calibri"/>
              <a:cs typeface="Calibri"/>
              <a:sym typeface="Calibri"/>
            </a:endParaRPr>
          </a:p>
          <a:p>
            <a:pPr marL="514350" lvl="0" indent="-514350">
              <a:lnSpc>
                <a:spcPct val="90000"/>
              </a:lnSpc>
              <a:buAutoNum type="arabicPeriod"/>
            </a:pPr>
            <a:endParaRPr lang="en-IN" sz="2800" b="1" dirty="0">
              <a:solidFill>
                <a:srgbClr val="FF0000"/>
              </a:solidFill>
              <a:latin typeface="Calibri"/>
              <a:ea typeface="Calibri"/>
              <a:cs typeface="Calibri"/>
              <a:sym typeface="Calibri"/>
            </a:endParaRPr>
          </a:p>
        </p:txBody>
      </p:sp>
    </p:spTree>
    <p:extLst>
      <p:ext uri="{BB962C8B-B14F-4D97-AF65-F5344CB8AC3E}">
        <p14:creationId xmlns:p14="http://schemas.microsoft.com/office/powerpoint/2010/main" val="3401149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E421C3-2780-4774-9E05-31A8A25F33CA}"/>
              </a:ext>
            </a:extLst>
          </p:cNvPr>
          <p:cNvSpPr/>
          <p:nvPr/>
        </p:nvSpPr>
        <p:spPr>
          <a:xfrm>
            <a:off x="4337606" y="-41981"/>
            <a:ext cx="5595409" cy="480131"/>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nSpc>
                <a:spcPct val="90000"/>
              </a:lnSpc>
            </a:pPr>
            <a:r>
              <a:rPr lang="en-IN" sz="2800" b="1" dirty="0">
                <a:solidFill>
                  <a:srgbClr val="FF0000"/>
                </a:solidFill>
                <a:latin typeface="Calibri"/>
                <a:ea typeface="Calibri"/>
                <a:cs typeface="Calibri"/>
                <a:sym typeface="Calibri"/>
              </a:rPr>
              <a:t>Wellness Data- </a:t>
            </a:r>
            <a:r>
              <a:rPr lang="en-IN" sz="2800" b="1" dirty="0" smtClean="0">
                <a:solidFill>
                  <a:srgbClr val="FF0000"/>
                </a:solidFill>
                <a:latin typeface="Calibri"/>
                <a:ea typeface="Calibri"/>
                <a:cs typeface="Calibri"/>
                <a:sym typeface="Calibri"/>
              </a:rPr>
              <a:t>Report</a:t>
            </a:r>
            <a:endParaRPr lang="en-IN" sz="2800" b="1" dirty="0">
              <a:solidFill>
                <a:srgbClr val="FF0000"/>
              </a:solidFill>
              <a:latin typeface="Calibri"/>
              <a:ea typeface="Calibri"/>
              <a:cs typeface="Calibri"/>
              <a:sym typeface="Calibri"/>
            </a:endParaRPr>
          </a:p>
        </p:txBody>
      </p:sp>
      <p:sp>
        <p:nvSpPr>
          <p:cNvPr id="3" name="Title 1">
            <a:extLst>
              <a:ext uri="{FF2B5EF4-FFF2-40B4-BE49-F238E27FC236}">
                <a16:creationId xmlns:a16="http://schemas.microsoft.com/office/drawing/2014/main" id="{BEDE3CC9-698B-D78F-12B6-BA3E4F08645A}"/>
              </a:ext>
            </a:extLst>
          </p:cNvPr>
          <p:cNvSpPr txBox="1">
            <a:spLocks/>
          </p:cNvSpPr>
          <p:nvPr/>
        </p:nvSpPr>
        <p:spPr>
          <a:xfrm>
            <a:off x="4337606" y="781701"/>
            <a:ext cx="6825842" cy="102682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smtClean="0"/>
              <a:t>CASE VIGNETTE</a:t>
            </a:r>
            <a:endParaRPr lang="en-IN" dirty="0"/>
          </a:p>
        </p:txBody>
      </p:sp>
      <p:sp>
        <p:nvSpPr>
          <p:cNvPr id="4" name="Subtitle 2">
            <a:extLst>
              <a:ext uri="{FF2B5EF4-FFF2-40B4-BE49-F238E27FC236}">
                <a16:creationId xmlns:a16="http://schemas.microsoft.com/office/drawing/2014/main" id="{C9D4BBAA-83E8-F5A2-BD77-760FC449B531}"/>
              </a:ext>
            </a:extLst>
          </p:cNvPr>
          <p:cNvSpPr txBox="1">
            <a:spLocks/>
          </p:cNvSpPr>
          <p:nvPr/>
        </p:nvSpPr>
        <p:spPr>
          <a:xfrm>
            <a:off x="1006678" y="1711353"/>
            <a:ext cx="10033233" cy="4815281"/>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IN" sz="1700" dirty="0" smtClean="0"/>
              <a:t>A 24-year-old male presented with the complaints of difficulty recalling information during presentations, </a:t>
            </a:r>
            <a:r>
              <a:rPr lang="en-IN" sz="1700" dirty="0" err="1" smtClean="0"/>
              <a:t>vivas</a:t>
            </a:r>
            <a:r>
              <a:rPr lang="en-IN" sz="1700" dirty="0" smtClean="0"/>
              <a:t>, and examinations. He reported that whenever he is questioned by faculty or other authority figures, he experiences palpitations, rapid heartbeat, and goes blank, even though he knows the answers. He also reported </a:t>
            </a:r>
            <a:r>
              <a:rPr lang="en-US" sz="1700" dirty="0" smtClean="0"/>
              <a:t>a fear of being judged by others, excessive worry about how people perceive him, and a tendency</a:t>
            </a:r>
            <a:r>
              <a:rPr lang="en-IN" sz="1700" dirty="0" smtClean="0"/>
              <a:t> to avoid public speaking and other situations where he has to perform in front of others. On exploring his history, he shared that he had experienced anxiety in performance situations since childhood. He also reported that his mother frequently scolded and punished him without allowing him to explain himself, and he felt that his interactions with authority figures now remind him of those experiences. A scale to measure the severity of social anxiety was used, which shows clinically significant social anxiety. Based on the history and assessment findings, a working diagnosis of Social Anxiety Disorder (Performance type) was made. Therapy has been carried out using CBT, focusing on psychoeducation, identifying and challenging unhelpful thoughts, relaxation techniques, developing a fear hierarchy, and gradually facing feared situations through behavioural experiments.</a:t>
            </a:r>
          </a:p>
          <a:p>
            <a:endParaRPr lang="en-IN" dirty="0"/>
          </a:p>
        </p:txBody>
      </p:sp>
    </p:spTree>
    <p:extLst>
      <p:ext uri="{BB962C8B-B14F-4D97-AF65-F5344CB8AC3E}">
        <p14:creationId xmlns:p14="http://schemas.microsoft.com/office/powerpoint/2010/main" val="2429668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1039</TotalTime>
  <Words>647</Words>
  <Application>Microsoft Office PowerPoint</Application>
  <PresentationFormat>Widescreen</PresentationFormat>
  <Paragraphs>92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Wellness</dc:creator>
  <cp:lastModifiedBy>Wellness</cp:lastModifiedBy>
  <cp:revision>174</cp:revision>
  <dcterms:created xsi:type="dcterms:W3CDTF">2026-06-17T07:07:37Z</dcterms:created>
  <dcterms:modified xsi:type="dcterms:W3CDTF">2026-08-03T09:13:46Z</dcterms:modified>
</cp:coreProperties>
</file>